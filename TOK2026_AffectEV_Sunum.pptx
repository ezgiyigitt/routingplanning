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image-11-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Konfor</c:v>
                </c:pt>
              </c:strCache>
            </c:strRef>
          </c:tx>
          <c:spPr>
            <a:solidFill>
              <a:srgbClr val="D9572B"/>
            </a:solidFill>
            <a:ln w="50800" cap="flat">
              <a:solidFill>
                <a:srgbClr val="D9572B"/>
              </a:solidFill>
              <a:prstDash val="solid"/>
              <a:round/>
            </a:ln>
            <a:effectLst/>
          </c:spPr>
          <c:invertIfNegative val="0"/>
          <c:dLbls>
            <c:numFmt formatCode="0.0" sourceLinked="0"/>
            <c:txPr>
              <a:bodyPr/>
              <a:lstStyle/>
              <a:p>
                <a:pPr>
                  <a:defRPr b="1" i="0" strike="noStrike" sz="1600" u="none">
                    <a:solidFill>
                      <a:srgbClr val="1E2533"/>
                    </a:solidFill>
                    <a:latin typeface="Arial"/>
                  </a:defRPr>
                </a:pPr>
              </a:p>
            </c:txPr>
            <c:dLblPos val="t"/>
            <c:showLegendKey val="0"/>
            <c:showVal val="1"/>
            <c:showCatName val="0"/>
            <c:showSerName val="0"/>
            <c:showPercent val="0"/>
            <c:showBubbleSize val="0"/>
            <c:showLeaderLines val="0"/>
          </c:dLbls>
          <c:marker>
            <c:symbol val="circle"/>
            <c:size val="11"/>
            <c:spPr>
              <a:solidFill>
                <a:srgbClr val="D9572B"/>
              </a:solidFill>
              <a:ln w="9525" cap="flat">
                <a:solidFill>
                  <a:srgbClr val="D9572B"/>
                </a:solidFill>
                <a:prstDash val="solid"/>
                <a:round/>
              </a:ln>
              <a:effectLst/>
            </c:spPr>
          </c:marker>
          <c:cat>
            <c:multiLvlStrRef>
              <c:f>Sheet1!$A$2:$A$6</c:f>
              <c:multiLvlStrCache>
                <c:ptCount val="5"/>
                <c:lvl>
                  <c:pt idx="0">
                    <c:v>15</c:v>
                  </c:pt>
                  <c:pt idx="1">
                    <c:v>30</c:v>
                  </c:pt>
                  <c:pt idx="2">
                    <c:v>50</c:v>
                  </c:pt>
                  <c:pt idx="3">
                    <c:v>65</c:v>
                  </c:pt>
                  <c:pt idx="4">
                    <c:v>85</c:v>
                  </c:pt>
                </c:lvl>
              </c:multiLvlStrCache>
            </c:multiLvlStrRef>
          </c:cat>
          <c:val>
            <c:numRef>
              <c:f>Sheet1!$B$2:$B$6</c:f>
              <c:numCache>
                <c:formatCode>General</c:formatCode>
                <c:ptCount val="5"/>
                <c:pt idx="0">
                  <c:v>47.3</c:v>
                </c:pt>
                <c:pt idx="1">
                  <c:v>49.6</c:v>
                </c:pt>
                <c:pt idx="2">
                  <c:v>49.6</c:v>
                </c:pt>
                <c:pt idx="3">
                  <c:v>52.5</c:v>
                </c:pt>
                <c:pt idx="4">
                  <c:v>52.5</c:v>
                </c:pt>
              </c:numCache>
            </c:numRef>
          </c:val>
          <c:smooth val="0"/>
        </c:ser>
        <c:dLbls>
          <c:numFmt formatCode="0.0" sourceLinked="0"/>
          <c:txPr>
            <a:bodyPr/>
            <a:lstStyle/>
            <a:p>
              <a:pPr>
                <a:defRPr b="1" i="0" strike="noStrike" sz="1600" u="none">
                  <a:solidFill>
                    <a:srgbClr val="1E2533"/>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B6577"/>
                    </a:solidFill>
                    <a:latin typeface="Arial"/>
                  </a:defRPr>
                </a:pPr>
                <a:r>
                  <a:rPr sz="1400" b="0" i="0" u="none" strike="noStrike">
                    <a:solidFill>
                      <a:srgbClr val="5B6577"/>
                    </a:solidFill>
                    <a:latin typeface="Arial"/>
                  </a:rPr>
                  <a:t>Bilişsel Yük Skoru (CLS)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600" b="0" i="0" u="none" strike="noStrike">
                <a:solidFill>
                  <a:srgbClr val="1E2533"/>
                </a:solidFill>
                <a:latin typeface="Arial"/>
              </a:defRPr>
            </a:pPr>
            <a:endParaRPr lang="en-US"/>
          </a:p>
        </c:txPr>
        <c:crossAx val="2094734552"/>
        <c:crosses val="autoZero"/>
        <c:auto val="1"/>
        <c:lblAlgn val="ctr"/>
        <c:noMultiLvlLbl val="1"/>
      </c:catAx>
      <c:valAx>
        <c:axId val="2094734552"/>
        <c:scaling>
          <c:orientation val="minMax"/>
          <c:max val="55"/>
          <c:min val="44"/>
        </c:scaling>
        <c:delete val="0"/>
        <c:axPos val="l"/>
        <c:majorGridlines>
          <c:spPr>
            <a:ln w="6350" cap="flat">
              <a:solidFill>
                <a:srgbClr val="E3E7EE"/>
              </a:solidFill>
              <a:prstDash val="solid"/>
              <a:round/>
            </a:ln>
          </c:spPr>
        </c:majorGridlines>
        <c:title>
          <c:tx>
            <c:rich>
              <a:bodyPr/>
              <a:lstStyle/>
              <a:p>
                <a:pPr>
                  <a:defRPr sz="1400" b="0" i="0" u="none" strike="noStrike">
                    <a:solidFill>
                      <a:srgbClr val="5B6577"/>
                    </a:solidFill>
                    <a:latin typeface="Arial"/>
                  </a:defRPr>
                </a:pPr>
                <a:r>
                  <a:rPr sz="1400" b="0" i="0" u="none" strike="noStrike">
                    <a:solidFill>
                      <a:srgbClr val="5B6577"/>
                    </a:solidFill>
                    <a:latin typeface="Arial"/>
                  </a:rPr>
                  <a:t>Konfor (0–100)</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400" b="0" i="0" u="none" strike="noStrike">
                <a:solidFill>
                  <a:srgbClr val="5B6577"/>
                </a:solidFill>
                <a:latin typeface="Arial"/>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[~20 sn]</a:t>
            </a:r>
          </a:p>
          <a:p>
            <a:r>
              <a:t>Herkese merhaba, ben Ezgi Yiğit. Beykoz Üniversitesi Bilgisayar Mühendisliği'nden geliyorum; bu çalışmayı Özlem Feyza Erkan hocamla birlikte yaptık. [Salona bak, kısa duraklama.] Size bir soruyla başlamak istiyorum: Navigasyonunuz nasıl hissettiğinizi bilseydi, sizi yine aynı yoldan mı götürürdü?</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sn]</a:t>
            </a:r>
          </a:p>
          <a:p>
            <a:r>
              <a:t>Elektrikli araç kullananlar bilir: yolda aklınızın bir köşesi hep bataryadadır. Şarj istasyonu her yerde yok, menzil sınırlı. Bu yüzden navigasyonların çoğu tek bir şeye odaklanır: en kısa, en hızlı ya da en az enerji harcayan yol.</a:t>
            </a:r>
          </a:p>
          <a:p/>
          <a:p>
            <a:r>
              <a:t>Ama bir şeyi atlıyorlar: direksiyondaki insanı. [Duraklama.] Uzun bir günün sonunda yorgunsunuz, aklınız dolu. Navigasyon sizi kısa ama kavşağı bol bir yoldan götürüyor. Yol kısalıyor, ama stres ve kaza riski artıyor. Çünkü sürüş sadece mekanik bir iş değil; sürekli dikkat isteyen zihinsel bir süreç.</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[~35 sn]</a:t>
            </a:r>
          </a:p>
          <a:p>
            <a:r>
              <a:t>Peki bu konuda neler yapılmış? Üç ayrı alan görüyoruz. Bir yanda elektrikli araçların enerji ve şarj planlaması; mesela Houalef ve arkadaşları kişiye özel EA rotaları üretiyor. Diğer yanda sürücünün duygusunu hesaba katan çalışmalar; HappyRouting gibi. Üçüncü yanda çok amaçlı optimizasyon ve öğrenme yöntemleri.</a:t>
            </a:r>
          </a:p>
          <a:p/>
          <a:p>
            <a:r>
              <a:t>Ama bu üçünü tek bir çerçevede birleştiren bir sistem yok. [Ortadaki AffectEV kutusunu göster.] Biz tam bu kesişime odaklanıyoruz.</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sn]</a:t>
            </a:r>
          </a:p>
          <a:p>
            <a:r>
              <a:t>Önerdiğimiz sistemin adı AffectEV. Mantığı aslında çok basit. [Soldan sağa kutuları takip et.] Önce sürücünün o anki durumunu tek bir sayıya çeviriyoruz; buna Bilişsel Yük Skoru, kısaca CLS diyoruz. Bu skor, sistemin enerjiye mi, süreye mi, konfora mı öncelik vereceğini belirliyor. Sistem sürücüye tek bir rota dayatmıyor, seçenekler sunuyor. Batarya kontrolü rotanın menzile yetip yetmediğine bakıyor, gerekirse şarj durağı ekliyor. Ve sürücünün tercihleri, Q-Learning ile sistemi zamanla ona göre şekillendiriyor.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sn]</a:t>
            </a:r>
          </a:p>
          <a:p>
            <a:r>
              <a:t>Biraz daha yakından bakalım. Soldaki CLS üç şeyden oluşuyor: yorgunluk, bilişsel yük ve duygu durumu. Yorgunluk ve bilişsel yük daha ağır basıyor.</a:t>
            </a:r>
          </a:p>
          <a:p/>
          <a:p>
            <a:r>
              <a:t>Burada açık olmak istiyorum: Bu çalışmada CLS'yi sensörlerden ölçmedik, kontrollü bir parametre olarak verdik. Çünkü önce şu soruyu cevaplamak istedik: Sürücünün durumunu doğru bilseydik, sistem nasıl karar verirdi?</a:t>
            </a:r>
          </a:p>
          <a:p/>
          <a:p>
            <a:r>
              <a:t>Sağda rotanın konforu var. Kural basit: Kavşak, durak ve trafik ne kadar fazlaysa konfor puanı o kadar düşük.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[~35 sn]</a:t>
            </a:r>
          </a:p>
          <a:p>
            <a:r>
              <a:t>Tabii elektrikli araçta konfor tek başına yetmez; o rotayı batarya da kaldırmalı. Enerji modelimiz her yol parçasında dört şeyi topluyor: hava direnci, yuvarlanma direnci, hızlanma ve klima gibi yardımcı sistemler. Referans aracımız Tesla Model 3.</a:t>
            </a:r>
          </a:p>
          <a:p/>
          <a:p>
            <a:r>
              <a:t>Sonra basit bir soru soruyoruz: [Karar kutusunu göster.] Varışta batarya yüzde 20'nin altına düşer mi? Düşerse sistem yol üzerindeki uygun şarj istasyonunu kendiliğinden rotaya ekliyor. Yani konforun peşindeyken menzili riske atmıyoruz.</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[~45 sn]</a:t>
            </a:r>
          </a:p>
          <a:p>
            <a:r>
              <a:t>Şimdi işin karar kısmı. Klasik algoritmalar tek bir şeye bakar: Dijkstra en kısa yola, A* en hızlı yola. Ama elektrikli araçta süre, enerji ve konfor çoğu zaman birbiriyle çekişir. Bu yüzden çerçevemizde Dinamik NSGA-II var. Sistem üç seçenek hazırlıyor: verimlilik odaklı, dengeli ve konfor odaklı. Sürücü dinçse enerji ve süre öne çıkıyor; yorgun ya da stresliyse konfor.</a:t>
            </a:r>
          </a:p>
          <a:p/>
          <a:p>
            <a:r>
              <a:t>Sağda Q-Learning var. Sürücü bir rota seçiyor, yolculuktan sonra ne kadar memnun kaldığını bildiriyor, sistem de bundan öğreniyor. Bu çalışmada bu geri bildirimi sentetik bir kullanıcı modeliyle ürettik.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[~25 sn]</a:t>
            </a:r>
          </a:p>
          <a:p>
            <a:r>
              <a:t>Peki bunu nasıl test ettik? Ankara'nın yol ağı üzerinde, şehir içi başlangıç–varış senaryolarında çalıştık. AffectEV'i üç yöntemle karşılaştırdık: en kısa yolu bulan Dijkstra, en hızlı yolu bulan A* ve CLS uyarlaması olmayan sabit ağırlıklı sürüm. Sürücü durumunu da beş seviyede denedik: çok dinçten çok stresliye kadar.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 sn]</a:t>
            </a:r>
          </a:p>
          <a:p>
            <a:r>
              <a:t>İlk sonuç biraz şaşırtıcı gelebilir. [Duraklama.] Tüm senaryoların ortalamasına baktığımızda dört yöntem neredeyse aynı yerde: AffectEV 50,3, A* 50,5. Yani ortalamada büyük bir fark yok.</a:t>
            </a:r>
          </a:p>
          <a:p/>
          <a:p>
            <a:r>
              <a:t>Ama zaten bunu bekliyorduk. Çünkü AffectEV'in amacı herkese daha iyi bir ortalama vermek değil; zor durumdaki sürücüye yardım etmek. Asıl farkı görmek için sürücünün durumuna göre ayırmamız lazım.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[~35 sn]</a:t>
            </a:r>
          </a:p>
          <a:p>
            <a:r>
              <a:t>Ayırınca tablo değişiyor. Sürücünün bilişsel yükü arttıkça konfor 47,3'ten 52,5'e çıkıyor. Bunun bir bedeli var: enerji 7,1'den 8,6 kilovatsaate yükseliyor.</a:t>
            </a:r>
          </a:p>
          <a:p/>
          <a:p>
            <a:r>
              <a:t>Bir de ilginç bir şey gördük: Sistem kademe kademe değil, iki modda çalışıyor. [Alttaki iki kutuyu göster.] CLS 50'ye kadar verimliliği, 65 ve üstünde konforu seçiyor. Yani belli bir yorgunluktan sonra sistem "artık enerjiyi değil, sürücüyü düşünelim" diyor.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[~45 sn]</a:t>
            </a:r>
          </a:p>
          <a:p>
            <a:r>
              <a:t>Bunu somut bir örnekle göstereyim, hem de tam burada, Ankara'da. [Haritayı göster.] Keçiören'den Bilkent'e gidiyoruz, batarya yüzde 75.</a:t>
            </a:r>
          </a:p>
          <a:p/>
          <a:p>
            <a:r>
              <a:t>Sürücü dinçse AffectEV 23 kilometrelik verimli rotayı seçiyor. Ama sürücü yorgun ve stresliyse, bulvar koridorlarını kullanan 44 kilometrelik başka bir rota öneriyor. Yol uzuyor, enerji yüzde 84 artıyor. Karşılığında sürüş konforu 39'dan 55'e, yani yüzde 41 artıyor. Varışta batarya hâlâ yüzde 60'a yakın; menzil hiç risk altında değil.</a:t>
            </a:r>
          </a:p>
          <a:p/>
          <a:p>
            <a:r>
              <a:t>Kısacası yorgun sürücüye şunu diyor: "Biraz daha uzun, ama çok daha rahat."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[~35 sn]</a:t>
            </a:r>
          </a:p>
          <a:p>
            <a:r>
              <a:t>Toparlarsam: AffectEV batarya kısıtlarını, yol koşullarını ve sürücünün o anki durumunu aynı kararda bir araya getiriyor. Ortalamada klasik yöntemlerle aynı çizgide; farkını en çok ihtiyaç duyulan anda, sürücü yorgunken gösteriyor.</a:t>
            </a:r>
          </a:p>
          <a:p/>
          <a:p>
            <a:r>
              <a:t>Eksiklerimizin de farkındayız. CLS'yi henüz gerçek sensörlerden ölçmedik. Beş seviye pratikte iki moda indi. Testler tek şehir, tek araç ve sentetik trafikle yapıldı. Sıradaki adımlarımız da tam bunlar: daha yumuşak geçişli bir ağırlık fonksiyonu, gerçek sürücü verisi ve canlı trafikle doğrulama.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 slaytı konuşmadan geç.]</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 sn]</a:t>
            </a:r>
          </a:p>
          <a:p>
            <a:r>
              <a:t>Başta sorduğum soruya dönmek istiyorum: Navigasyonunuz nasıl hissettiğinizi bilseydi ne olurdu? Bizim cevabımız şu: Sizi bazen biraz daha uzun, ama çok daha rahat bir yoldan götürürdü. [Gülümse, kısa duraklama.] Dinlediğiniz için teşekkür ederim; sorularınızı almaktan mutluluk duyarım.</a:t>
            </a:r>
          </a:p>
          <a:p/>
          <a:p>
            <a:r>
              <a:t>[Soru-cevap: 2 dk]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3A3"/>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3A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44"/>
        </a:solidFill>
      </p:bgPr>
    </p:bg>
    <p:spTree>
      <p:nvGrpSpPr>
        <p:cNvPr id="1" name=""/>
        <p:cNvGrpSpPr/>
        <p:nvPr/>
      </p:nvGrpSpPr>
      <p:grpSpPr>
        <a:xfrm>
          <a:off x="0" y="0"/>
          <a:ext cx="0" cy="0"/>
          <a:chOff x="0" y="0"/>
          <a:chExt cx="0" cy="0"/>
        </a:xfrm>
      </p:grpSpPr>
      <p:sp>
        <p:nvSpPr>
          <p:cNvPr id="2" name="Text 0"/>
          <p:cNvSpPr txBox="1"/>
          <p:nvPr/>
        </p:nvSpPr>
        <p:spPr>
          <a:xfrm>
            <a:off x="548640" y="502920"/>
            <a:ext cx="11094415" cy="365760"/>
          </a:xfrm>
          <a:prstGeom prst="rect">
            <a:avLst/>
          </a:prstGeom>
          <a:noFill/>
          <a:ln/>
        </p:spPr>
        <p:txBody>
          <a:bodyPr wrap="square" lIns="0" tIns="0" rIns="0" bIns="0" rtlCol="0" anchor="ctr"/>
          <a:lstStyle/>
          <a:p>
            <a:pPr indent="0" marL="0">
              <a:buNone/>
            </a:pPr>
            <a:r>
              <a:rPr lang="en-US" sz="1600" dirty="0">
                <a:solidFill>
                  <a:srgbClr val="B9C4D6"/>
                </a:solidFill>
                <a:latin typeface="Calibri" pitchFamily="34" charset="0"/>
                <a:ea typeface="Calibri" pitchFamily="34" charset="-122"/>
                <a:cs typeface="Calibri" pitchFamily="34" charset="-120"/>
              </a:rPr>
              <a:t>27. Otomatik Kontrol Ulusal Konferansı (TOK 2026) · Ankara · 10 Ekim 2026</a:t>
            </a:r>
            <a:endParaRPr lang="en-US" sz="1600" dirty="0"/>
          </a:p>
        </p:txBody>
      </p:sp>
      <p:sp>
        <p:nvSpPr>
          <p:cNvPr id="3" name="Text 1"/>
          <p:cNvSpPr txBox="1"/>
          <p:nvPr/>
        </p:nvSpPr>
        <p:spPr>
          <a:xfrm>
            <a:off x="548640" y="1417320"/>
            <a:ext cx="9509760" cy="173736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Elektrikli Araçlarda Sürücü Bilişsel Yükünü Dikkate Alan Çok Amaçlı Rota Planlaması</a:t>
            </a:r>
            <a:endParaRPr lang="en-US" sz="3800" dirty="0"/>
          </a:p>
        </p:txBody>
      </p:sp>
      <p:sp>
        <p:nvSpPr>
          <p:cNvPr id="4" name="Text 2"/>
          <p:cNvSpPr txBox="1"/>
          <p:nvPr/>
        </p:nvSpPr>
        <p:spPr>
          <a:xfrm>
            <a:off x="548640" y="3200400"/>
            <a:ext cx="9509760" cy="457200"/>
          </a:xfrm>
          <a:prstGeom prst="rect">
            <a:avLst/>
          </a:prstGeom>
          <a:noFill/>
          <a:ln/>
        </p:spPr>
        <p:txBody>
          <a:bodyPr wrap="square" lIns="0" tIns="0" rIns="0" bIns="0" rtlCol="0" anchor="ctr"/>
          <a:lstStyle/>
          <a:p>
            <a:pPr indent="0" marL="0">
              <a:buNone/>
            </a:pPr>
            <a:r>
              <a:rPr lang="en-US" sz="1800" i="1" dirty="0">
                <a:solidFill>
                  <a:srgbClr val="B9C4D6"/>
                </a:solidFill>
                <a:latin typeface="Calibri" pitchFamily="34" charset="0"/>
                <a:ea typeface="Calibri" pitchFamily="34" charset="-122"/>
                <a:cs typeface="Calibri" pitchFamily="34" charset="-120"/>
              </a:rPr>
              <a:t>Multi-Objective Route Planning Considering Driver Cognitive Load in Electric Vehicles</a:t>
            </a:r>
            <a:endParaRPr lang="en-US" sz="1800" dirty="0"/>
          </a:p>
        </p:txBody>
      </p:sp>
      <p:sp>
        <p:nvSpPr>
          <p:cNvPr id="5" name="Text 3"/>
          <p:cNvSpPr txBox="1"/>
          <p:nvPr/>
        </p:nvSpPr>
        <p:spPr>
          <a:xfrm>
            <a:off x="548640" y="4160520"/>
            <a:ext cx="9509760" cy="1371600"/>
          </a:xfrm>
          <a:prstGeom prst="rect">
            <a:avLst/>
          </a:prstGeom>
          <a:noFill/>
          <a:ln/>
        </p:spPr>
        <p:txBody>
          <a:bodyPr wrap="square" lIns="0" tIns="0" rIns="0" bIns="0" rtlCol="0" anchor="t"/>
          <a:lstStyle/>
          <a:p>
            <a:pPr indent="0" marL="0">
              <a:spcAft>
                <a:spcPts val="600"/>
              </a:spcAft>
              <a:buNone/>
            </a:pPr>
            <a:r>
              <a:rPr lang="en-US" sz="2200" b="1" u="sng" dirty="0">
                <a:solidFill>
                  <a:srgbClr val="FFFFFF"/>
                </a:solidFill>
                <a:latin typeface="Calibri" pitchFamily="34" charset="0"/>
                <a:ea typeface="Calibri" pitchFamily="34" charset="-122"/>
                <a:cs typeface="Calibri" pitchFamily="34" charset="-120"/>
              </a:rPr>
              <a:t>Ezgi Yiğit</a:t>
            </a:r>
            <a:r>
              <a:rPr lang="en-US" sz="2200" dirty="0">
                <a:solidFill>
                  <a:srgbClr val="FFFFFF"/>
                </a:solidFill>
                <a:latin typeface="Calibri" pitchFamily="34" charset="0"/>
                <a:ea typeface="Calibri" pitchFamily="34" charset="-122"/>
                <a:cs typeface="Calibri" pitchFamily="34" charset="-120"/>
              </a:rPr>
              <a:t>, Özlem Feyza Erkan</a:t>
            </a:r>
            <a:endParaRPr lang="en-US" sz="2200" dirty="0"/>
          </a:p>
          <a:p>
            <a:pPr indent="0" marL="0">
              <a:spcAft>
                <a:spcPts val="600"/>
              </a:spcAft>
              <a:buNone/>
            </a:pPr>
            <a:r>
              <a:rPr lang="en-US" sz="1600" dirty="0">
                <a:solidFill>
                  <a:srgbClr val="B9C4D6"/>
                </a:solidFill>
                <a:latin typeface="Calibri" pitchFamily="34" charset="0"/>
                <a:ea typeface="Calibri" pitchFamily="34" charset="-122"/>
                <a:cs typeface="Calibri" pitchFamily="34" charset="-120"/>
              </a:rPr>
              <a:t>Bilgisayar Mühendisliği Bölümü · Beykoz Üniversitesi, İstanbul</a:t>
            </a:r>
            <a:endParaRPr lang="en-US" sz="2200" dirty="0"/>
          </a:p>
          <a:p>
            <a:pPr indent="0" marL="0">
              <a:spcAft>
                <a:spcPts val="600"/>
              </a:spcAft>
              <a:buNone/>
            </a:pPr>
            <a:r>
              <a:rPr lang="en-US" sz="1400" dirty="0">
                <a:solidFill>
                  <a:srgbClr val="B9C4D6"/>
                </a:solidFill>
                <a:latin typeface="Calibri" pitchFamily="34" charset="0"/>
                <a:ea typeface="Calibri" pitchFamily="34" charset="-122"/>
                <a:cs typeface="Calibri" pitchFamily="34" charset="-120"/>
              </a:rPr>
              <a:t>ezgiyigit@ogrenci.beykoz.edu.tr · feyzaerkan@beykoz.edu.tr</a:t>
            </a:r>
            <a:endParaRPr lang="en-US" sz="2200" dirty="0"/>
          </a:p>
        </p:txBody>
      </p:sp>
      <p:sp>
        <p:nvSpPr>
          <p:cNvPr id="6" name="Shape 4"/>
          <p:cNvSpPr/>
          <p:nvPr/>
        </p:nvSpPr>
        <p:spPr>
          <a:xfrm>
            <a:off x="10195560" y="1508760"/>
            <a:ext cx="1234440" cy="1234440"/>
          </a:xfrm>
          <a:prstGeom prst="ellipse">
            <a:avLst/>
          </a:prstGeom>
          <a:solidFill>
            <a:srgbClr val="1A9E77"/>
          </a:solidFill>
          <a:ln w="12700">
            <a:solidFill>
              <a:srgbClr val="1A9E77"/>
            </a:solidFill>
            <a:prstDash val="solid"/>
          </a:ln>
        </p:spPr>
      </p:sp>
      <p:pic>
        <p:nvPicPr>
          <p:cNvPr id="7" name="Image 0" descr="icons/car_w.png">    </p:cNvPr>
          <p:cNvPicPr>
            <a:picLocks noChangeAspect="1"/>
          </p:cNvPicPr>
          <p:nvPr/>
        </p:nvPicPr>
        <p:blipFill>
          <a:blip r:embed="rId1"/>
          <a:stretch>
            <a:fillRect/>
          </a:stretch>
        </p:blipFill>
        <p:spPr>
          <a:xfrm>
            <a:off x="10504170" y="1817370"/>
            <a:ext cx="617220" cy="617220"/>
          </a:xfrm>
          <a:prstGeom prst="rect">
            <a:avLst/>
          </a:prstGeom>
        </p:spPr>
      </p:pic>
      <p:sp>
        <p:nvSpPr>
          <p:cNvPr id="8" name="Shape 5"/>
          <p:cNvSpPr/>
          <p:nvPr/>
        </p:nvSpPr>
        <p:spPr>
          <a:xfrm>
            <a:off x="10195560" y="2971800"/>
            <a:ext cx="1234440" cy="1234440"/>
          </a:xfrm>
          <a:prstGeom prst="ellipse">
            <a:avLst/>
          </a:prstGeom>
          <a:solidFill>
            <a:srgbClr val="D9572B"/>
          </a:solidFill>
          <a:ln w="12700">
            <a:solidFill>
              <a:srgbClr val="D9572B"/>
            </a:solidFill>
            <a:prstDash val="solid"/>
          </a:ln>
        </p:spPr>
      </p:sp>
      <p:pic>
        <p:nvPicPr>
          <p:cNvPr id="9" name="Image 1" descr="icons/brain_w.png">    </p:cNvPr>
          <p:cNvPicPr>
            <a:picLocks noChangeAspect="1"/>
          </p:cNvPicPr>
          <p:nvPr/>
        </p:nvPicPr>
        <p:blipFill>
          <a:blip r:embed="rId2"/>
          <a:stretch>
            <a:fillRect/>
          </a:stretch>
        </p:blipFill>
        <p:spPr>
          <a:xfrm>
            <a:off x="10504170" y="3280410"/>
            <a:ext cx="617220" cy="6172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640080"/>
          </a:xfrm>
          <a:prstGeom prst="rect">
            <a:avLst/>
          </a:prstGeom>
          <a:noFill/>
          <a:ln/>
        </p:spPr>
        <p:txBody>
          <a:bodyPr wrap="square" lIns="0" tIns="0" rIns="0" bIns="0" rtlCol="0" anchor="ctr"/>
          <a:lstStyle/>
          <a:p>
            <a:pPr indent="0" marL="0">
              <a:buNone/>
            </a:pPr>
            <a:r>
              <a:rPr lang="en-US" sz="3200" b="1" dirty="0">
                <a:solidFill>
                  <a:srgbClr val="1F2A44"/>
                </a:solidFill>
                <a:latin typeface="Calibri" pitchFamily="34" charset="0"/>
                <a:ea typeface="Calibri" pitchFamily="34" charset="-122"/>
                <a:cs typeface="Calibri" pitchFamily="34" charset="-120"/>
              </a:rPr>
              <a:t>Giriş ve Motivasyon</a:t>
            </a:r>
            <a:endParaRPr lang="en-US" sz="3200" dirty="0"/>
          </a:p>
        </p:txBody>
      </p:sp>
      <p:sp>
        <p:nvSpPr>
          <p:cNvPr id="3" name="Text 1"/>
          <p:cNvSpPr txBox="1"/>
          <p:nvPr/>
        </p:nvSpPr>
        <p:spPr>
          <a:xfrm>
            <a:off x="548640" y="960120"/>
            <a:ext cx="11094415" cy="411480"/>
          </a:xfrm>
          <a:prstGeom prst="rect">
            <a:avLst/>
          </a:prstGeom>
          <a:noFill/>
          <a:ln/>
        </p:spPr>
        <p:txBody>
          <a:bodyPr wrap="square" lIns="0" tIns="0" rIns="0" bIns="0" rtlCol="0" anchor="ctr"/>
          <a:lstStyle/>
          <a:p>
            <a:pPr indent="0" marL="0">
              <a:buNone/>
            </a:pPr>
            <a:r>
              <a:rPr lang="en-US" sz="1900" dirty="0">
                <a:solidFill>
                  <a:srgbClr val="5B6577"/>
                </a:solidFill>
                <a:latin typeface="Calibri" pitchFamily="34" charset="0"/>
                <a:ea typeface="Calibri" pitchFamily="34" charset="-122"/>
                <a:cs typeface="Calibri" pitchFamily="34" charset="-120"/>
              </a:rPr>
              <a:t>Rota planlaması çoğunlukla sürücüyü hesaba katmıyor</a:t>
            </a:r>
            <a:endParaRPr lang="en-US" sz="1900" dirty="0"/>
          </a:p>
        </p:txBody>
      </p:sp>
      <p:sp>
        <p:nvSpPr>
          <p:cNvPr id="4"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100" dirty="0">
                <a:solidFill>
                  <a:srgbClr val="8A93A3"/>
                </a:solidFill>
                <a:latin typeface="Calibri" pitchFamily="34" charset="0"/>
                <a:ea typeface="Calibri" pitchFamily="34" charset="-122"/>
                <a:cs typeface="Calibri" pitchFamily="34" charset="-120"/>
              </a:rPr>
              <a:t>TOK 2026 · Yiğit &amp; Erkan · Beykoz Üniversitesi</a:t>
            </a:r>
            <a:endParaRPr lang="en-US" sz="1100" dirty="0"/>
          </a:p>
        </p:txBody>
      </p:sp>
      <p:sp>
        <p:nvSpPr>
          <p:cNvPr id="5" name="Shape 3"/>
          <p:cNvSpPr/>
          <p:nvPr/>
        </p:nvSpPr>
        <p:spPr>
          <a:xfrm>
            <a:off x="640080" y="1920240"/>
            <a:ext cx="868680" cy="868680"/>
          </a:xfrm>
          <a:prstGeom prst="ellipse">
            <a:avLst/>
          </a:prstGeom>
          <a:solidFill>
            <a:srgbClr val="1A9E77"/>
          </a:solidFill>
          <a:ln w="12700">
            <a:solidFill>
              <a:srgbClr val="1A9E77"/>
            </a:solidFill>
            <a:prstDash val="solid"/>
          </a:ln>
        </p:spPr>
      </p:sp>
      <p:pic>
        <p:nvPicPr>
          <p:cNvPr id="6" name="Image 0" descr="icons/battery_w.png">    </p:cNvPr>
          <p:cNvPicPr>
            <a:picLocks noChangeAspect="1"/>
          </p:cNvPicPr>
          <p:nvPr/>
        </p:nvPicPr>
        <p:blipFill>
          <a:blip r:embed="rId1"/>
          <a:stretch>
            <a:fillRect/>
          </a:stretch>
        </p:blipFill>
        <p:spPr>
          <a:xfrm>
            <a:off x="857250" y="2137410"/>
            <a:ext cx="434340" cy="434340"/>
          </a:xfrm>
          <a:prstGeom prst="rect">
            <a:avLst/>
          </a:prstGeom>
        </p:spPr>
      </p:pic>
      <p:sp>
        <p:nvSpPr>
          <p:cNvPr id="7" name="Text 4"/>
          <p:cNvSpPr txBox="1"/>
          <p:nvPr/>
        </p:nvSpPr>
        <p:spPr>
          <a:xfrm>
            <a:off x="1783080" y="1874520"/>
            <a:ext cx="3657600" cy="457200"/>
          </a:xfrm>
          <a:prstGeom prst="rect">
            <a:avLst/>
          </a:prstGeom>
          <a:noFill/>
          <a:ln/>
        </p:spPr>
        <p:txBody>
          <a:bodyPr wrap="square" lIns="0" tIns="0" rIns="0" bIns="0" rtlCol="0" anchor="ctr"/>
          <a:lstStyle/>
          <a:p>
            <a:pPr indent="0" marL="0">
              <a:buNone/>
            </a:pPr>
            <a:r>
              <a:rPr lang="en-US" sz="2200" b="1" dirty="0">
                <a:solidFill>
                  <a:srgbClr val="1F2A44"/>
                </a:solidFill>
                <a:latin typeface="Calibri" pitchFamily="34" charset="0"/>
                <a:ea typeface="Calibri" pitchFamily="34" charset="-122"/>
                <a:cs typeface="Calibri" pitchFamily="34" charset="-120"/>
              </a:rPr>
              <a:t>Elektrikli araçlar (EA)</a:t>
            </a:r>
            <a:endParaRPr lang="en-US" sz="2200" dirty="0"/>
          </a:p>
        </p:txBody>
      </p:sp>
      <p:sp>
        <p:nvSpPr>
          <p:cNvPr id="8" name="Text 5"/>
          <p:cNvSpPr txBox="1"/>
          <p:nvPr/>
        </p:nvSpPr>
        <p:spPr>
          <a:xfrm>
            <a:off x="1783080" y="2331720"/>
            <a:ext cx="9722815" cy="548640"/>
          </a:xfrm>
          <a:prstGeom prst="rect">
            <a:avLst/>
          </a:prstGeom>
          <a:noFill/>
          <a:ln/>
        </p:spPr>
        <p:txBody>
          <a:bodyPr wrap="square" lIns="0" tIns="0" rIns="0" bIns="0" rtlCol="0" anchor="t"/>
          <a:lstStyle/>
          <a:p>
            <a:pPr indent="0" marL="0">
              <a:buNone/>
            </a:pPr>
            <a:r>
              <a:rPr lang="en-US" sz="2000" dirty="0">
                <a:solidFill>
                  <a:srgbClr val="1E2533"/>
                </a:solidFill>
                <a:latin typeface="Calibri" pitchFamily="34" charset="0"/>
                <a:ea typeface="Calibri" pitchFamily="34" charset="-122"/>
                <a:cs typeface="Calibri" pitchFamily="34" charset="-120"/>
              </a:rPr>
              <a:t>Katı batarya kısıtları ve dengesiz dağılmış şarj altyapısı [1], [2]</a:t>
            </a:r>
            <a:endParaRPr lang="en-US" sz="2000" dirty="0"/>
          </a:p>
        </p:txBody>
      </p:sp>
      <p:sp>
        <p:nvSpPr>
          <p:cNvPr id="9" name="Shape 6"/>
          <p:cNvSpPr/>
          <p:nvPr/>
        </p:nvSpPr>
        <p:spPr>
          <a:xfrm>
            <a:off x="640080" y="3291840"/>
            <a:ext cx="868680" cy="868680"/>
          </a:xfrm>
          <a:prstGeom prst="ellipse">
            <a:avLst/>
          </a:prstGeom>
          <a:solidFill>
            <a:srgbClr val="1F2A44"/>
          </a:solidFill>
          <a:ln w="12700">
            <a:solidFill>
              <a:srgbClr val="1F2A44"/>
            </a:solidFill>
            <a:prstDash val="solid"/>
          </a:ln>
        </p:spPr>
      </p:sp>
      <p:pic>
        <p:nvPicPr>
          <p:cNvPr id="10" name="Image 1" descr="icons/route_w.png">    </p:cNvPr>
          <p:cNvPicPr>
            <a:picLocks noChangeAspect="1"/>
          </p:cNvPicPr>
          <p:nvPr/>
        </p:nvPicPr>
        <p:blipFill>
          <a:blip r:embed="rId2"/>
          <a:stretch>
            <a:fillRect/>
          </a:stretch>
        </p:blipFill>
        <p:spPr>
          <a:xfrm>
            <a:off x="857250" y="3509010"/>
            <a:ext cx="434340" cy="434340"/>
          </a:xfrm>
          <a:prstGeom prst="rect">
            <a:avLst/>
          </a:prstGeom>
        </p:spPr>
      </p:pic>
      <p:sp>
        <p:nvSpPr>
          <p:cNvPr id="11" name="Text 7"/>
          <p:cNvSpPr txBox="1"/>
          <p:nvPr/>
        </p:nvSpPr>
        <p:spPr>
          <a:xfrm>
            <a:off x="1783080" y="3246120"/>
            <a:ext cx="3657600" cy="457200"/>
          </a:xfrm>
          <a:prstGeom prst="rect">
            <a:avLst/>
          </a:prstGeom>
          <a:noFill/>
          <a:ln/>
        </p:spPr>
        <p:txBody>
          <a:bodyPr wrap="square" lIns="0" tIns="0" rIns="0" bIns="0" rtlCol="0" anchor="ctr"/>
          <a:lstStyle/>
          <a:p>
            <a:pPr indent="0" marL="0">
              <a:buNone/>
            </a:pPr>
            <a:r>
              <a:rPr lang="en-US" sz="2200" b="1" dirty="0">
                <a:solidFill>
                  <a:srgbClr val="1F2A44"/>
                </a:solidFill>
                <a:latin typeface="Calibri" pitchFamily="34" charset="0"/>
                <a:ea typeface="Calibri" pitchFamily="34" charset="-122"/>
                <a:cs typeface="Calibri" pitchFamily="34" charset="-120"/>
              </a:rPr>
              <a:t>Çoğu navigasyon çözümü</a:t>
            </a:r>
            <a:endParaRPr lang="en-US" sz="2200" dirty="0"/>
          </a:p>
        </p:txBody>
      </p:sp>
      <p:sp>
        <p:nvSpPr>
          <p:cNvPr id="12" name="Text 8"/>
          <p:cNvSpPr txBox="1"/>
          <p:nvPr/>
        </p:nvSpPr>
        <p:spPr>
          <a:xfrm>
            <a:off x="1783080" y="3703320"/>
            <a:ext cx="9722815" cy="548640"/>
          </a:xfrm>
          <a:prstGeom prst="rect">
            <a:avLst/>
          </a:prstGeom>
          <a:noFill/>
          <a:ln/>
        </p:spPr>
        <p:txBody>
          <a:bodyPr wrap="square" lIns="0" tIns="0" rIns="0" bIns="0" rtlCol="0" anchor="t"/>
          <a:lstStyle/>
          <a:p>
            <a:pPr indent="0" marL="0">
              <a:buNone/>
            </a:pPr>
            <a:r>
              <a:rPr lang="en-US" sz="2000" dirty="0">
                <a:solidFill>
                  <a:srgbClr val="1E2533"/>
                </a:solidFill>
                <a:latin typeface="Calibri" pitchFamily="34" charset="0"/>
                <a:ea typeface="Calibri" pitchFamily="34" charset="-122"/>
                <a:cs typeface="Calibri" pitchFamily="34" charset="-120"/>
              </a:rPr>
              <a:t>Süre, mesafe veya enerjiyi en aza indirir; sürücünün durumunu karara katmaz</a:t>
            </a:r>
            <a:endParaRPr lang="en-US" sz="2000" dirty="0"/>
          </a:p>
        </p:txBody>
      </p:sp>
      <p:sp>
        <p:nvSpPr>
          <p:cNvPr id="13" name="Shape 9"/>
          <p:cNvSpPr/>
          <p:nvPr/>
        </p:nvSpPr>
        <p:spPr>
          <a:xfrm>
            <a:off x="640080" y="4663440"/>
            <a:ext cx="868680" cy="868680"/>
          </a:xfrm>
          <a:prstGeom prst="ellipse">
            <a:avLst/>
          </a:prstGeom>
          <a:solidFill>
            <a:srgbClr val="D9572B"/>
          </a:solidFill>
          <a:ln w="12700">
            <a:solidFill>
              <a:srgbClr val="D9572B"/>
            </a:solidFill>
            <a:prstDash val="solid"/>
          </a:ln>
        </p:spPr>
      </p:sp>
      <p:pic>
        <p:nvPicPr>
          <p:cNvPr id="14" name="Image 2" descr="icons/brain_w.png">    </p:cNvPr>
          <p:cNvPicPr>
            <a:picLocks noChangeAspect="1"/>
          </p:cNvPicPr>
          <p:nvPr/>
        </p:nvPicPr>
        <p:blipFill>
          <a:blip r:embed="rId3"/>
          <a:stretch>
            <a:fillRect/>
          </a:stretch>
        </p:blipFill>
        <p:spPr>
          <a:xfrm>
            <a:off x="857250" y="4880610"/>
            <a:ext cx="434340" cy="434340"/>
          </a:xfrm>
          <a:prstGeom prst="rect">
            <a:avLst/>
          </a:prstGeom>
        </p:spPr>
      </p:pic>
      <p:sp>
        <p:nvSpPr>
          <p:cNvPr id="15" name="Text 10"/>
          <p:cNvSpPr txBox="1"/>
          <p:nvPr/>
        </p:nvSpPr>
        <p:spPr>
          <a:xfrm>
            <a:off x="1783080" y="4617720"/>
            <a:ext cx="3657600" cy="457200"/>
          </a:xfrm>
          <a:prstGeom prst="rect">
            <a:avLst/>
          </a:prstGeom>
          <a:noFill/>
          <a:ln/>
        </p:spPr>
        <p:txBody>
          <a:bodyPr wrap="square" lIns="0" tIns="0" rIns="0" bIns="0" rtlCol="0" anchor="ctr"/>
          <a:lstStyle/>
          <a:p>
            <a:pPr indent="0" marL="0">
              <a:buNone/>
            </a:pPr>
            <a:r>
              <a:rPr lang="en-US" sz="2200" b="1" dirty="0">
                <a:solidFill>
                  <a:srgbClr val="1F2A44"/>
                </a:solidFill>
                <a:latin typeface="Calibri" pitchFamily="34" charset="0"/>
                <a:ea typeface="Calibri" pitchFamily="34" charset="-122"/>
                <a:cs typeface="Calibri" pitchFamily="34" charset="-120"/>
              </a:rPr>
              <a:t>Göz ardı edilen: sürücü</a:t>
            </a:r>
            <a:endParaRPr lang="en-US" sz="2200" dirty="0"/>
          </a:p>
        </p:txBody>
      </p:sp>
      <p:sp>
        <p:nvSpPr>
          <p:cNvPr id="16" name="Text 11"/>
          <p:cNvSpPr txBox="1"/>
          <p:nvPr/>
        </p:nvSpPr>
        <p:spPr>
          <a:xfrm>
            <a:off x="1783080" y="5074920"/>
            <a:ext cx="9722815" cy="548640"/>
          </a:xfrm>
          <a:prstGeom prst="rect">
            <a:avLst/>
          </a:prstGeom>
          <a:noFill/>
          <a:ln/>
        </p:spPr>
        <p:txBody>
          <a:bodyPr wrap="square" lIns="0" tIns="0" rIns="0" bIns="0" rtlCol="0" anchor="t"/>
          <a:lstStyle/>
          <a:p>
            <a:pPr indent="0" marL="0">
              <a:buNone/>
            </a:pPr>
            <a:r>
              <a:rPr lang="en-US" sz="2000" dirty="0">
                <a:solidFill>
                  <a:srgbClr val="1E2533"/>
                </a:solidFill>
                <a:latin typeface="Calibri" pitchFamily="34" charset="0"/>
                <a:ea typeface="Calibri" pitchFamily="34" charset="-122"/>
                <a:cs typeface="Calibri" pitchFamily="34" charset="-120"/>
              </a:rPr>
              <a:t>Yorgun ya da yüksek bilişsel yük altındaki sürücü için karmaşık kavşak ağı kaza riskini ve stresi artırır [3], [4]</a:t>
            </a:r>
            <a:endParaRPr lang="en-US" sz="2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3A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640080"/>
          </a:xfrm>
          <a:prstGeom prst="rect">
            <a:avLst/>
          </a:prstGeom>
          <a:noFill/>
          <a:ln/>
        </p:spPr>
        <p:txBody>
          <a:bodyPr wrap="square" lIns="0" tIns="0" rIns="0" bIns="0" rtlCol="0" anchor="ctr"/>
          <a:lstStyle/>
          <a:p>
            <a:pPr indent="0" marL="0">
              <a:buNone/>
            </a:pPr>
            <a:r>
              <a:rPr lang="en-US" sz="3200" b="1" dirty="0">
                <a:solidFill>
                  <a:srgbClr val="1F2A44"/>
                </a:solidFill>
                <a:latin typeface="Calibri" pitchFamily="34" charset="0"/>
                <a:ea typeface="Calibri" pitchFamily="34" charset="-122"/>
                <a:cs typeface="Calibri" pitchFamily="34" charset="-120"/>
              </a:rPr>
              <a:t>Literatür ve Araştırma Boşluğu</a:t>
            </a:r>
            <a:endParaRPr lang="en-US" sz="3200" dirty="0"/>
          </a:p>
        </p:txBody>
      </p:sp>
      <p:sp>
        <p:nvSpPr>
          <p:cNvPr id="3" name="Text 1"/>
          <p:cNvSpPr txBox="1"/>
          <p:nvPr/>
        </p:nvSpPr>
        <p:spPr>
          <a:xfrm>
            <a:off x="548640" y="960120"/>
            <a:ext cx="11094415" cy="411480"/>
          </a:xfrm>
          <a:prstGeom prst="rect">
            <a:avLst/>
          </a:prstGeom>
          <a:noFill/>
          <a:ln/>
        </p:spPr>
        <p:txBody>
          <a:bodyPr wrap="square" lIns="0" tIns="0" rIns="0" bIns="0" rtlCol="0" anchor="ctr"/>
          <a:lstStyle/>
          <a:p>
            <a:pPr indent="0" marL="0">
              <a:buNone/>
            </a:pPr>
            <a:r>
              <a:rPr lang="en-US" sz="1900" dirty="0">
                <a:solidFill>
                  <a:srgbClr val="5B6577"/>
                </a:solidFill>
                <a:latin typeface="Calibri" pitchFamily="34" charset="0"/>
                <a:ea typeface="Calibri" pitchFamily="34" charset="-122"/>
                <a:cs typeface="Calibri" pitchFamily="34" charset="-120"/>
              </a:rPr>
              <a:t>Mevcut çalışmalar bu üç boyutu ayrı ayrı ele alıyor</a:t>
            </a:r>
            <a:endParaRPr lang="en-US" sz="1900" dirty="0"/>
          </a:p>
        </p:txBody>
      </p:sp>
      <p:sp>
        <p:nvSpPr>
          <p:cNvPr id="4"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100" dirty="0">
                <a:solidFill>
                  <a:srgbClr val="8A93A3"/>
                </a:solidFill>
                <a:latin typeface="Calibri" pitchFamily="34" charset="0"/>
                <a:ea typeface="Calibri" pitchFamily="34" charset="-122"/>
                <a:cs typeface="Calibri" pitchFamily="34" charset="-120"/>
              </a:rPr>
              <a:t>TOK 2026 · Yiğit &amp; Erkan · Beykoz Üniversitesi</a:t>
            </a:r>
            <a:endParaRPr lang="en-US" sz="1100" dirty="0"/>
          </a:p>
        </p:txBody>
      </p:sp>
      <p:sp>
        <p:nvSpPr>
          <p:cNvPr id="5" name="Shape 3"/>
          <p:cNvSpPr/>
          <p:nvPr/>
        </p:nvSpPr>
        <p:spPr>
          <a:xfrm>
            <a:off x="1554480" y="1554480"/>
            <a:ext cx="2743200" cy="2743200"/>
          </a:xfrm>
          <a:prstGeom prst="ellipse">
            <a:avLst/>
          </a:prstGeom>
          <a:solidFill>
            <a:srgbClr val="1A9E77">
              <a:alpha val="20000"/>
            </a:srgbClr>
          </a:solidFill>
          <a:ln w="25400">
            <a:solidFill>
              <a:srgbClr val="1A9E77"/>
            </a:solidFill>
            <a:prstDash val="solid"/>
          </a:ln>
        </p:spPr>
      </p:sp>
      <p:sp>
        <p:nvSpPr>
          <p:cNvPr id="6" name="Shape 4"/>
          <p:cNvSpPr/>
          <p:nvPr/>
        </p:nvSpPr>
        <p:spPr>
          <a:xfrm>
            <a:off x="3566160" y="1554480"/>
            <a:ext cx="2743200" cy="2743200"/>
          </a:xfrm>
          <a:prstGeom prst="ellipse">
            <a:avLst/>
          </a:prstGeom>
          <a:solidFill>
            <a:srgbClr val="D9572B">
              <a:alpha val="20000"/>
            </a:srgbClr>
          </a:solidFill>
          <a:ln w="25400">
            <a:solidFill>
              <a:srgbClr val="D9572B"/>
            </a:solidFill>
            <a:prstDash val="solid"/>
          </a:ln>
        </p:spPr>
      </p:sp>
      <p:sp>
        <p:nvSpPr>
          <p:cNvPr id="7" name="Shape 5"/>
          <p:cNvSpPr/>
          <p:nvPr/>
        </p:nvSpPr>
        <p:spPr>
          <a:xfrm>
            <a:off x="2560320" y="3200400"/>
            <a:ext cx="2743200" cy="2743200"/>
          </a:xfrm>
          <a:prstGeom prst="ellipse">
            <a:avLst/>
          </a:prstGeom>
          <a:solidFill>
            <a:srgbClr val="1F2A44">
              <a:alpha val="20000"/>
            </a:srgbClr>
          </a:solidFill>
          <a:ln w="25400">
            <a:solidFill>
              <a:srgbClr val="1F2A44"/>
            </a:solidFill>
            <a:prstDash val="solid"/>
          </a:ln>
        </p:spPr>
      </p:sp>
      <p:sp>
        <p:nvSpPr>
          <p:cNvPr id="8" name="Text 6"/>
          <p:cNvSpPr txBox="1"/>
          <p:nvPr/>
        </p:nvSpPr>
        <p:spPr>
          <a:xfrm>
            <a:off x="1874520" y="2240280"/>
            <a:ext cx="1463040" cy="731520"/>
          </a:xfrm>
          <a:prstGeom prst="rect">
            <a:avLst/>
          </a:prstGeom>
          <a:noFill/>
          <a:ln/>
        </p:spPr>
        <p:txBody>
          <a:bodyPr wrap="square" lIns="0" tIns="0" rIns="0" bIns="0" rtlCol="0" anchor="ctr"/>
          <a:lstStyle/>
          <a:p>
            <a:pPr algn="ctr" indent="0" marL="0">
              <a:buNone/>
            </a:pPr>
            <a:r>
              <a:rPr lang="en-US" sz="1600" b="1" dirty="0">
                <a:solidFill>
                  <a:srgbClr val="1A9E77"/>
                </a:solidFill>
                <a:latin typeface="Calibri" pitchFamily="34" charset="0"/>
                <a:ea typeface="Calibri" pitchFamily="34" charset="-122"/>
                <a:cs typeface="Calibri" pitchFamily="34" charset="-120"/>
              </a:rPr>
              <a:t>EA enerji ve şarj</a:t>
            </a:r>
            <a:endParaRPr lang="en-US" sz="1600" dirty="0"/>
          </a:p>
          <a:p>
            <a:pPr algn="ctr" indent="0" marL="0">
              <a:buNone/>
            </a:pPr>
            <a:r>
              <a:rPr lang="en-US" sz="1400" dirty="0">
                <a:solidFill>
                  <a:srgbClr val="5B6577"/>
                </a:solidFill>
                <a:latin typeface="Calibri" pitchFamily="34" charset="0"/>
                <a:ea typeface="Calibri" pitchFamily="34" charset="-122"/>
                <a:cs typeface="Calibri" pitchFamily="34" charset="-120"/>
              </a:rPr>
              <a:t>[1], [2], [5]</a:t>
            </a:r>
            <a:endParaRPr lang="en-US" sz="1600" dirty="0"/>
          </a:p>
        </p:txBody>
      </p:sp>
      <p:sp>
        <p:nvSpPr>
          <p:cNvPr id="9" name="Text 7"/>
          <p:cNvSpPr txBox="1"/>
          <p:nvPr/>
        </p:nvSpPr>
        <p:spPr>
          <a:xfrm>
            <a:off x="4526280" y="2148840"/>
            <a:ext cx="1463040" cy="914400"/>
          </a:xfrm>
          <a:prstGeom prst="rect">
            <a:avLst/>
          </a:prstGeom>
          <a:noFill/>
          <a:ln/>
        </p:spPr>
        <p:txBody>
          <a:bodyPr wrap="square" lIns="0" tIns="0" rIns="0" bIns="0" rtlCol="0" anchor="ctr"/>
          <a:lstStyle/>
          <a:p>
            <a:pPr algn="ctr" indent="0" marL="0">
              <a:buNone/>
            </a:pPr>
            <a:r>
              <a:rPr lang="en-US" sz="1600" b="1" dirty="0">
                <a:solidFill>
                  <a:srgbClr val="D9572B"/>
                </a:solidFill>
                <a:latin typeface="Calibri" pitchFamily="34" charset="0"/>
                <a:ea typeface="Calibri" pitchFamily="34" charset="-122"/>
                <a:cs typeface="Calibri" pitchFamily="34" charset="-120"/>
              </a:rPr>
              <a:t>Sürücü durumu ve duygu</a:t>
            </a:r>
            <a:endParaRPr lang="en-US" sz="1600" dirty="0"/>
          </a:p>
          <a:p>
            <a:pPr algn="ctr" indent="0" marL="0">
              <a:buNone/>
            </a:pPr>
            <a:r>
              <a:rPr lang="en-US" sz="1400" dirty="0">
                <a:solidFill>
                  <a:srgbClr val="5B6577"/>
                </a:solidFill>
                <a:latin typeface="Calibri" pitchFamily="34" charset="0"/>
                <a:ea typeface="Calibri" pitchFamily="34" charset="-122"/>
                <a:cs typeface="Calibri" pitchFamily="34" charset="-120"/>
              </a:rPr>
              <a:t>[3], [4], [6]</a:t>
            </a:r>
            <a:endParaRPr lang="en-US" sz="1600" dirty="0"/>
          </a:p>
        </p:txBody>
      </p:sp>
      <p:sp>
        <p:nvSpPr>
          <p:cNvPr id="10" name="Text 8"/>
          <p:cNvSpPr txBox="1"/>
          <p:nvPr/>
        </p:nvSpPr>
        <p:spPr>
          <a:xfrm>
            <a:off x="2926080" y="4617720"/>
            <a:ext cx="2011680" cy="822960"/>
          </a:xfrm>
          <a:prstGeom prst="rect">
            <a:avLst/>
          </a:prstGeom>
          <a:noFill/>
          <a:ln/>
        </p:spPr>
        <p:txBody>
          <a:bodyPr wrap="square" lIns="0" tIns="0" rIns="0" bIns="0" rtlCol="0" anchor="ctr"/>
          <a:lstStyle/>
          <a:p>
            <a:pPr algn="ctr" indent="0" marL="0">
              <a:buNone/>
            </a:pPr>
            <a:r>
              <a:rPr lang="en-US" sz="1500" b="1" dirty="0">
                <a:solidFill>
                  <a:srgbClr val="1F2A44"/>
                </a:solidFill>
                <a:latin typeface="Calibri" pitchFamily="34" charset="0"/>
                <a:ea typeface="Calibri" pitchFamily="34" charset="-122"/>
                <a:cs typeface="Calibri" pitchFamily="34" charset="-120"/>
              </a:rPr>
              <a:t>Çok amaçlı optimizasyon ve öğrenme</a:t>
            </a:r>
            <a:endParaRPr lang="en-US" sz="1500" dirty="0"/>
          </a:p>
          <a:p>
            <a:pPr algn="ctr" indent="0" marL="0">
              <a:buNone/>
            </a:pPr>
            <a:r>
              <a:rPr lang="en-US" sz="1400" dirty="0">
                <a:solidFill>
                  <a:srgbClr val="5B6577"/>
                </a:solidFill>
                <a:latin typeface="Calibri" pitchFamily="34" charset="0"/>
                <a:ea typeface="Calibri" pitchFamily="34" charset="-122"/>
                <a:cs typeface="Calibri" pitchFamily="34" charset="-120"/>
              </a:rPr>
              <a:t>[7], [8], [9], [14]</a:t>
            </a:r>
            <a:endParaRPr lang="en-US" sz="1500" dirty="0"/>
          </a:p>
        </p:txBody>
      </p:sp>
      <p:sp>
        <p:nvSpPr>
          <p:cNvPr id="11" name="Shape 9"/>
          <p:cNvSpPr/>
          <p:nvPr/>
        </p:nvSpPr>
        <p:spPr>
          <a:xfrm>
            <a:off x="3273552" y="3218688"/>
            <a:ext cx="1316736" cy="512064"/>
          </a:xfrm>
          <a:prstGeom prst="roundRect">
            <a:avLst>
              <a:gd name="adj" fmla="val 17857"/>
            </a:avLst>
          </a:prstGeom>
          <a:solidFill>
            <a:srgbClr val="1F2A44"/>
          </a:solidFill>
          <a:ln w="12700">
            <a:solidFill>
              <a:srgbClr val="1F2A44"/>
            </a:solidFill>
            <a:prstDash val="solid"/>
          </a:ln>
        </p:spPr>
      </p:sp>
      <p:sp>
        <p:nvSpPr>
          <p:cNvPr id="12" name="Text 10"/>
          <p:cNvSpPr txBox="1"/>
          <p:nvPr/>
        </p:nvSpPr>
        <p:spPr>
          <a:xfrm>
            <a:off x="3273552" y="3218688"/>
            <a:ext cx="1316736"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AffectEV</a:t>
            </a:r>
            <a:endParaRPr lang="en-US" sz="1800" dirty="0"/>
          </a:p>
        </p:txBody>
      </p:sp>
      <p:sp>
        <p:nvSpPr>
          <p:cNvPr id="13" name="Shape 11"/>
          <p:cNvSpPr/>
          <p:nvPr/>
        </p:nvSpPr>
        <p:spPr>
          <a:xfrm>
            <a:off x="8092440" y="1600200"/>
            <a:ext cx="3550615" cy="4526280"/>
          </a:xfrm>
          <a:prstGeom prst="roundRect">
            <a:avLst>
              <a:gd name="adj" fmla="val 3090"/>
            </a:avLst>
          </a:prstGeom>
          <a:solidFill>
            <a:srgbClr val="EEF2F7"/>
          </a:solidFill>
          <a:ln w="12700">
            <a:solidFill>
              <a:srgbClr val="EEF2F7"/>
            </a:solidFill>
            <a:prstDash val="solid"/>
          </a:ln>
        </p:spPr>
      </p:sp>
      <p:sp>
        <p:nvSpPr>
          <p:cNvPr id="14" name="Text 12"/>
          <p:cNvSpPr txBox="1"/>
          <p:nvPr/>
        </p:nvSpPr>
        <p:spPr>
          <a:xfrm>
            <a:off x="8366760" y="1783080"/>
            <a:ext cx="3001975" cy="411480"/>
          </a:xfrm>
          <a:prstGeom prst="rect">
            <a:avLst/>
          </a:prstGeom>
          <a:noFill/>
          <a:ln/>
        </p:spPr>
        <p:txBody>
          <a:bodyPr wrap="square" lIns="0" tIns="0" rIns="0" bIns="0" rtlCol="0" anchor="ctr"/>
          <a:lstStyle/>
          <a:p>
            <a:pPr indent="0" marL="0">
              <a:buNone/>
            </a:pPr>
            <a:r>
              <a:rPr lang="en-US" sz="1900" b="1" dirty="0">
                <a:solidFill>
                  <a:srgbClr val="1F2A44"/>
                </a:solidFill>
                <a:latin typeface="Calibri" pitchFamily="34" charset="0"/>
                <a:ea typeface="Calibri" pitchFamily="34" charset="-122"/>
                <a:cs typeface="Calibri" pitchFamily="34" charset="-120"/>
              </a:rPr>
              <a:t>Örnek çalışmalar</a:t>
            </a:r>
            <a:endParaRPr lang="en-US" sz="1900" dirty="0"/>
          </a:p>
        </p:txBody>
      </p:sp>
      <p:sp>
        <p:nvSpPr>
          <p:cNvPr id="15" name="Text 13"/>
          <p:cNvSpPr txBox="1"/>
          <p:nvPr/>
        </p:nvSpPr>
        <p:spPr>
          <a:xfrm>
            <a:off x="8366760" y="2331720"/>
            <a:ext cx="3001975" cy="777240"/>
          </a:xfrm>
          <a:prstGeom prst="rect">
            <a:avLst/>
          </a:prstGeom>
          <a:noFill/>
          <a:ln/>
        </p:spPr>
        <p:txBody>
          <a:bodyPr wrap="square" lIns="0" tIns="0" rIns="0" bIns="0" rtlCol="0" anchor="t"/>
          <a:lstStyle/>
          <a:p>
            <a:pPr indent="0" marL="0">
              <a:buNone/>
            </a:pPr>
            <a:r>
              <a:rPr lang="en-US" sz="1600" b="1" dirty="0">
                <a:solidFill>
                  <a:srgbClr val="1E2533"/>
                </a:solidFill>
                <a:latin typeface="Calibri" pitchFamily="34" charset="0"/>
                <a:ea typeface="Calibri" pitchFamily="34" charset="-122"/>
                <a:cs typeface="Calibri" pitchFamily="34" charset="-120"/>
              </a:rPr>
              <a:t>Houalef vd. [5]</a:t>
            </a:r>
            <a:endParaRPr lang="en-US" sz="1600" dirty="0"/>
          </a:p>
          <a:p>
            <a:pPr indent="0" marL="0">
              <a:buNone/>
            </a:pPr>
            <a:r>
              <a:rPr lang="en-US" sz="1600" dirty="0">
                <a:solidFill>
                  <a:srgbClr val="5B6577"/>
                </a:solidFill>
                <a:latin typeface="Calibri" pitchFamily="34" charset="0"/>
                <a:ea typeface="Calibri" pitchFamily="34" charset="-122"/>
                <a:cs typeface="Calibri" pitchFamily="34" charset="-120"/>
              </a:rPr>
              <a:t>Kişiselleştirilmiş EA rota planlaması</a:t>
            </a:r>
            <a:endParaRPr lang="en-US" sz="1600" dirty="0"/>
          </a:p>
        </p:txBody>
      </p:sp>
      <p:sp>
        <p:nvSpPr>
          <p:cNvPr id="16" name="Text 14"/>
          <p:cNvSpPr txBox="1"/>
          <p:nvPr/>
        </p:nvSpPr>
        <p:spPr>
          <a:xfrm>
            <a:off x="8366760" y="3200400"/>
            <a:ext cx="3001975" cy="777240"/>
          </a:xfrm>
          <a:prstGeom prst="rect">
            <a:avLst/>
          </a:prstGeom>
          <a:noFill/>
          <a:ln/>
        </p:spPr>
        <p:txBody>
          <a:bodyPr wrap="square" lIns="0" tIns="0" rIns="0" bIns="0" rtlCol="0" anchor="t"/>
          <a:lstStyle/>
          <a:p>
            <a:pPr indent="0" marL="0">
              <a:buNone/>
            </a:pPr>
            <a:r>
              <a:rPr lang="en-US" sz="1600" b="1" dirty="0">
                <a:solidFill>
                  <a:srgbClr val="1E2533"/>
                </a:solidFill>
                <a:latin typeface="Calibri" pitchFamily="34" charset="0"/>
                <a:ea typeface="Calibri" pitchFamily="34" charset="-122"/>
                <a:cs typeface="Calibri" pitchFamily="34" charset="-120"/>
              </a:rPr>
              <a:t>HappyRouting [6]</a:t>
            </a:r>
            <a:endParaRPr lang="en-US" sz="1600" dirty="0"/>
          </a:p>
          <a:p>
            <a:pPr indent="0" marL="0">
              <a:buNone/>
            </a:pPr>
            <a:r>
              <a:rPr lang="en-US" sz="1600" dirty="0">
                <a:solidFill>
                  <a:srgbClr val="5B6577"/>
                </a:solidFill>
                <a:latin typeface="Calibri" pitchFamily="34" charset="0"/>
                <a:ea typeface="Calibri" pitchFamily="34" charset="-122"/>
                <a:cs typeface="Calibri" pitchFamily="34" charset="-120"/>
              </a:rPr>
              <a:t>Duygu farkındalıklı rota üretimi</a:t>
            </a:r>
            <a:endParaRPr lang="en-US" sz="1600" dirty="0"/>
          </a:p>
        </p:txBody>
      </p:sp>
      <p:sp>
        <p:nvSpPr>
          <p:cNvPr id="17" name="Text 15"/>
          <p:cNvSpPr txBox="1"/>
          <p:nvPr/>
        </p:nvSpPr>
        <p:spPr>
          <a:xfrm>
            <a:off x="8366760" y="4069080"/>
            <a:ext cx="3001975" cy="777240"/>
          </a:xfrm>
          <a:prstGeom prst="rect">
            <a:avLst/>
          </a:prstGeom>
          <a:noFill/>
          <a:ln/>
        </p:spPr>
        <p:txBody>
          <a:bodyPr wrap="square" lIns="0" tIns="0" rIns="0" bIns="0" rtlCol="0" anchor="t"/>
          <a:lstStyle/>
          <a:p>
            <a:pPr indent="0" marL="0">
              <a:buNone/>
            </a:pPr>
            <a:r>
              <a:rPr lang="en-US" sz="1600" b="1" dirty="0">
                <a:solidFill>
                  <a:srgbClr val="1E2533"/>
                </a:solidFill>
                <a:latin typeface="Calibri" pitchFamily="34" charset="0"/>
                <a:ea typeface="Calibri" pitchFamily="34" charset="-122"/>
                <a:cs typeface="Calibri" pitchFamily="34" charset="-120"/>
              </a:rPr>
              <a:t>Haddad vd. [14]</a:t>
            </a:r>
            <a:endParaRPr lang="en-US" sz="1600" dirty="0"/>
          </a:p>
          <a:p>
            <a:pPr indent="0" marL="0">
              <a:buNone/>
            </a:pPr>
            <a:r>
              <a:rPr lang="en-US" sz="1600" dirty="0">
                <a:solidFill>
                  <a:srgbClr val="5B6577"/>
                </a:solidFill>
                <a:latin typeface="Calibri" pitchFamily="34" charset="0"/>
                <a:ea typeface="Calibri" pitchFamily="34" charset="-122"/>
                <a:cs typeface="Calibri" pitchFamily="34" charset="-120"/>
              </a:rPr>
              <a:t>NSGA-II + Q-Learning ile EA rotalama</a:t>
            </a:r>
            <a:endParaRPr lang="en-US" sz="1600" dirty="0"/>
          </a:p>
        </p:txBody>
      </p:sp>
      <p:sp>
        <p:nvSpPr>
          <p:cNvPr id="18" name="Text 16"/>
          <p:cNvSpPr txBox="1"/>
          <p:nvPr/>
        </p:nvSpPr>
        <p:spPr>
          <a:xfrm>
            <a:off x="8366760" y="4983480"/>
            <a:ext cx="3001975" cy="1005840"/>
          </a:xfrm>
          <a:prstGeom prst="rect">
            <a:avLst/>
          </a:prstGeom>
          <a:noFill/>
          <a:ln/>
        </p:spPr>
        <p:txBody>
          <a:bodyPr wrap="square" lIns="0" tIns="0" rIns="0" bIns="0" rtlCol="0" anchor="t"/>
          <a:lstStyle/>
          <a:p>
            <a:pPr indent="0" marL="0">
              <a:buNone/>
            </a:pPr>
            <a:r>
              <a:rPr lang="en-US" sz="1600" b="1" dirty="0">
                <a:solidFill>
                  <a:srgbClr val="D9572B"/>
                </a:solidFill>
                <a:latin typeface="Calibri" pitchFamily="34" charset="0"/>
                <a:ea typeface="Calibri" pitchFamily="34" charset="-122"/>
                <a:cs typeface="Calibri" pitchFamily="34" charset="-120"/>
              </a:rPr>
              <a:t>Batarya dinamikleri, şarj kısıtları ve insan merkezli sürüş deneyimi tek bir çerçevede birleştirilmemiş.</a:t>
            </a:r>
            <a:endParaRPr lang="en-US" sz="16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3A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640080"/>
          </a:xfrm>
          <a:prstGeom prst="rect">
            <a:avLst/>
          </a:prstGeom>
          <a:noFill/>
          <a:ln/>
        </p:spPr>
        <p:txBody>
          <a:bodyPr wrap="square" lIns="0" tIns="0" rIns="0" bIns="0" rtlCol="0" anchor="ctr"/>
          <a:lstStyle/>
          <a:p>
            <a:pPr indent="0" marL="0">
              <a:buNone/>
            </a:pPr>
            <a:r>
              <a:rPr lang="en-US" sz="3200" b="1" dirty="0">
                <a:solidFill>
                  <a:srgbClr val="1F2A44"/>
                </a:solidFill>
                <a:latin typeface="Calibri" pitchFamily="34" charset="0"/>
                <a:ea typeface="Calibri" pitchFamily="34" charset="-122"/>
                <a:cs typeface="Calibri" pitchFamily="34" charset="-120"/>
              </a:rPr>
              <a:t>Önerilen Çerçeve: AffectEV</a:t>
            </a:r>
            <a:endParaRPr lang="en-US" sz="3200" dirty="0"/>
          </a:p>
        </p:txBody>
      </p:sp>
      <p:sp>
        <p:nvSpPr>
          <p:cNvPr id="3" name="Text 1"/>
          <p:cNvSpPr txBox="1"/>
          <p:nvPr/>
        </p:nvSpPr>
        <p:spPr>
          <a:xfrm>
            <a:off x="548640" y="960120"/>
            <a:ext cx="11094415" cy="411480"/>
          </a:xfrm>
          <a:prstGeom prst="rect">
            <a:avLst/>
          </a:prstGeom>
          <a:noFill/>
          <a:ln/>
        </p:spPr>
        <p:txBody>
          <a:bodyPr wrap="square" lIns="0" tIns="0" rIns="0" bIns="0" rtlCol="0" anchor="ctr"/>
          <a:lstStyle/>
          <a:p>
            <a:pPr indent="0" marL="0">
              <a:buNone/>
            </a:pPr>
            <a:r>
              <a:rPr lang="en-US" sz="1900" dirty="0">
                <a:solidFill>
                  <a:srgbClr val="5B6577"/>
                </a:solidFill>
                <a:latin typeface="Calibri" pitchFamily="34" charset="0"/>
                <a:ea typeface="Calibri" pitchFamily="34" charset="-122"/>
                <a:cs typeface="Calibri" pitchFamily="34" charset="-120"/>
              </a:rPr>
              <a:t>Sürücü durumu, enerji ve konfor tek bir karar döngüsünde</a:t>
            </a:r>
            <a:endParaRPr lang="en-US" sz="1900" dirty="0"/>
          </a:p>
        </p:txBody>
      </p:sp>
      <p:sp>
        <p:nvSpPr>
          <p:cNvPr id="4"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100" dirty="0">
                <a:solidFill>
                  <a:srgbClr val="8A93A3"/>
                </a:solidFill>
                <a:latin typeface="Calibri" pitchFamily="34" charset="0"/>
                <a:ea typeface="Calibri" pitchFamily="34" charset="-122"/>
                <a:cs typeface="Calibri" pitchFamily="34" charset="-120"/>
              </a:rPr>
              <a:t>TOK 2026 · Yiğit &amp; Erkan · Beykoz Üniversitesi</a:t>
            </a:r>
            <a:endParaRPr lang="en-US" sz="1100" dirty="0"/>
          </a:p>
        </p:txBody>
      </p:sp>
      <p:sp>
        <p:nvSpPr>
          <p:cNvPr id="5" name="Shape 3"/>
          <p:cNvSpPr/>
          <p:nvPr/>
        </p:nvSpPr>
        <p:spPr>
          <a:xfrm>
            <a:off x="548640" y="2148840"/>
            <a:ext cx="1911645" cy="2103120"/>
          </a:xfrm>
          <a:prstGeom prst="roundRect">
            <a:avLst>
              <a:gd name="adj" fmla="val 5740"/>
            </a:avLst>
          </a:prstGeom>
          <a:solidFill>
            <a:srgbClr val="EEF2F7"/>
          </a:solidFill>
          <a:ln w="12700">
            <a:solidFill>
              <a:srgbClr val="EEF2F7"/>
            </a:solidFill>
            <a:prstDash val="solid"/>
          </a:ln>
        </p:spPr>
      </p:sp>
      <p:sp>
        <p:nvSpPr>
          <p:cNvPr id="6" name="Shape 4"/>
          <p:cNvSpPr/>
          <p:nvPr/>
        </p:nvSpPr>
        <p:spPr>
          <a:xfrm>
            <a:off x="1070122" y="2377440"/>
            <a:ext cx="868680" cy="868680"/>
          </a:xfrm>
          <a:prstGeom prst="ellipse">
            <a:avLst/>
          </a:prstGeom>
          <a:solidFill>
            <a:srgbClr val="D9572B"/>
          </a:solidFill>
          <a:ln w="12700">
            <a:solidFill>
              <a:srgbClr val="D9572B"/>
            </a:solidFill>
            <a:prstDash val="solid"/>
          </a:ln>
        </p:spPr>
      </p:sp>
      <p:pic>
        <p:nvPicPr>
          <p:cNvPr id="7" name="Image 0" descr="icons/user_w.png">    </p:cNvPr>
          <p:cNvPicPr>
            <a:picLocks noChangeAspect="1"/>
          </p:cNvPicPr>
          <p:nvPr/>
        </p:nvPicPr>
        <p:blipFill>
          <a:blip r:embed="rId1"/>
          <a:stretch>
            <a:fillRect/>
          </a:stretch>
        </p:blipFill>
        <p:spPr>
          <a:xfrm>
            <a:off x="1287292" y="2594610"/>
            <a:ext cx="434340" cy="434340"/>
          </a:xfrm>
          <a:prstGeom prst="rect">
            <a:avLst/>
          </a:prstGeom>
        </p:spPr>
      </p:pic>
      <p:sp>
        <p:nvSpPr>
          <p:cNvPr id="8" name="Text 5"/>
          <p:cNvSpPr txBox="1"/>
          <p:nvPr/>
        </p:nvSpPr>
        <p:spPr>
          <a:xfrm>
            <a:off x="621792" y="3383280"/>
            <a:ext cx="1765341" cy="777240"/>
          </a:xfrm>
          <a:prstGeom prst="rect">
            <a:avLst/>
          </a:prstGeom>
          <a:noFill/>
          <a:ln/>
        </p:spPr>
        <p:txBody>
          <a:bodyPr wrap="square" lIns="0" tIns="0" rIns="0" bIns="0" rtlCol="0" anchor="t"/>
          <a:lstStyle/>
          <a:p>
            <a:pPr algn="ctr" indent="0" marL="0">
              <a:buNone/>
            </a:pPr>
            <a:r>
              <a:rPr lang="en-US" sz="1800" b="1" dirty="0">
                <a:solidFill>
                  <a:srgbClr val="1F2A44"/>
                </a:solidFill>
                <a:latin typeface="Calibri" pitchFamily="34" charset="0"/>
                <a:ea typeface="Calibri" pitchFamily="34" charset="-122"/>
                <a:cs typeface="Calibri" pitchFamily="34" charset="-120"/>
              </a:rPr>
              <a:t>Sürücü durumu</a:t>
            </a:r>
            <a:endParaRPr lang="en-US" sz="1800" dirty="0"/>
          </a:p>
          <a:p>
            <a:pPr algn="ctr" indent="0" marL="0">
              <a:buNone/>
            </a:pPr>
            <a:r>
              <a:rPr lang="en-US" sz="1500" dirty="0">
                <a:solidFill>
                  <a:srgbClr val="5B6577"/>
                </a:solidFill>
                <a:latin typeface="Calibri" pitchFamily="34" charset="0"/>
                <a:ea typeface="Calibri" pitchFamily="34" charset="-122"/>
                <a:cs typeface="Calibri" pitchFamily="34" charset="-120"/>
              </a:rPr>
              <a:t>Bilişsel Yük Skoru (CLS)</a:t>
            </a:r>
            <a:endParaRPr lang="en-US" sz="1800" dirty="0"/>
          </a:p>
        </p:txBody>
      </p:sp>
      <p:sp>
        <p:nvSpPr>
          <p:cNvPr id="9" name="Shape 6"/>
          <p:cNvSpPr/>
          <p:nvPr/>
        </p:nvSpPr>
        <p:spPr>
          <a:xfrm>
            <a:off x="2515149" y="3200400"/>
            <a:ext cx="274320" cy="0"/>
          </a:xfrm>
          <a:prstGeom prst="line">
            <a:avLst/>
          </a:prstGeom>
          <a:noFill/>
          <a:ln w="25400">
            <a:solidFill>
              <a:srgbClr val="5B6577"/>
            </a:solidFill>
            <a:prstDash val="solid"/>
            <a:tailEnd type="triangle"/>
          </a:ln>
        </p:spPr>
      </p:sp>
      <p:sp>
        <p:nvSpPr>
          <p:cNvPr id="10" name="Shape 7"/>
          <p:cNvSpPr/>
          <p:nvPr/>
        </p:nvSpPr>
        <p:spPr>
          <a:xfrm>
            <a:off x="2844333" y="2148840"/>
            <a:ext cx="1911645" cy="2103120"/>
          </a:xfrm>
          <a:prstGeom prst="roundRect">
            <a:avLst>
              <a:gd name="adj" fmla="val 5740"/>
            </a:avLst>
          </a:prstGeom>
          <a:solidFill>
            <a:srgbClr val="EEF2F7"/>
          </a:solidFill>
          <a:ln w="12700">
            <a:solidFill>
              <a:srgbClr val="EEF2F7"/>
            </a:solidFill>
            <a:prstDash val="solid"/>
          </a:ln>
        </p:spPr>
      </p:sp>
      <p:sp>
        <p:nvSpPr>
          <p:cNvPr id="11" name="Shape 8"/>
          <p:cNvSpPr/>
          <p:nvPr/>
        </p:nvSpPr>
        <p:spPr>
          <a:xfrm>
            <a:off x="3365815" y="2377440"/>
            <a:ext cx="868680" cy="868680"/>
          </a:xfrm>
          <a:prstGeom prst="ellipse">
            <a:avLst/>
          </a:prstGeom>
          <a:solidFill>
            <a:srgbClr val="1F2A44"/>
          </a:solidFill>
          <a:ln w="12700">
            <a:solidFill>
              <a:srgbClr val="1F2A44"/>
            </a:solidFill>
            <a:prstDash val="solid"/>
          </a:ln>
        </p:spPr>
      </p:sp>
      <p:pic>
        <p:nvPicPr>
          <p:cNvPr id="12" name="Image 1" descr="icons/sliders_w.png">    </p:cNvPr>
          <p:cNvPicPr>
            <a:picLocks noChangeAspect="1"/>
          </p:cNvPicPr>
          <p:nvPr/>
        </p:nvPicPr>
        <p:blipFill>
          <a:blip r:embed="rId2"/>
          <a:stretch>
            <a:fillRect/>
          </a:stretch>
        </p:blipFill>
        <p:spPr>
          <a:xfrm>
            <a:off x="3582985" y="2594610"/>
            <a:ext cx="434340" cy="434340"/>
          </a:xfrm>
          <a:prstGeom prst="rect">
            <a:avLst/>
          </a:prstGeom>
        </p:spPr>
      </p:pic>
      <p:sp>
        <p:nvSpPr>
          <p:cNvPr id="13" name="Text 9"/>
          <p:cNvSpPr txBox="1"/>
          <p:nvPr/>
        </p:nvSpPr>
        <p:spPr>
          <a:xfrm>
            <a:off x="2917485" y="3383280"/>
            <a:ext cx="1765341" cy="777240"/>
          </a:xfrm>
          <a:prstGeom prst="rect">
            <a:avLst/>
          </a:prstGeom>
          <a:noFill/>
          <a:ln/>
        </p:spPr>
        <p:txBody>
          <a:bodyPr wrap="square" lIns="0" tIns="0" rIns="0" bIns="0" rtlCol="0" anchor="t"/>
          <a:lstStyle/>
          <a:p>
            <a:pPr algn="ctr" indent="0" marL="0">
              <a:buNone/>
            </a:pPr>
            <a:r>
              <a:rPr lang="en-US" sz="1800" b="1" dirty="0">
                <a:solidFill>
                  <a:srgbClr val="1F2A44"/>
                </a:solidFill>
                <a:latin typeface="Calibri" pitchFamily="34" charset="0"/>
                <a:ea typeface="Calibri" pitchFamily="34" charset="-122"/>
                <a:cs typeface="Calibri" pitchFamily="34" charset="-120"/>
              </a:rPr>
              <a:t>Dinamik ağırlıklar</a:t>
            </a:r>
            <a:endParaRPr lang="en-US" sz="1800" dirty="0"/>
          </a:p>
          <a:p>
            <a:pPr algn="ctr" indent="0" marL="0">
              <a:buNone/>
            </a:pPr>
            <a:r>
              <a:rPr lang="en-US" sz="1500" dirty="0">
                <a:solidFill>
                  <a:srgbClr val="5B6577"/>
                </a:solidFill>
                <a:latin typeface="Calibri" pitchFamily="34" charset="0"/>
                <a:ea typeface="Calibri" pitchFamily="34" charset="-122"/>
                <a:cs typeface="Calibri" pitchFamily="34" charset="-120"/>
              </a:rPr>
              <a:t>Enerji · süre · konfor</a:t>
            </a:r>
            <a:endParaRPr lang="en-US" sz="1800" dirty="0"/>
          </a:p>
        </p:txBody>
      </p:sp>
      <p:sp>
        <p:nvSpPr>
          <p:cNvPr id="14" name="Shape 10"/>
          <p:cNvSpPr/>
          <p:nvPr/>
        </p:nvSpPr>
        <p:spPr>
          <a:xfrm>
            <a:off x="4810841" y="3200400"/>
            <a:ext cx="274320" cy="0"/>
          </a:xfrm>
          <a:prstGeom prst="line">
            <a:avLst/>
          </a:prstGeom>
          <a:noFill/>
          <a:ln w="25400">
            <a:solidFill>
              <a:srgbClr val="5B6577"/>
            </a:solidFill>
            <a:prstDash val="solid"/>
            <a:tailEnd type="triangle"/>
          </a:ln>
        </p:spPr>
      </p:sp>
      <p:sp>
        <p:nvSpPr>
          <p:cNvPr id="15" name="Shape 11"/>
          <p:cNvSpPr/>
          <p:nvPr/>
        </p:nvSpPr>
        <p:spPr>
          <a:xfrm>
            <a:off x="5140025" y="2148840"/>
            <a:ext cx="1911645" cy="2103120"/>
          </a:xfrm>
          <a:prstGeom prst="roundRect">
            <a:avLst>
              <a:gd name="adj" fmla="val 5740"/>
            </a:avLst>
          </a:prstGeom>
          <a:solidFill>
            <a:srgbClr val="EEF2F7"/>
          </a:solidFill>
          <a:ln w="12700">
            <a:solidFill>
              <a:srgbClr val="EEF2F7"/>
            </a:solidFill>
            <a:prstDash val="solid"/>
          </a:ln>
        </p:spPr>
      </p:sp>
      <p:sp>
        <p:nvSpPr>
          <p:cNvPr id="16" name="Shape 12"/>
          <p:cNvSpPr/>
          <p:nvPr/>
        </p:nvSpPr>
        <p:spPr>
          <a:xfrm>
            <a:off x="5661508" y="2377440"/>
            <a:ext cx="868680" cy="868680"/>
          </a:xfrm>
          <a:prstGeom prst="ellipse">
            <a:avLst/>
          </a:prstGeom>
          <a:solidFill>
            <a:srgbClr val="1F2A44"/>
          </a:solidFill>
          <a:ln w="12700">
            <a:solidFill>
              <a:srgbClr val="1F2A44"/>
            </a:solidFill>
            <a:prstDash val="solid"/>
          </a:ln>
        </p:spPr>
      </p:sp>
      <p:pic>
        <p:nvPicPr>
          <p:cNvPr id="17" name="Image 2" descr="icons/layers_w.png">    </p:cNvPr>
          <p:cNvPicPr>
            <a:picLocks noChangeAspect="1"/>
          </p:cNvPicPr>
          <p:nvPr/>
        </p:nvPicPr>
        <p:blipFill>
          <a:blip r:embed="rId3"/>
          <a:stretch>
            <a:fillRect/>
          </a:stretch>
        </p:blipFill>
        <p:spPr>
          <a:xfrm>
            <a:off x="5878678" y="2594610"/>
            <a:ext cx="434340" cy="434340"/>
          </a:xfrm>
          <a:prstGeom prst="rect">
            <a:avLst/>
          </a:prstGeom>
        </p:spPr>
      </p:pic>
      <p:sp>
        <p:nvSpPr>
          <p:cNvPr id="18" name="Text 13"/>
          <p:cNvSpPr txBox="1"/>
          <p:nvPr/>
        </p:nvSpPr>
        <p:spPr>
          <a:xfrm>
            <a:off x="5213177" y="3383280"/>
            <a:ext cx="1765341" cy="777240"/>
          </a:xfrm>
          <a:prstGeom prst="rect">
            <a:avLst/>
          </a:prstGeom>
          <a:noFill/>
          <a:ln/>
        </p:spPr>
        <p:txBody>
          <a:bodyPr wrap="square" lIns="0" tIns="0" rIns="0" bIns="0" rtlCol="0" anchor="t"/>
          <a:lstStyle/>
          <a:p>
            <a:pPr algn="ctr" indent="0" marL="0">
              <a:buNone/>
            </a:pPr>
            <a:r>
              <a:rPr lang="en-US" sz="1800" b="1" dirty="0">
                <a:solidFill>
                  <a:srgbClr val="1F2A44"/>
                </a:solidFill>
                <a:latin typeface="Calibri" pitchFamily="34" charset="0"/>
                <a:ea typeface="Calibri" pitchFamily="34" charset="-122"/>
                <a:cs typeface="Calibri" pitchFamily="34" charset="-120"/>
              </a:rPr>
              <a:t>D-NSGA-II</a:t>
            </a:r>
            <a:endParaRPr lang="en-US" sz="1800" dirty="0"/>
          </a:p>
          <a:p>
            <a:pPr algn="ctr" indent="0" marL="0">
              <a:buNone/>
            </a:pPr>
            <a:r>
              <a:rPr lang="en-US" sz="1500" dirty="0">
                <a:solidFill>
                  <a:srgbClr val="5B6577"/>
                </a:solidFill>
                <a:latin typeface="Calibri" pitchFamily="34" charset="0"/>
                <a:ea typeface="Calibri" pitchFamily="34" charset="-122"/>
                <a:cs typeface="Calibri" pitchFamily="34" charset="-120"/>
              </a:rPr>
              <a:t>Pareto-optimal seçenekler</a:t>
            </a:r>
            <a:endParaRPr lang="en-US" sz="1800" dirty="0"/>
          </a:p>
        </p:txBody>
      </p:sp>
      <p:sp>
        <p:nvSpPr>
          <p:cNvPr id="19" name="Shape 14"/>
          <p:cNvSpPr/>
          <p:nvPr/>
        </p:nvSpPr>
        <p:spPr>
          <a:xfrm>
            <a:off x="7106534" y="3200400"/>
            <a:ext cx="274320" cy="0"/>
          </a:xfrm>
          <a:prstGeom prst="line">
            <a:avLst/>
          </a:prstGeom>
          <a:noFill/>
          <a:ln w="25400">
            <a:solidFill>
              <a:srgbClr val="5B6577"/>
            </a:solidFill>
            <a:prstDash val="solid"/>
            <a:tailEnd type="triangle"/>
          </a:ln>
        </p:spPr>
      </p:sp>
      <p:sp>
        <p:nvSpPr>
          <p:cNvPr id="20" name="Shape 15"/>
          <p:cNvSpPr/>
          <p:nvPr/>
        </p:nvSpPr>
        <p:spPr>
          <a:xfrm>
            <a:off x="7435718" y="2148840"/>
            <a:ext cx="1911645" cy="2103120"/>
          </a:xfrm>
          <a:prstGeom prst="roundRect">
            <a:avLst>
              <a:gd name="adj" fmla="val 5740"/>
            </a:avLst>
          </a:prstGeom>
          <a:solidFill>
            <a:srgbClr val="EEF2F7"/>
          </a:solidFill>
          <a:ln w="12700">
            <a:solidFill>
              <a:srgbClr val="EEF2F7"/>
            </a:solidFill>
            <a:prstDash val="solid"/>
          </a:ln>
        </p:spPr>
      </p:sp>
      <p:sp>
        <p:nvSpPr>
          <p:cNvPr id="21" name="Shape 16"/>
          <p:cNvSpPr/>
          <p:nvPr/>
        </p:nvSpPr>
        <p:spPr>
          <a:xfrm>
            <a:off x="7957200" y="2377440"/>
            <a:ext cx="868680" cy="868680"/>
          </a:xfrm>
          <a:prstGeom prst="ellipse">
            <a:avLst/>
          </a:prstGeom>
          <a:solidFill>
            <a:srgbClr val="1A9E77"/>
          </a:solidFill>
          <a:ln w="12700">
            <a:solidFill>
              <a:srgbClr val="1A9E77"/>
            </a:solidFill>
            <a:prstDash val="solid"/>
          </a:ln>
        </p:spPr>
      </p:sp>
      <p:pic>
        <p:nvPicPr>
          <p:cNvPr id="22" name="Image 3" descr="icons/route_w.png">    </p:cNvPr>
          <p:cNvPicPr>
            <a:picLocks noChangeAspect="1"/>
          </p:cNvPicPr>
          <p:nvPr/>
        </p:nvPicPr>
        <p:blipFill>
          <a:blip r:embed="rId4"/>
          <a:stretch>
            <a:fillRect/>
          </a:stretch>
        </p:blipFill>
        <p:spPr>
          <a:xfrm>
            <a:off x="8174370" y="2594610"/>
            <a:ext cx="434340" cy="434340"/>
          </a:xfrm>
          <a:prstGeom prst="rect">
            <a:avLst/>
          </a:prstGeom>
        </p:spPr>
      </p:pic>
      <p:sp>
        <p:nvSpPr>
          <p:cNvPr id="23" name="Text 17"/>
          <p:cNvSpPr txBox="1"/>
          <p:nvPr/>
        </p:nvSpPr>
        <p:spPr>
          <a:xfrm>
            <a:off x="7508870" y="3383280"/>
            <a:ext cx="1765341" cy="777240"/>
          </a:xfrm>
          <a:prstGeom prst="rect">
            <a:avLst/>
          </a:prstGeom>
          <a:noFill/>
          <a:ln/>
        </p:spPr>
        <p:txBody>
          <a:bodyPr wrap="square" lIns="0" tIns="0" rIns="0" bIns="0" rtlCol="0" anchor="t"/>
          <a:lstStyle/>
          <a:p>
            <a:pPr algn="ctr" indent="0" marL="0">
              <a:buNone/>
            </a:pPr>
            <a:r>
              <a:rPr lang="en-US" sz="1800" b="1" dirty="0">
                <a:solidFill>
                  <a:srgbClr val="1F2A44"/>
                </a:solidFill>
                <a:latin typeface="Calibri" pitchFamily="34" charset="0"/>
                <a:ea typeface="Calibri" pitchFamily="34" charset="-122"/>
                <a:cs typeface="Calibri" pitchFamily="34" charset="-120"/>
              </a:rPr>
              <a:t>Rota önerisi</a:t>
            </a:r>
            <a:endParaRPr lang="en-US" sz="1800" dirty="0"/>
          </a:p>
          <a:p>
            <a:pPr algn="ctr" indent="0" marL="0">
              <a:buNone/>
            </a:pPr>
            <a:r>
              <a:rPr lang="en-US" sz="1500" dirty="0">
                <a:solidFill>
                  <a:srgbClr val="5B6577"/>
                </a:solidFill>
                <a:latin typeface="Calibri" pitchFamily="34" charset="0"/>
                <a:ea typeface="Calibri" pitchFamily="34" charset="-122"/>
                <a:cs typeface="Calibri" pitchFamily="34" charset="-120"/>
              </a:rPr>
              <a:t>Verimlilik · Dengeli · Konfor</a:t>
            </a:r>
            <a:endParaRPr lang="en-US" sz="1800" dirty="0"/>
          </a:p>
        </p:txBody>
      </p:sp>
      <p:sp>
        <p:nvSpPr>
          <p:cNvPr id="24" name="Shape 18"/>
          <p:cNvSpPr/>
          <p:nvPr/>
        </p:nvSpPr>
        <p:spPr>
          <a:xfrm>
            <a:off x="9402227" y="3200400"/>
            <a:ext cx="274320" cy="0"/>
          </a:xfrm>
          <a:prstGeom prst="line">
            <a:avLst/>
          </a:prstGeom>
          <a:noFill/>
          <a:ln w="25400">
            <a:solidFill>
              <a:srgbClr val="5B6577"/>
            </a:solidFill>
            <a:prstDash val="solid"/>
            <a:tailEnd type="triangle"/>
          </a:ln>
        </p:spPr>
      </p:sp>
      <p:sp>
        <p:nvSpPr>
          <p:cNvPr id="25" name="Shape 19"/>
          <p:cNvSpPr/>
          <p:nvPr/>
        </p:nvSpPr>
        <p:spPr>
          <a:xfrm>
            <a:off x="9731411" y="2148840"/>
            <a:ext cx="1911645" cy="2103120"/>
          </a:xfrm>
          <a:prstGeom prst="roundRect">
            <a:avLst>
              <a:gd name="adj" fmla="val 5740"/>
            </a:avLst>
          </a:prstGeom>
          <a:solidFill>
            <a:srgbClr val="EEF2F7"/>
          </a:solidFill>
          <a:ln w="12700">
            <a:solidFill>
              <a:srgbClr val="EEF2F7"/>
            </a:solidFill>
            <a:prstDash val="solid"/>
          </a:ln>
        </p:spPr>
      </p:sp>
      <p:sp>
        <p:nvSpPr>
          <p:cNvPr id="26" name="Shape 20"/>
          <p:cNvSpPr/>
          <p:nvPr/>
        </p:nvSpPr>
        <p:spPr>
          <a:xfrm>
            <a:off x="10252893" y="2377440"/>
            <a:ext cx="868680" cy="868680"/>
          </a:xfrm>
          <a:prstGeom prst="ellipse">
            <a:avLst/>
          </a:prstGeom>
          <a:solidFill>
            <a:srgbClr val="1F2A44"/>
          </a:solidFill>
          <a:ln w="12700">
            <a:solidFill>
              <a:srgbClr val="1F2A44"/>
            </a:solidFill>
            <a:prstDash val="solid"/>
          </a:ln>
        </p:spPr>
      </p:sp>
      <p:pic>
        <p:nvPicPr>
          <p:cNvPr id="27" name="Image 4" descr="icons/charging_w.png">    </p:cNvPr>
          <p:cNvPicPr>
            <a:picLocks noChangeAspect="1"/>
          </p:cNvPicPr>
          <p:nvPr/>
        </p:nvPicPr>
        <p:blipFill>
          <a:blip r:embed="rId5"/>
          <a:stretch>
            <a:fillRect/>
          </a:stretch>
        </p:blipFill>
        <p:spPr>
          <a:xfrm>
            <a:off x="10470063" y="2594610"/>
            <a:ext cx="434340" cy="434340"/>
          </a:xfrm>
          <a:prstGeom prst="rect">
            <a:avLst/>
          </a:prstGeom>
        </p:spPr>
      </p:pic>
      <p:sp>
        <p:nvSpPr>
          <p:cNvPr id="28" name="Text 21"/>
          <p:cNvSpPr txBox="1"/>
          <p:nvPr/>
        </p:nvSpPr>
        <p:spPr>
          <a:xfrm>
            <a:off x="9804563" y="3383280"/>
            <a:ext cx="1765341" cy="777240"/>
          </a:xfrm>
          <a:prstGeom prst="rect">
            <a:avLst/>
          </a:prstGeom>
          <a:noFill/>
          <a:ln/>
        </p:spPr>
        <p:txBody>
          <a:bodyPr wrap="square" lIns="0" tIns="0" rIns="0" bIns="0" rtlCol="0" anchor="t"/>
          <a:lstStyle/>
          <a:p>
            <a:pPr algn="ctr" indent="0" marL="0">
              <a:buNone/>
            </a:pPr>
            <a:r>
              <a:rPr lang="en-US" sz="1800" b="1" dirty="0">
                <a:solidFill>
                  <a:srgbClr val="1F2A44"/>
                </a:solidFill>
                <a:latin typeface="Calibri" pitchFamily="34" charset="0"/>
                <a:ea typeface="Calibri" pitchFamily="34" charset="-122"/>
                <a:cs typeface="Calibri" pitchFamily="34" charset="-120"/>
              </a:rPr>
              <a:t>Batarya kontrolü</a:t>
            </a:r>
            <a:endParaRPr lang="en-US" sz="1800" dirty="0"/>
          </a:p>
          <a:p>
            <a:pPr algn="ctr" indent="0" marL="0">
              <a:buNone/>
            </a:pPr>
            <a:r>
              <a:rPr lang="en-US" sz="1500" dirty="0">
                <a:solidFill>
                  <a:srgbClr val="5B6577"/>
                </a:solidFill>
                <a:latin typeface="Calibri" pitchFamily="34" charset="0"/>
                <a:ea typeface="Calibri" pitchFamily="34" charset="-122"/>
                <a:cs typeface="Calibri" pitchFamily="34" charset="-120"/>
              </a:rPr>
              <a:t>Gerekirse şarj durağı</a:t>
            </a:r>
            <a:endParaRPr lang="en-US" sz="1800" dirty="0"/>
          </a:p>
        </p:txBody>
      </p:sp>
      <p:sp>
        <p:nvSpPr>
          <p:cNvPr id="29" name="Shape 22"/>
          <p:cNvSpPr/>
          <p:nvPr/>
        </p:nvSpPr>
        <p:spPr>
          <a:xfrm>
            <a:off x="10687233" y="4251960"/>
            <a:ext cx="0" cy="640080"/>
          </a:xfrm>
          <a:prstGeom prst="line">
            <a:avLst/>
          </a:prstGeom>
          <a:noFill/>
          <a:ln w="25400">
            <a:solidFill>
              <a:srgbClr val="D9572B"/>
            </a:solidFill>
            <a:prstDash val="solid"/>
          </a:ln>
        </p:spPr>
      </p:sp>
      <p:sp>
        <p:nvSpPr>
          <p:cNvPr id="30" name="Shape 23"/>
          <p:cNvSpPr/>
          <p:nvPr/>
        </p:nvSpPr>
        <p:spPr>
          <a:xfrm>
            <a:off x="8391540" y="4892040"/>
            <a:ext cx="2295693" cy="0"/>
          </a:xfrm>
          <a:prstGeom prst="line">
            <a:avLst/>
          </a:prstGeom>
          <a:noFill/>
          <a:ln w="25400">
            <a:solidFill>
              <a:srgbClr val="D9572B"/>
            </a:solidFill>
            <a:prstDash val="solid"/>
          </a:ln>
        </p:spPr>
      </p:sp>
      <p:sp>
        <p:nvSpPr>
          <p:cNvPr id="31" name="Shape 24"/>
          <p:cNvSpPr/>
          <p:nvPr/>
        </p:nvSpPr>
        <p:spPr>
          <a:xfrm flipV="1">
            <a:off x="8391540" y="4288536"/>
            <a:ext cx="0" cy="603504"/>
          </a:xfrm>
          <a:prstGeom prst="line">
            <a:avLst/>
          </a:prstGeom>
          <a:noFill/>
          <a:ln w="25400">
            <a:solidFill>
              <a:srgbClr val="D9572B"/>
            </a:solidFill>
            <a:prstDash val="solid"/>
            <a:tailEnd type="triangle"/>
          </a:ln>
        </p:spPr>
      </p:sp>
      <p:sp>
        <p:nvSpPr>
          <p:cNvPr id="32" name="Text 25"/>
          <p:cNvSpPr txBox="1"/>
          <p:nvPr/>
        </p:nvSpPr>
        <p:spPr>
          <a:xfrm>
            <a:off x="548640" y="4663440"/>
            <a:ext cx="7660020" cy="457200"/>
          </a:xfrm>
          <a:prstGeom prst="rect">
            <a:avLst/>
          </a:prstGeom>
          <a:noFill/>
          <a:ln/>
        </p:spPr>
        <p:txBody>
          <a:bodyPr wrap="square" lIns="0" tIns="0" rIns="0" bIns="0" rtlCol="0" anchor="ctr"/>
          <a:lstStyle/>
          <a:p>
            <a:pPr algn="r" indent="0" marL="0">
              <a:buNone/>
            </a:pPr>
            <a:r>
              <a:rPr lang="en-US" sz="1800" b="1" dirty="0">
                <a:solidFill>
                  <a:srgbClr val="D9572B"/>
                </a:solidFill>
                <a:latin typeface="Calibri" pitchFamily="34" charset="0"/>
                <a:ea typeface="Calibri" pitchFamily="34" charset="-122"/>
                <a:cs typeface="Calibri" pitchFamily="34" charset="-120"/>
              </a:rPr>
              <a:t>Q-Learning: </a:t>
            </a:r>
            <a:r>
              <a:rPr lang="en-US" sz="1800" dirty="0">
                <a:solidFill>
                  <a:srgbClr val="D9572B"/>
                </a:solidFill>
                <a:latin typeface="Calibri" pitchFamily="34" charset="0"/>
                <a:ea typeface="Calibri" pitchFamily="34" charset="-122"/>
                <a:cs typeface="Calibri" pitchFamily="34" charset="-120"/>
              </a:rPr>
              <a:t>sürücünün seçimi ve memnuniyetiyle öneriler zamanla uyarlanır</a:t>
            </a:r>
            <a:endParaRPr lang="en-US" sz="1800" dirty="0"/>
          </a:p>
        </p:txBody>
      </p:sp>
      <p:sp>
        <p:nvSpPr>
          <p:cNvPr id="33" name="Text 26"/>
          <p:cNvSpPr txBox="1"/>
          <p:nvPr/>
        </p:nvSpPr>
        <p:spPr>
          <a:xfrm>
            <a:off x="548640" y="5623560"/>
            <a:ext cx="11094415" cy="411480"/>
          </a:xfrm>
          <a:prstGeom prst="rect">
            <a:avLst/>
          </a:prstGeom>
          <a:noFill/>
          <a:ln/>
        </p:spPr>
        <p:txBody>
          <a:bodyPr wrap="square" lIns="0" tIns="0" rIns="0" bIns="0" rtlCol="0" anchor="ctr"/>
          <a:lstStyle/>
          <a:p>
            <a:pPr algn="ctr" indent="0" marL="0">
              <a:buNone/>
            </a:pPr>
            <a:r>
              <a:rPr lang="en-US" sz="1600" b="1" dirty="0">
                <a:solidFill>
                  <a:srgbClr val="1F2A44"/>
                </a:solidFill>
                <a:latin typeface="Calibri" pitchFamily="34" charset="0"/>
                <a:ea typeface="Calibri" pitchFamily="34" charset="-122"/>
                <a:cs typeface="Calibri" pitchFamily="34" charset="-120"/>
              </a:rPr>
              <a:t>Üç bileşen tek platformda: </a:t>
            </a:r>
            <a:r>
              <a:rPr lang="en-US" sz="1600" dirty="0">
                <a:solidFill>
                  <a:srgbClr val="5B6577"/>
                </a:solidFill>
                <a:latin typeface="Calibri" pitchFamily="34" charset="0"/>
                <a:ea typeface="Calibri" pitchFamily="34" charset="-122"/>
                <a:cs typeface="Calibri" pitchFamily="34" charset="-120"/>
              </a:rPr>
              <a:t>dinamik tüketim modeli · D-NSGA-II çok amaçlı optimizasyon · Q-Learning</a:t>
            </a:r>
            <a:endParaRPr lang="en-US" sz="16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3A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640080"/>
          </a:xfrm>
          <a:prstGeom prst="rect">
            <a:avLst/>
          </a:prstGeom>
          <a:noFill/>
          <a:ln/>
        </p:spPr>
        <p:txBody>
          <a:bodyPr wrap="square" lIns="0" tIns="0" rIns="0" bIns="0" rtlCol="0" anchor="ctr"/>
          <a:lstStyle/>
          <a:p>
            <a:pPr indent="0" marL="0">
              <a:buNone/>
            </a:pPr>
            <a:r>
              <a:rPr lang="en-US" sz="3200" b="1" dirty="0">
                <a:solidFill>
                  <a:srgbClr val="1F2A44"/>
                </a:solidFill>
                <a:latin typeface="Calibri" pitchFamily="34" charset="0"/>
                <a:ea typeface="Calibri" pitchFamily="34" charset="-122"/>
                <a:cs typeface="Calibri" pitchFamily="34" charset="-120"/>
              </a:rPr>
              <a:t>Sürücü Modeli</a:t>
            </a:r>
            <a:endParaRPr lang="en-US" sz="3200" dirty="0"/>
          </a:p>
        </p:txBody>
      </p:sp>
      <p:sp>
        <p:nvSpPr>
          <p:cNvPr id="3" name="Text 1"/>
          <p:cNvSpPr txBox="1"/>
          <p:nvPr/>
        </p:nvSpPr>
        <p:spPr>
          <a:xfrm>
            <a:off x="548640" y="960120"/>
            <a:ext cx="11094415" cy="411480"/>
          </a:xfrm>
          <a:prstGeom prst="rect">
            <a:avLst/>
          </a:prstGeom>
          <a:noFill/>
          <a:ln/>
        </p:spPr>
        <p:txBody>
          <a:bodyPr wrap="square" lIns="0" tIns="0" rIns="0" bIns="0" rtlCol="0" anchor="ctr"/>
          <a:lstStyle/>
          <a:p>
            <a:pPr indent="0" marL="0">
              <a:buNone/>
            </a:pPr>
            <a:r>
              <a:rPr lang="en-US" sz="1900" dirty="0">
                <a:solidFill>
                  <a:srgbClr val="5B6577"/>
                </a:solidFill>
                <a:latin typeface="Calibri" pitchFamily="34" charset="0"/>
                <a:ea typeface="Calibri" pitchFamily="34" charset="-122"/>
                <a:cs typeface="Calibri" pitchFamily="34" charset="-120"/>
              </a:rPr>
              <a:t>Sürücü durumu ve rota konforu birer skora indirgenir</a:t>
            </a:r>
            <a:endParaRPr lang="en-US" sz="1900" dirty="0"/>
          </a:p>
        </p:txBody>
      </p:sp>
      <p:sp>
        <p:nvSpPr>
          <p:cNvPr id="4"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100" dirty="0">
                <a:solidFill>
                  <a:srgbClr val="8A93A3"/>
                </a:solidFill>
                <a:latin typeface="Calibri" pitchFamily="34" charset="0"/>
                <a:ea typeface="Calibri" pitchFamily="34" charset="-122"/>
                <a:cs typeface="Calibri" pitchFamily="34" charset="-120"/>
              </a:rPr>
              <a:t>TOK 2026 · Yiğit &amp; Erkan · Beykoz Üniversitesi</a:t>
            </a:r>
            <a:endParaRPr lang="en-US" sz="1100" dirty="0"/>
          </a:p>
        </p:txBody>
      </p:sp>
      <p:sp>
        <p:nvSpPr>
          <p:cNvPr id="5" name="Shape 3"/>
          <p:cNvSpPr/>
          <p:nvPr/>
        </p:nvSpPr>
        <p:spPr>
          <a:xfrm>
            <a:off x="548640" y="1600200"/>
            <a:ext cx="5349240" cy="4526280"/>
          </a:xfrm>
          <a:prstGeom prst="roundRect">
            <a:avLst>
              <a:gd name="adj" fmla="val 2424"/>
            </a:avLst>
          </a:prstGeom>
          <a:solidFill>
            <a:srgbClr val="EEF2F7"/>
          </a:solidFill>
          <a:ln w="12700">
            <a:solidFill>
              <a:srgbClr val="EEF2F7"/>
            </a:solidFill>
            <a:prstDash val="solid"/>
          </a:ln>
        </p:spPr>
      </p:sp>
      <p:sp>
        <p:nvSpPr>
          <p:cNvPr id="6" name="Text 4"/>
          <p:cNvSpPr txBox="1"/>
          <p:nvPr/>
        </p:nvSpPr>
        <p:spPr>
          <a:xfrm>
            <a:off x="822960" y="1737360"/>
            <a:ext cx="4800600" cy="411480"/>
          </a:xfrm>
          <a:prstGeom prst="rect">
            <a:avLst/>
          </a:prstGeom>
          <a:noFill/>
          <a:ln/>
        </p:spPr>
        <p:txBody>
          <a:bodyPr wrap="square" lIns="0" tIns="0" rIns="0" bIns="0" rtlCol="0" anchor="ctr"/>
          <a:lstStyle/>
          <a:p>
            <a:pPr indent="0" marL="0">
              <a:buNone/>
            </a:pPr>
            <a:r>
              <a:rPr lang="en-US" sz="1900" b="1" dirty="0">
                <a:solidFill>
                  <a:srgbClr val="1F2A44"/>
                </a:solidFill>
                <a:latin typeface="Calibri" pitchFamily="34" charset="0"/>
                <a:ea typeface="Calibri" pitchFamily="34" charset="-122"/>
                <a:cs typeface="Calibri" pitchFamily="34" charset="-120"/>
              </a:rPr>
              <a:t>Bilişsel Yük Skoru (CLS)</a:t>
            </a:r>
            <a:endParaRPr lang="en-US" sz="1900" dirty="0"/>
          </a:p>
        </p:txBody>
      </p:sp>
      <p:sp>
        <p:nvSpPr>
          <p:cNvPr id="7" name="Shape 5"/>
          <p:cNvSpPr/>
          <p:nvPr/>
        </p:nvSpPr>
        <p:spPr>
          <a:xfrm>
            <a:off x="822960" y="2331720"/>
            <a:ext cx="2377440" cy="713232"/>
          </a:xfrm>
          <a:prstGeom prst="roundRect">
            <a:avLst>
              <a:gd name="adj" fmla="val 12821"/>
            </a:avLst>
          </a:prstGeom>
          <a:solidFill>
            <a:srgbClr val="FFFFFF"/>
          </a:solidFill>
          <a:ln w="12700">
            <a:solidFill>
              <a:srgbClr val="C9D1DC"/>
            </a:solidFill>
            <a:prstDash val="solid"/>
          </a:ln>
        </p:spPr>
      </p:sp>
      <p:sp>
        <p:nvSpPr>
          <p:cNvPr id="8" name="Shape 6"/>
          <p:cNvSpPr/>
          <p:nvPr/>
        </p:nvSpPr>
        <p:spPr>
          <a:xfrm>
            <a:off x="914400" y="2441448"/>
            <a:ext cx="493776" cy="493776"/>
          </a:xfrm>
          <a:prstGeom prst="ellipse">
            <a:avLst/>
          </a:prstGeom>
          <a:solidFill>
            <a:srgbClr val="D9572B"/>
          </a:solidFill>
          <a:ln w="12700">
            <a:solidFill>
              <a:srgbClr val="D9572B"/>
            </a:solidFill>
            <a:prstDash val="solid"/>
          </a:ln>
        </p:spPr>
      </p:sp>
      <p:pic>
        <p:nvPicPr>
          <p:cNvPr id="9" name="Image 0" descr="icons/tired_w.png">    </p:cNvPr>
          <p:cNvPicPr>
            <a:picLocks noChangeAspect="1"/>
          </p:cNvPicPr>
          <p:nvPr/>
        </p:nvPicPr>
        <p:blipFill>
          <a:blip r:embed="rId1"/>
          <a:stretch>
            <a:fillRect/>
          </a:stretch>
        </p:blipFill>
        <p:spPr>
          <a:xfrm>
            <a:off x="1037844" y="2564892"/>
            <a:ext cx="246888" cy="246888"/>
          </a:xfrm>
          <a:prstGeom prst="rect">
            <a:avLst/>
          </a:prstGeom>
        </p:spPr>
      </p:pic>
      <p:sp>
        <p:nvSpPr>
          <p:cNvPr id="10" name="Text 7"/>
          <p:cNvSpPr txBox="1"/>
          <p:nvPr/>
        </p:nvSpPr>
        <p:spPr>
          <a:xfrm>
            <a:off x="1481328" y="2331720"/>
            <a:ext cx="1664208" cy="713232"/>
          </a:xfrm>
          <a:prstGeom prst="rect">
            <a:avLst/>
          </a:prstGeom>
          <a:noFill/>
          <a:ln/>
        </p:spPr>
        <p:txBody>
          <a:bodyPr wrap="square" lIns="0" tIns="0" rIns="0" bIns="0" rtlCol="0" anchor="ctr"/>
          <a:lstStyle/>
          <a:p>
            <a:pPr indent="0" marL="0">
              <a:buNone/>
            </a:pPr>
            <a:r>
              <a:rPr lang="en-US" sz="1500" dirty="0">
                <a:solidFill>
                  <a:srgbClr val="1E2533"/>
                </a:solidFill>
                <a:latin typeface="Calibri" pitchFamily="34" charset="0"/>
                <a:ea typeface="Calibri" pitchFamily="34" charset="-122"/>
                <a:cs typeface="Calibri" pitchFamily="34" charset="-120"/>
              </a:rPr>
              <a:t>Yorgunluk (F)</a:t>
            </a:r>
            <a:endParaRPr lang="en-US" sz="1500" dirty="0"/>
          </a:p>
        </p:txBody>
      </p:sp>
      <p:sp>
        <p:nvSpPr>
          <p:cNvPr id="11" name="Shape 8"/>
          <p:cNvSpPr/>
          <p:nvPr/>
        </p:nvSpPr>
        <p:spPr>
          <a:xfrm>
            <a:off x="3273552" y="2688336"/>
            <a:ext cx="914400" cy="969264"/>
          </a:xfrm>
          <a:prstGeom prst="line">
            <a:avLst/>
          </a:prstGeom>
          <a:noFill/>
          <a:ln w="19050">
            <a:solidFill>
              <a:srgbClr val="5B6577"/>
            </a:solidFill>
            <a:prstDash val="solid"/>
            <a:tailEnd type="triangle"/>
          </a:ln>
        </p:spPr>
      </p:sp>
      <p:sp>
        <p:nvSpPr>
          <p:cNvPr id="12" name="Shape 9"/>
          <p:cNvSpPr/>
          <p:nvPr/>
        </p:nvSpPr>
        <p:spPr>
          <a:xfrm>
            <a:off x="3383280" y="2949123"/>
            <a:ext cx="548640" cy="292608"/>
          </a:xfrm>
          <a:prstGeom prst="roundRect">
            <a:avLst>
              <a:gd name="adj" fmla="val 25000"/>
            </a:avLst>
          </a:prstGeom>
          <a:solidFill>
            <a:srgbClr val="FFFFFF"/>
          </a:solidFill>
          <a:ln w="12700">
            <a:solidFill>
              <a:srgbClr val="D9572B"/>
            </a:solidFill>
            <a:prstDash val="solid"/>
          </a:ln>
        </p:spPr>
      </p:sp>
      <p:sp>
        <p:nvSpPr>
          <p:cNvPr id="13" name="Text 10"/>
          <p:cNvSpPr txBox="1"/>
          <p:nvPr/>
        </p:nvSpPr>
        <p:spPr>
          <a:xfrm>
            <a:off x="3383280" y="2949123"/>
            <a:ext cx="548640" cy="292608"/>
          </a:xfrm>
          <a:prstGeom prst="rect">
            <a:avLst/>
          </a:prstGeom>
          <a:noFill/>
          <a:ln/>
        </p:spPr>
        <p:txBody>
          <a:bodyPr wrap="square" lIns="0" tIns="0" rIns="0" bIns="0" rtlCol="0" anchor="ctr"/>
          <a:lstStyle/>
          <a:p>
            <a:pPr algn="ctr" indent="0" marL="0">
              <a:buNone/>
            </a:pPr>
            <a:r>
              <a:rPr lang="en-US" sz="1300" b="1" dirty="0">
                <a:solidFill>
                  <a:srgbClr val="D9572B"/>
                </a:solidFill>
                <a:latin typeface="Calibri" pitchFamily="34" charset="0"/>
                <a:ea typeface="Calibri" pitchFamily="34" charset="-122"/>
                <a:cs typeface="Calibri" pitchFamily="34" charset="-120"/>
              </a:rPr>
              <a:t>0,40</a:t>
            </a:r>
            <a:endParaRPr lang="en-US" sz="1300" dirty="0"/>
          </a:p>
        </p:txBody>
      </p:sp>
      <p:sp>
        <p:nvSpPr>
          <p:cNvPr id="14" name="Shape 11"/>
          <p:cNvSpPr/>
          <p:nvPr/>
        </p:nvSpPr>
        <p:spPr>
          <a:xfrm>
            <a:off x="822960" y="3300984"/>
            <a:ext cx="2377440" cy="713232"/>
          </a:xfrm>
          <a:prstGeom prst="roundRect">
            <a:avLst>
              <a:gd name="adj" fmla="val 12821"/>
            </a:avLst>
          </a:prstGeom>
          <a:solidFill>
            <a:srgbClr val="FFFFFF"/>
          </a:solidFill>
          <a:ln w="12700">
            <a:solidFill>
              <a:srgbClr val="C9D1DC"/>
            </a:solidFill>
            <a:prstDash val="solid"/>
          </a:ln>
        </p:spPr>
      </p:sp>
      <p:sp>
        <p:nvSpPr>
          <p:cNvPr id="15" name="Shape 12"/>
          <p:cNvSpPr/>
          <p:nvPr/>
        </p:nvSpPr>
        <p:spPr>
          <a:xfrm>
            <a:off x="914400" y="3410712"/>
            <a:ext cx="493776" cy="493776"/>
          </a:xfrm>
          <a:prstGeom prst="ellipse">
            <a:avLst/>
          </a:prstGeom>
          <a:solidFill>
            <a:srgbClr val="D9572B"/>
          </a:solidFill>
          <a:ln w="12700">
            <a:solidFill>
              <a:srgbClr val="D9572B"/>
            </a:solidFill>
            <a:prstDash val="solid"/>
          </a:ln>
        </p:spPr>
      </p:sp>
      <p:pic>
        <p:nvPicPr>
          <p:cNvPr id="16" name="Image 1" descr="icons/brain_w.png">    </p:cNvPr>
          <p:cNvPicPr>
            <a:picLocks noChangeAspect="1"/>
          </p:cNvPicPr>
          <p:nvPr/>
        </p:nvPicPr>
        <p:blipFill>
          <a:blip r:embed="rId2"/>
          <a:stretch>
            <a:fillRect/>
          </a:stretch>
        </p:blipFill>
        <p:spPr>
          <a:xfrm>
            <a:off x="1037844" y="3534156"/>
            <a:ext cx="246888" cy="246888"/>
          </a:xfrm>
          <a:prstGeom prst="rect">
            <a:avLst/>
          </a:prstGeom>
        </p:spPr>
      </p:pic>
      <p:sp>
        <p:nvSpPr>
          <p:cNvPr id="17" name="Text 13"/>
          <p:cNvSpPr txBox="1"/>
          <p:nvPr/>
        </p:nvSpPr>
        <p:spPr>
          <a:xfrm>
            <a:off x="1481328" y="3300984"/>
            <a:ext cx="1664208" cy="713232"/>
          </a:xfrm>
          <a:prstGeom prst="rect">
            <a:avLst/>
          </a:prstGeom>
          <a:noFill/>
          <a:ln/>
        </p:spPr>
        <p:txBody>
          <a:bodyPr wrap="square" lIns="0" tIns="0" rIns="0" bIns="0" rtlCol="0" anchor="ctr"/>
          <a:lstStyle/>
          <a:p>
            <a:pPr indent="0" marL="0">
              <a:buNone/>
            </a:pPr>
            <a:r>
              <a:rPr lang="en-US" sz="1500" dirty="0">
                <a:solidFill>
                  <a:srgbClr val="1E2533"/>
                </a:solidFill>
                <a:latin typeface="Calibri" pitchFamily="34" charset="0"/>
                <a:ea typeface="Calibri" pitchFamily="34" charset="-122"/>
                <a:cs typeface="Calibri" pitchFamily="34" charset="-120"/>
              </a:rPr>
              <a:t>Bilişsel yük (C)</a:t>
            </a:r>
            <a:endParaRPr lang="en-US" sz="1500" dirty="0"/>
          </a:p>
        </p:txBody>
      </p:sp>
      <p:sp>
        <p:nvSpPr>
          <p:cNvPr id="18" name="Shape 14"/>
          <p:cNvSpPr/>
          <p:nvPr/>
        </p:nvSpPr>
        <p:spPr>
          <a:xfrm>
            <a:off x="3273552" y="3657600"/>
            <a:ext cx="914400" cy="0"/>
          </a:xfrm>
          <a:prstGeom prst="line">
            <a:avLst/>
          </a:prstGeom>
          <a:noFill/>
          <a:ln w="19050">
            <a:solidFill>
              <a:srgbClr val="5B6577"/>
            </a:solidFill>
            <a:prstDash val="solid"/>
            <a:tailEnd type="triangle"/>
          </a:ln>
        </p:spPr>
      </p:sp>
      <p:sp>
        <p:nvSpPr>
          <p:cNvPr id="19" name="Shape 15"/>
          <p:cNvSpPr/>
          <p:nvPr/>
        </p:nvSpPr>
        <p:spPr>
          <a:xfrm>
            <a:off x="3383280" y="3511296"/>
            <a:ext cx="548640" cy="292608"/>
          </a:xfrm>
          <a:prstGeom prst="roundRect">
            <a:avLst>
              <a:gd name="adj" fmla="val 25000"/>
            </a:avLst>
          </a:prstGeom>
          <a:solidFill>
            <a:srgbClr val="FFFFFF"/>
          </a:solidFill>
          <a:ln w="12700">
            <a:solidFill>
              <a:srgbClr val="D9572B"/>
            </a:solidFill>
            <a:prstDash val="solid"/>
          </a:ln>
        </p:spPr>
      </p:sp>
      <p:sp>
        <p:nvSpPr>
          <p:cNvPr id="20" name="Text 16"/>
          <p:cNvSpPr txBox="1"/>
          <p:nvPr/>
        </p:nvSpPr>
        <p:spPr>
          <a:xfrm>
            <a:off x="3383280" y="3511296"/>
            <a:ext cx="548640" cy="292608"/>
          </a:xfrm>
          <a:prstGeom prst="rect">
            <a:avLst/>
          </a:prstGeom>
          <a:noFill/>
          <a:ln/>
        </p:spPr>
        <p:txBody>
          <a:bodyPr wrap="square" lIns="0" tIns="0" rIns="0" bIns="0" rtlCol="0" anchor="ctr"/>
          <a:lstStyle/>
          <a:p>
            <a:pPr algn="ctr" indent="0" marL="0">
              <a:buNone/>
            </a:pPr>
            <a:r>
              <a:rPr lang="en-US" sz="1300" b="1" dirty="0">
                <a:solidFill>
                  <a:srgbClr val="D9572B"/>
                </a:solidFill>
                <a:latin typeface="Calibri" pitchFamily="34" charset="0"/>
                <a:ea typeface="Calibri" pitchFamily="34" charset="-122"/>
                <a:cs typeface="Calibri" pitchFamily="34" charset="-120"/>
              </a:rPr>
              <a:t>0,40</a:t>
            </a:r>
            <a:endParaRPr lang="en-US" sz="1300" dirty="0"/>
          </a:p>
        </p:txBody>
      </p:sp>
      <p:sp>
        <p:nvSpPr>
          <p:cNvPr id="21" name="Shape 17"/>
          <p:cNvSpPr/>
          <p:nvPr/>
        </p:nvSpPr>
        <p:spPr>
          <a:xfrm>
            <a:off x="822960" y="4270248"/>
            <a:ext cx="2377440" cy="713232"/>
          </a:xfrm>
          <a:prstGeom prst="roundRect">
            <a:avLst>
              <a:gd name="adj" fmla="val 12821"/>
            </a:avLst>
          </a:prstGeom>
          <a:solidFill>
            <a:srgbClr val="FFFFFF"/>
          </a:solidFill>
          <a:ln w="12700">
            <a:solidFill>
              <a:srgbClr val="C9D1DC"/>
            </a:solidFill>
            <a:prstDash val="solid"/>
          </a:ln>
        </p:spPr>
      </p:sp>
      <p:sp>
        <p:nvSpPr>
          <p:cNvPr id="22" name="Shape 18"/>
          <p:cNvSpPr/>
          <p:nvPr/>
        </p:nvSpPr>
        <p:spPr>
          <a:xfrm>
            <a:off x="914400" y="4379976"/>
            <a:ext cx="493776" cy="493776"/>
          </a:xfrm>
          <a:prstGeom prst="ellipse">
            <a:avLst/>
          </a:prstGeom>
          <a:solidFill>
            <a:srgbClr val="D9572B"/>
          </a:solidFill>
          <a:ln w="12700">
            <a:solidFill>
              <a:srgbClr val="D9572B"/>
            </a:solidFill>
            <a:prstDash val="solid"/>
          </a:ln>
        </p:spPr>
      </p:sp>
      <p:pic>
        <p:nvPicPr>
          <p:cNvPr id="23" name="Image 2" descr="icons/masks_w.png">    </p:cNvPr>
          <p:cNvPicPr>
            <a:picLocks noChangeAspect="1"/>
          </p:cNvPicPr>
          <p:nvPr/>
        </p:nvPicPr>
        <p:blipFill>
          <a:blip r:embed="rId3"/>
          <a:stretch>
            <a:fillRect/>
          </a:stretch>
        </p:blipFill>
        <p:spPr>
          <a:xfrm>
            <a:off x="1037844" y="4503420"/>
            <a:ext cx="246888" cy="246888"/>
          </a:xfrm>
          <a:prstGeom prst="rect">
            <a:avLst/>
          </a:prstGeom>
        </p:spPr>
      </p:pic>
      <p:sp>
        <p:nvSpPr>
          <p:cNvPr id="24" name="Text 19"/>
          <p:cNvSpPr txBox="1"/>
          <p:nvPr/>
        </p:nvSpPr>
        <p:spPr>
          <a:xfrm>
            <a:off x="1481328" y="4270248"/>
            <a:ext cx="1664208" cy="713232"/>
          </a:xfrm>
          <a:prstGeom prst="rect">
            <a:avLst/>
          </a:prstGeom>
          <a:noFill/>
          <a:ln/>
        </p:spPr>
        <p:txBody>
          <a:bodyPr wrap="square" lIns="0" tIns="0" rIns="0" bIns="0" rtlCol="0" anchor="ctr"/>
          <a:lstStyle/>
          <a:p>
            <a:pPr indent="0" marL="0">
              <a:buNone/>
            </a:pPr>
            <a:r>
              <a:rPr lang="en-US" sz="1500" dirty="0">
                <a:solidFill>
                  <a:srgbClr val="1E2533"/>
                </a:solidFill>
                <a:latin typeface="Calibri" pitchFamily="34" charset="0"/>
                <a:ea typeface="Calibri" pitchFamily="34" charset="-122"/>
                <a:cs typeface="Calibri" pitchFamily="34" charset="-120"/>
              </a:rPr>
              <a:t>Duygusal değerlik (V)</a:t>
            </a:r>
            <a:endParaRPr lang="en-US" sz="1500" dirty="0"/>
          </a:p>
        </p:txBody>
      </p:sp>
      <p:sp>
        <p:nvSpPr>
          <p:cNvPr id="25" name="Shape 20"/>
          <p:cNvSpPr/>
          <p:nvPr/>
        </p:nvSpPr>
        <p:spPr>
          <a:xfrm flipV="1">
            <a:off x="3273552" y="3657600"/>
            <a:ext cx="914400" cy="969264"/>
          </a:xfrm>
          <a:prstGeom prst="line">
            <a:avLst/>
          </a:prstGeom>
          <a:noFill/>
          <a:ln w="19050">
            <a:solidFill>
              <a:srgbClr val="5B6577"/>
            </a:solidFill>
            <a:prstDash val="solid"/>
            <a:tailEnd type="triangle"/>
          </a:ln>
        </p:spPr>
      </p:sp>
      <p:sp>
        <p:nvSpPr>
          <p:cNvPr id="26" name="Shape 21"/>
          <p:cNvSpPr/>
          <p:nvPr/>
        </p:nvSpPr>
        <p:spPr>
          <a:xfrm>
            <a:off x="3383280" y="4073469"/>
            <a:ext cx="548640" cy="292608"/>
          </a:xfrm>
          <a:prstGeom prst="roundRect">
            <a:avLst>
              <a:gd name="adj" fmla="val 25000"/>
            </a:avLst>
          </a:prstGeom>
          <a:solidFill>
            <a:srgbClr val="FFFFFF"/>
          </a:solidFill>
          <a:ln w="12700">
            <a:solidFill>
              <a:srgbClr val="D9572B"/>
            </a:solidFill>
            <a:prstDash val="solid"/>
          </a:ln>
        </p:spPr>
      </p:sp>
      <p:sp>
        <p:nvSpPr>
          <p:cNvPr id="27" name="Text 22"/>
          <p:cNvSpPr txBox="1"/>
          <p:nvPr/>
        </p:nvSpPr>
        <p:spPr>
          <a:xfrm>
            <a:off x="3383280" y="4073469"/>
            <a:ext cx="548640" cy="292608"/>
          </a:xfrm>
          <a:prstGeom prst="rect">
            <a:avLst/>
          </a:prstGeom>
          <a:noFill/>
          <a:ln/>
        </p:spPr>
        <p:txBody>
          <a:bodyPr wrap="square" lIns="0" tIns="0" rIns="0" bIns="0" rtlCol="0" anchor="ctr"/>
          <a:lstStyle/>
          <a:p>
            <a:pPr algn="ctr" indent="0" marL="0">
              <a:buNone/>
            </a:pPr>
            <a:r>
              <a:rPr lang="en-US" sz="1300" b="1" dirty="0">
                <a:solidFill>
                  <a:srgbClr val="D9572B"/>
                </a:solidFill>
                <a:latin typeface="Calibri" pitchFamily="34" charset="0"/>
                <a:ea typeface="Calibri" pitchFamily="34" charset="-122"/>
                <a:cs typeface="Calibri" pitchFamily="34" charset="-120"/>
              </a:rPr>
              <a:t>0,20</a:t>
            </a:r>
            <a:endParaRPr lang="en-US" sz="1300" dirty="0"/>
          </a:p>
        </p:txBody>
      </p:sp>
      <p:sp>
        <p:nvSpPr>
          <p:cNvPr id="28" name="Shape 23"/>
          <p:cNvSpPr/>
          <p:nvPr/>
        </p:nvSpPr>
        <p:spPr>
          <a:xfrm>
            <a:off x="4114800" y="2903220"/>
            <a:ext cx="1508760" cy="1508760"/>
          </a:xfrm>
          <a:prstGeom prst="ellipse">
            <a:avLst/>
          </a:prstGeom>
          <a:solidFill>
            <a:srgbClr val="D9572B"/>
          </a:solidFill>
          <a:ln w="12700">
            <a:solidFill>
              <a:srgbClr val="D9572B"/>
            </a:solidFill>
            <a:prstDash val="solid"/>
          </a:ln>
        </p:spPr>
      </p:sp>
      <p:sp>
        <p:nvSpPr>
          <p:cNvPr id="29" name="Text 24"/>
          <p:cNvSpPr txBox="1"/>
          <p:nvPr/>
        </p:nvSpPr>
        <p:spPr>
          <a:xfrm>
            <a:off x="4114800" y="2903220"/>
            <a:ext cx="1508760" cy="15087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CLS</a:t>
            </a:r>
            <a:endParaRPr lang="en-US" sz="2200" dirty="0"/>
          </a:p>
          <a:p>
            <a:pPr algn="ctr" indent="0" marL="0">
              <a:buNone/>
            </a:pPr>
            <a:r>
              <a:rPr lang="en-US" sz="1400" dirty="0">
                <a:solidFill>
                  <a:srgbClr val="FFFFFF"/>
                </a:solidFill>
                <a:latin typeface="Calibri" pitchFamily="34" charset="0"/>
                <a:ea typeface="Calibri" pitchFamily="34" charset="-122"/>
                <a:cs typeface="Calibri" pitchFamily="34" charset="-120"/>
              </a:rPr>
              <a:t>0–100</a:t>
            </a:r>
            <a:endParaRPr lang="en-US" sz="2200" dirty="0"/>
          </a:p>
        </p:txBody>
      </p:sp>
      <p:sp>
        <p:nvSpPr>
          <p:cNvPr id="30" name="Text 25"/>
          <p:cNvSpPr txBox="1"/>
          <p:nvPr/>
        </p:nvSpPr>
        <p:spPr>
          <a:xfrm>
            <a:off x="822960" y="5212080"/>
            <a:ext cx="4800600" cy="868680"/>
          </a:xfrm>
          <a:prstGeom prst="rect">
            <a:avLst/>
          </a:prstGeom>
          <a:noFill/>
          <a:ln/>
        </p:spPr>
        <p:txBody>
          <a:bodyPr wrap="square" lIns="0" tIns="0" rIns="0" bIns="0" rtlCol="0" anchor="t"/>
          <a:lstStyle/>
          <a:p>
            <a:pPr indent="0" marL="0">
              <a:buNone/>
            </a:pPr>
            <a:r>
              <a:rPr lang="en-US" sz="1500" dirty="0">
                <a:solidFill>
                  <a:srgbClr val="5B6577"/>
                </a:solidFill>
                <a:latin typeface="Calibri" pitchFamily="34" charset="0"/>
                <a:ea typeface="Calibri" pitchFamily="34" charset="-122"/>
                <a:cs typeface="Calibri" pitchFamily="34" charset="-120"/>
              </a:rPr>
              <a:t>Bu çalışmada CLS kontrollü bir senaryo parametresidir; biyometrik kestirim kapsam dışıdır.</a:t>
            </a:r>
            <a:endParaRPr lang="en-US" sz="1500" dirty="0"/>
          </a:p>
        </p:txBody>
      </p:sp>
      <p:sp>
        <p:nvSpPr>
          <p:cNvPr id="31" name="Shape 26"/>
          <p:cNvSpPr/>
          <p:nvPr/>
        </p:nvSpPr>
        <p:spPr>
          <a:xfrm>
            <a:off x="6291072" y="1600200"/>
            <a:ext cx="5349240" cy="4526280"/>
          </a:xfrm>
          <a:prstGeom prst="roundRect">
            <a:avLst>
              <a:gd name="adj" fmla="val 2424"/>
            </a:avLst>
          </a:prstGeom>
          <a:solidFill>
            <a:srgbClr val="EEF2F7"/>
          </a:solidFill>
          <a:ln w="12700">
            <a:solidFill>
              <a:srgbClr val="EEF2F7"/>
            </a:solidFill>
            <a:prstDash val="solid"/>
          </a:ln>
        </p:spPr>
      </p:sp>
      <p:sp>
        <p:nvSpPr>
          <p:cNvPr id="32" name="Text 27"/>
          <p:cNvSpPr txBox="1"/>
          <p:nvPr/>
        </p:nvSpPr>
        <p:spPr>
          <a:xfrm>
            <a:off x="6565392" y="1737360"/>
            <a:ext cx="4800600" cy="411480"/>
          </a:xfrm>
          <a:prstGeom prst="rect">
            <a:avLst/>
          </a:prstGeom>
          <a:noFill/>
          <a:ln/>
        </p:spPr>
        <p:txBody>
          <a:bodyPr wrap="square" lIns="0" tIns="0" rIns="0" bIns="0" rtlCol="0" anchor="ctr"/>
          <a:lstStyle/>
          <a:p>
            <a:pPr indent="0" marL="0">
              <a:buNone/>
            </a:pPr>
            <a:r>
              <a:rPr lang="en-US" sz="1900" b="1" dirty="0">
                <a:solidFill>
                  <a:srgbClr val="1F2A44"/>
                </a:solidFill>
                <a:latin typeface="Calibri" pitchFamily="34" charset="0"/>
                <a:ea typeface="Calibri" pitchFamily="34" charset="-122"/>
                <a:cs typeface="Calibri" pitchFamily="34" charset="-120"/>
              </a:rPr>
              <a:t>Nesnel rota konforu</a:t>
            </a:r>
            <a:endParaRPr lang="en-US" sz="1900" dirty="0"/>
          </a:p>
        </p:txBody>
      </p:sp>
      <p:sp>
        <p:nvSpPr>
          <p:cNvPr id="33" name="Shape 28"/>
          <p:cNvSpPr/>
          <p:nvPr/>
        </p:nvSpPr>
        <p:spPr>
          <a:xfrm>
            <a:off x="6565392" y="2331720"/>
            <a:ext cx="2377440" cy="713232"/>
          </a:xfrm>
          <a:prstGeom prst="roundRect">
            <a:avLst>
              <a:gd name="adj" fmla="val 12821"/>
            </a:avLst>
          </a:prstGeom>
          <a:solidFill>
            <a:srgbClr val="FFFFFF"/>
          </a:solidFill>
          <a:ln w="12700">
            <a:solidFill>
              <a:srgbClr val="C9D1DC"/>
            </a:solidFill>
            <a:prstDash val="solid"/>
          </a:ln>
        </p:spPr>
      </p:sp>
      <p:sp>
        <p:nvSpPr>
          <p:cNvPr id="34" name="Shape 29"/>
          <p:cNvSpPr/>
          <p:nvPr/>
        </p:nvSpPr>
        <p:spPr>
          <a:xfrm>
            <a:off x="6656832" y="2441448"/>
            <a:ext cx="493776" cy="493776"/>
          </a:xfrm>
          <a:prstGeom prst="ellipse">
            <a:avLst/>
          </a:prstGeom>
          <a:solidFill>
            <a:srgbClr val="1A9E77"/>
          </a:solidFill>
          <a:ln w="12700">
            <a:solidFill>
              <a:srgbClr val="1A9E77"/>
            </a:solidFill>
            <a:prstDash val="solid"/>
          </a:ln>
        </p:spPr>
      </p:sp>
      <p:pic>
        <p:nvPicPr>
          <p:cNvPr id="35" name="Image 3" descr="icons/signal_w.png">    </p:cNvPr>
          <p:cNvPicPr>
            <a:picLocks noChangeAspect="1"/>
          </p:cNvPicPr>
          <p:nvPr/>
        </p:nvPicPr>
        <p:blipFill>
          <a:blip r:embed="rId4"/>
          <a:stretch>
            <a:fillRect/>
          </a:stretch>
        </p:blipFill>
        <p:spPr>
          <a:xfrm>
            <a:off x="6780276" y="2564892"/>
            <a:ext cx="246888" cy="246888"/>
          </a:xfrm>
          <a:prstGeom prst="rect">
            <a:avLst/>
          </a:prstGeom>
        </p:spPr>
      </p:pic>
      <p:sp>
        <p:nvSpPr>
          <p:cNvPr id="36" name="Text 30"/>
          <p:cNvSpPr txBox="1"/>
          <p:nvPr/>
        </p:nvSpPr>
        <p:spPr>
          <a:xfrm>
            <a:off x="7223760" y="2331720"/>
            <a:ext cx="1664208" cy="713232"/>
          </a:xfrm>
          <a:prstGeom prst="rect">
            <a:avLst/>
          </a:prstGeom>
          <a:noFill/>
          <a:ln/>
        </p:spPr>
        <p:txBody>
          <a:bodyPr wrap="square" lIns="0" tIns="0" rIns="0" bIns="0" rtlCol="0" anchor="ctr"/>
          <a:lstStyle/>
          <a:p>
            <a:pPr indent="0" marL="0">
              <a:buNone/>
            </a:pPr>
            <a:r>
              <a:rPr lang="en-US" sz="1500" dirty="0">
                <a:solidFill>
                  <a:srgbClr val="1E2533"/>
                </a:solidFill>
                <a:latin typeface="Calibri" pitchFamily="34" charset="0"/>
                <a:ea typeface="Calibri" pitchFamily="34" charset="-122"/>
                <a:cs typeface="Calibri" pitchFamily="34" charset="-120"/>
              </a:rPr>
              <a:t>Sinyalize kavşak</a:t>
            </a:r>
            <a:endParaRPr lang="en-US" sz="1500" dirty="0"/>
          </a:p>
        </p:txBody>
      </p:sp>
      <p:sp>
        <p:nvSpPr>
          <p:cNvPr id="37" name="Shape 31"/>
          <p:cNvSpPr/>
          <p:nvPr/>
        </p:nvSpPr>
        <p:spPr>
          <a:xfrm>
            <a:off x="9015984" y="2688336"/>
            <a:ext cx="914400" cy="969264"/>
          </a:xfrm>
          <a:prstGeom prst="line">
            <a:avLst/>
          </a:prstGeom>
          <a:noFill/>
          <a:ln w="19050">
            <a:solidFill>
              <a:srgbClr val="5B6577"/>
            </a:solidFill>
            <a:prstDash val="solid"/>
            <a:tailEnd type="triangle"/>
          </a:ln>
        </p:spPr>
      </p:sp>
      <p:sp>
        <p:nvSpPr>
          <p:cNvPr id="38" name="Shape 32"/>
          <p:cNvSpPr/>
          <p:nvPr/>
        </p:nvSpPr>
        <p:spPr>
          <a:xfrm>
            <a:off x="9125712" y="2949123"/>
            <a:ext cx="548640" cy="292608"/>
          </a:xfrm>
          <a:prstGeom prst="roundRect">
            <a:avLst>
              <a:gd name="adj" fmla="val 25000"/>
            </a:avLst>
          </a:prstGeom>
          <a:solidFill>
            <a:srgbClr val="FFFFFF"/>
          </a:solidFill>
          <a:ln w="12700">
            <a:solidFill>
              <a:srgbClr val="1A9E77"/>
            </a:solidFill>
            <a:prstDash val="solid"/>
          </a:ln>
        </p:spPr>
      </p:sp>
      <p:sp>
        <p:nvSpPr>
          <p:cNvPr id="39" name="Text 33"/>
          <p:cNvSpPr txBox="1"/>
          <p:nvPr/>
        </p:nvSpPr>
        <p:spPr>
          <a:xfrm>
            <a:off x="9125712" y="2949123"/>
            <a:ext cx="548640" cy="292608"/>
          </a:xfrm>
          <a:prstGeom prst="rect">
            <a:avLst/>
          </a:prstGeom>
          <a:noFill/>
          <a:ln/>
        </p:spPr>
        <p:txBody>
          <a:bodyPr wrap="square" lIns="0" tIns="0" rIns="0" bIns="0" rtlCol="0" anchor="ctr"/>
          <a:lstStyle/>
          <a:p>
            <a:pPr algn="ctr" indent="0" marL="0">
              <a:buNone/>
            </a:pPr>
            <a:r>
              <a:rPr lang="en-US" sz="1300" b="1" dirty="0">
                <a:solidFill>
                  <a:srgbClr val="1A9E77"/>
                </a:solidFill>
                <a:latin typeface="Calibri" pitchFamily="34" charset="0"/>
                <a:ea typeface="Calibri" pitchFamily="34" charset="-122"/>
                <a:cs typeface="Calibri" pitchFamily="34" charset="-120"/>
              </a:rPr>
              <a:t>0,50</a:t>
            </a:r>
            <a:endParaRPr lang="en-US" sz="1300" dirty="0"/>
          </a:p>
        </p:txBody>
      </p:sp>
      <p:sp>
        <p:nvSpPr>
          <p:cNvPr id="40" name="Shape 34"/>
          <p:cNvSpPr/>
          <p:nvPr/>
        </p:nvSpPr>
        <p:spPr>
          <a:xfrm>
            <a:off x="6565392" y="3300984"/>
            <a:ext cx="2377440" cy="713232"/>
          </a:xfrm>
          <a:prstGeom prst="roundRect">
            <a:avLst>
              <a:gd name="adj" fmla="val 12821"/>
            </a:avLst>
          </a:prstGeom>
          <a:solidFill>
            <a:srgbClr val="FFFFFF"/>
          </a:solidFill>
          <a:ln w="12700">
            <a:solidFill>
              <a:srgbClr val="C9D1DC"/>
            </a:solidFill>
            <a:prstDash val="solid"/>
          </a:ln>
        </p:spPr>
      </p:sp>
      <p:sp>
        <p:nvSpPr>
          <p:cNvPr id="41" name="Shape 35"/>
          <p:cNvSpPr/>
          <p:nvPr/>
        </p:nvSpPr>
        <p:spPr>
          <a:xfrm>
            <a:off x="6656832" y="3410712"/>
            <a:ext cx="493776" cy="493776"/>
          </a:xfrm>
          <a:prstGeom prst="ellipse">
            <a:avLst/>
          </a:prstGeom>
          <a:solidFill>
            <a:srgbClr val="1A9E77"/>
          </a:solidFill>
          <a:ln w="12700">
            <a:solidFill>
              <a:srgbClr val="1A9E77"/>
            </a:solidFill>
            <a:prstDash val="solid"/>
          </a:ln>
        </p:spPr>
      </p:sp>
      <p:pic>
        <p:nvPicPr>
          <p:cNvPr id="42" name="Image 4" descr="icons/bus_w.png">    </p:cNvPr>
          <p:cNvPicPr>
            <a:picLocks noChangeAspect="1"/>
          </p:cNvPicPr>
          <p:nvPr/>
        </p:nvPicPr>
        <p:blipFill>
          <a:blip r:embed="rId5"/>
          <a:stretch>
            <a:fillRect/>
          </a:stretch>
        </p:blipFill>
        <p:spPr>
          <a:xfrm>
            <a:off x="6780276" y="3534156"/>
            <a:ext cx="246888" cy="246888"/>
          </a:xfrm>
          <a:prstGeom prst="rect">
            <a:avLst/>
          </a:prstGeom>
        </p:spPr>
      </p:pic>
      <p:sp>
        <p:nvSpPr>
          <p:cNvPr id="43" name="Text 36"/>
          <p:cNvSpPr txBox="1"/>
          <p:nvPr/>
        </p:nvSpPr>
        <p:spPr>
          <a:xfrm>
            <a:off x="7223760" y="3300984"/>
            <a:ext cx="1664208" cy="713232"/>
          </a:xfrm>
          <a:prstGeom prst="rect">
            <a:avLst/>
          </a:prstGeom>
          <a:noFill/>
          <a:ln/>
        </p:spPr>
        <p:txBody>
          <a:bodyPr wrap="square" lIns="0" tIns="0" rIns="0" bIns="0" rtlCol="0" anchor="ctr"/>
          <a:lstStyle/>
          <a:p>
            <a:pPr indent="0" marL="0">
              <a:buNone/>
            </a:pPr>
            <a:r>
              <a:rPr lang="en-US" sz="1500" dirty="0">
                <a:solidFill>
                  <a:srgbClr val="1E2533"/>
                </a:solidFill>
                <a:latin typeface="Calibri" pitchFamily="34" charset="0"/>
                <a:ea typeface="Calibri" pitchFamily="34" charset="-122"/>
                <a:cs typeface="Calibri" pitchFamily="34" charset="-120"/>
              </a:rPr>
              <a:t>Durak sayısı</a:t>
            </a:r>
            <a:endParaRPr lang="en-US" sz="1500" dirty="0"/>
          </a:p>
        </p:txBody>
      </p:sp>
      <p:sp>
        <p:nvSpPr>
          <p:cNvPr id="44" name="Shape 37"/>
          <p:cNvSpPr/>
          <p:nvPr/>
        </p:nvSpPr>
        <p:spPr>
          <a:xfrm>
            <a:off x="9015984" y="3657600"/>
            <a:ext cx="914400" cy="0"/>
          </a:xfrm>
          <a:prstGeom prst="line">
            <a:avLst/>
          </a:prstGeom>
          <a:noFill/>
          <a:ln w="19050">
            <a:solidFill>
              <a:srgbClr val="5B6577"/>
            </a:solidFill>
            <a:prstDash val="solid"/>
            <a:tailEnd type="triangle"/>
          </a:ln>
        </p:spPr>
      </p:sp>
      <p:sp>
        <p:nvSpPr>
          <p:cNvPr id="45" name="Shape 38"/>
          <p:cNvSpPr/>
          <p:nvPr/>
        </p:nvSpPr>
        <p:spPr>
          <a:xfrm>
            <a:off x="9125712" y="3511296"/>
            <a:ext cx="548640" cy="292608"/>
          </a:xfrm>
          <a:prstGeom prst="roundRect">
            <a:avLst>
              <a:gd name="adj" fmla="val 25000"/>
            </a:avLst>
          </a:prstGeom>
          <a:solidFill>
            <a:srgbClr val="FFFFFF"/>
          </a:solidFill>
          <a:ln w="12700">
            <a:solidFill>
              <a:srgbClr val="1A9E77"/>
            </a:solidFill>
            <a:prstDash val="solid"/>
          </a:ln>
        </p:spPr>
      </p:sp>
      <p:sp>
        <p:nvSpPr>
          <p:cNvPr id="46" name="Text 39"/>
          <p:cNvSpPr txBox="1"/>
          <p:nvPr/>
        </p:nvSpPr>
        <p:spPr>
          <a:xfrm>
            <a:off x="9125712" y="3511296"/>
            <a:ext cx="548640" cy="292608"/>
          </a:xfrm>
          <a:prstGeom prst="rect">
            <a:avLst/>
          </a:prstGeom>
          <a:noFill/>
          <a:ln/>
        </p:spPr>
        <p:txBody>
          <a:bodyPr wrap="square" lIns="0" tIns="0" rIns="0" bIns="0" rtlCol="0" anchor="ctr"/>
          <a:lstStyle/>
          <a:p>
            <a:pPr algn="ctr" indent="0" marL="0">
              <a:buNone/>
            </a:pPr>
            <a:r>
              <a:rPr lang="en-US" sz="1300" b="1" dirty="0">
                <a:solidFill>
                  <a:srgbClr val="1A9E77"/>
                </a:solidFill>
                <a:latin typeface="Calibri" pitchFamily="34" charset="0"/>
                <a:ea typeface="Calibri" pitchFamily="34" charset="-122"/>
                <a:cs typeface="Calibri" pitchFamily="34" charset="-120"/>
              </a:rPr>
              <a:t>0,30</a:t>
            </a:r>
            <a:endParaRPr lang="en-US" sz="1300" dirty="0"/>
          </a:p>
        </p:txBody>
      </p:sp>
      <p:sp>
        <p:nvSpPr>
          <p:cNvPr id="47" name="Shape 40"/>
          <p:cNvSpPr/>
          <p:nvPr/>
        </p:nvSpPr>
        <p:spPr>
          <a:xfrm>
            <a:off x="6565392" y="4270248"/>
            <a:ext cx="2377440" cy="713232"/>
          </a:xfrm>
          <a:prstGeom prst="roundRect">
            <a:avLst>
              <a:gd name="adj" fmla="val 12821"/>
            </a:avLst>
          </a:prstGeom>
          <a:solidFill>
            <a:srgbClr val="FFFFFF"/>
          </a:solidFill>
          <a:ln w="12700">
            <a:solidFill>
              <a:srgbClr val="C9D1DC"/>
            </a:solidFill>
            <a:prstDash val="solid"/>
          </a:ln>
        </p:spPr>
      </p:sp>
      <p:sp>
        <p:nvSpPr>
          <p:cNvPr id="48" name="Shape 41"/>
          <p:cNvSpPr/>
          <p:nvPr/>
        </p:nvSpPr>
        <p:spPr>
          <a:xfrm>
            <a:off x="6656832" y="4379976"/>
            <a:ext cx="493776" cy="493776"/>
          </a:xfrm>
          <a:prstGeom prst="ellipse">
            <a:avLst/>
          </a:prstGeom>
          <a:solidFill>
            <a:srgbClr val="1A9E77"/>
          </a:solidFill>
          <a:ln w="12700">
            <a:solidFill>
              <a:srgbClr val="1A9E77"/>
            </a:solidFill>
            <a:prstDash val="solid"/>
          </a:ln>
        </p:spPr>
      </p:sp>
      <p:pic>
        <p:nvPicPr>
          <p:cNvPr id="49" name="Image 5" descr="icons/cars_w.png">    </p:cNvPr>
          <p:cNvPicPr>
            <a:picLocks noChangeAspect="1"/>
          </p:cNvPicPr>
          <p:nvPr/>
        </p:nvPicPr>
        <p:blipFill>
          <a:blip r:embed="rId6"/>
          <a:stretch>
            <a:fillRect/>
          </a:stretch>
        </p:blipFill>
        <p:spPr>
          <a:xfrm>
            <a:off x="6780276" y="4503420"/>
            <a:ext cx="246888" cy="246888"/>
          </a:xfrm>
          <a:prstGeom prst="rect">
            <a:avLst/>
          </a:prstGeom>
        </p:spPr>
      </p:pic>
      <p:sp>
        <p:nvSpPr>
          <p:cNvPr id="50" name="Text 42"/>
          <p:cNvSpPr txBox="1"/>
          <p:nvPr/>
        </p:nvSpPr>
        <p:spPr>
          <a:xfrm>
            <a:off x="7223760" y="4270248"/>
            <a:ext cx="1664208" cy="713232"/>
          </a:xfrm>
          <a:prstGeom prst="rect">
            <a:avLst/>
          </a:prstGeom>
          <a:noFill/>
          <a:ln/>
        </p:spPr>
        <p:txBody>
          <a:bodyPr wrap="square" lIns="0" tIns="0" rIns="0" bIns="0" rtlCol="0" anchor="ctr"/>
          <a:lstStyle/>
          <a:p>
            <a:pPr indent="0" marL="0">
              <a:buNone/>
            </a:pPr>
            <a:r>
              <a:rPr lang="en-US" sz="1500" dirty="0">
                <a:solidFill>
                  <a:srgbClr val="1E2533"/>
                </a:solidFill>
                <a:latin typeface="Calibri" pitchFamily="34" charset="0"/>
                <a:ea typeface="Calibri" pitchFamily="34" charset="-122"/>
                <a:cs typeface="Calibri" pitchFamily="34" charset="-120"/>
              </a:rPr>
              <a:t>Trafik yoğunluğu</a:t>
            </a:r>
            <a:endParaRPr lang="en-US" sz="1500" dirty="0"/>
          </a:p>
        </p:txBody>
      </p:sp>
      <p:sp>
        <p:nvSpPr>
          <p:cNvPr id="51" name="Shape 43"/>
          <p:cNvSpPr/>
          <p:nvPr/>
        </p:nvSpPr>
        <p:spPr>
          <a:xfrm flipV="1">
            <a:off x="9015984" y="3657600"/>
            <a:ext cx="914400" cy="969264"/>
          </a:xfrm>
          <a:prstGeom prst="line">
            <a:avLst/>
          </a:prstGeom>
          <a:noFill/>
          <a:ln w="19050">
            <a:solidFill>
              <a:srgbClr val="5B6577"/>
            </a:solidFill>
            <a:prstDash val="solid"/>
            <a:tailEnd type="triangle"/>
          </a:ln>
        </p:spPr>
      </p:sp>
      <p:sp>
        <p:nvSpPr>
          <p:cNvPr id="52" name="Shape 44"/>
          <p:cNvSpPr/>
          <p:nvPr/>
        </p:nvSpPr>
        <p:spPr>
          <a:xfrm>
            <a:off x="9125712" y="4073469"/>
            <a:ext cx="548640" cy="292608"/>
          </a:xfrm>
          <a:prstGeom prst="roundRect">
            <a:avLst>
              <a:gd name="adj" fmla="val 25000"/>
            </a:avLst>
          </a:prstGeom>
          <a:solidFill>
            <a:srgbClr val="FFFFFF"/>
          </a:solidFill>
          <a:ln w="12700">
            <a:solidFill>
              <a:srgbClr val="1A9E77"/>
            </a:solidFill>
            <a:prstDash val="solid"/>
          </a:ln>
        </p:spPr>
      </p:sp>
      <p:sp>
        <p:nvSpPr>
          <p:cNvPr id="53" name="Text 45"/>
          <p:cNvSpPr txBox="1"/>
          <p:nvPr/>
        </p:nvSpPr>
        <p:spPr>
          <a:xfrm>
            <a:off x="9125712" y="4073469"/>
            <a:ext cx="548640" cy="292608"/>
          </a:xfrm>
          <a:prstGeom prst="rect">
            <a:avLst/>
          </a:prstGeom>
          <a:noFill/>
          <a:ln/>
        </p:spPr>
        <p:txBody>
          <a:bodyPr wrap="square" lIns="0" tIns="0" rIns="0" bIns="0" rtlCol="0" anchor="ctr"/>
          <a:lstStyle/>
          <a:p>
            <a:pPr algn="ctr" indent="0" marL="0">
              <a:buNone/>
            </a:pPr>
            <a:r>
              <a:rPr lang="en-US" sz="1300" b="1" dirty="0">
                <a:solidFill>
                  <a:srgbClr val="1A9E77"/>
                </a:solidFill>
                <a:latin typeface="Calibri" pitchFamily="34" charset="0"/>
                <a:ea typeface="Calibri" pitchFamily="34" charset="-122"/>
                <a:cs typeface="Calibri" pitchFamily="34" charset="-120"/>
              </a:rPr>
              <a:t>0,20</a:t>
            </a:r>
            <a:endParaRPr lang="en-US" sz="1300" dirty="0"/>
          </a:p>
        </p:txBody>
      </p:sp>
      <p:sp>
        <p:nvSpPr>
          <p:cNvPr id="54" name="Shape 46"/>
          <p:cNvSpPr/>
          <p:nvPr/>
        </p:nvSpPr>
        <p:spPr>
          <a:xfrm>
            <a:off x="9857232" y="2903220"/>
            <a:ext cx="1508760" cy="1508760"/>
          </a:xfrm>
          <a:prstGeom prst="ellipse">
            <a:avLst/>
          </a:prstGeom>
          <a:solidFill>
            <a:srgbClr val="1A9E77"/>
          </a:solidFill>
          <a:ln w="12700">
            <a:solidFill>
              <a:srgbClr val="1A9E77"/>
            </a:solidFill>
            <a:prstDash val="solid"/>
          </a:ln>
        </p:spPr>
      </p:sp>
      <p:sp>
        <p:nvSpPr>
          <p:cNvPr id="55" name="Text 47"/>
          <p:cNvSpPr txBox="1"/>
          <p:nvPr/>
        </p:nvSpPr>
        <p:spPr>
          <a:xfrm>
            <a:off x="9857232" y="2903220"/>
            <a:ext cx="1508760" cy="15087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Konfor</a:t>
            </a:r>
            <a:endParaRPr lang="en-US" sz="2200" dirty="0"/>
          </a:p>
          <a:p>
            <a:pPr algn="ctr" indent="0" marL="0">
              <a:buNone/>
            </a:pPr>
            <a:r>
              <a:rPr lang="en-US" sz="1400" dirty="0">
                <a:solidFill>
                  <a:srgbClr val="FFFFFF"/>
                </a:solidFill>
                <a:latin typeface="Calibri" pitchFamily="34" charset="0"/>
                <a:ea typeface="Calibri" pitchFamily="34" charset="-122"/>
                <a:cs typeface="Calibri" pitchFamily="34" charset="-120"/>
              </a:rPr>
              <a:t>0–100</a:t>
            </a:r>
            <a:endParaRPr lang="en-US" sz="2200" dirty="0"/>
          </a:p>
        </p:txBody>
      </p:sp>
      <p:sp>
        <p:nvSpPr>
          <p:cNvPr id="56" name="Text 48"/>
          <p:cNvSpPr txBox="1"/>
          <p:nvPr/>
        </p:nvSpPr>
        <p:spPr>
          <a:xfrm>
            <a:off x="6565392" y="5212080"/>
            <a:ext cx="4800600" cy="868680"/>
          </a:xfrm>
          <a:prstGeom prst="rect">
            <a:avLst/>
          </a:prstGeom>
          <a:noFill/>
          <a:ln/>
        </p:spPr>
        <p:txBody>
          <a:bodyPr wrap="square" lIns="0" tIns="0" rIns="0" bIns="0" rtlCol="0" anchor="t"/>
          <a:lstStyle/>
          <a:p>
            <a:pPr indent="0" marL="0">
              <a:buNone/>
            </a:pPr>
            <a:r>
              <a:rPr lang="en-US" sz="1500" dirty="0">
                <a:solidFill>
                  <a:srgbClr val="5B6577"/>
                </a:solidFill>
                <a:latin typeface="Calibri" pitchFamily="34" charset="0"/>
                <a:ea typeface="Calibri" pitchFamily="34" charset="-122"/>
                <a:cs typeface="Calibri" pitchFamily="34" charset="-120"/>
              </a:rPr>
              <a:t>Kavşak, durak ve trafik yoğunluğu arttıkça konfor puanı düşer.</a:t>
            </a:r>
            <a:endParaRPr lang="en-US" sz="15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3A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640080"/>
          </a:xfrm>
          <a:prstGeom prst="rect">
            <a:avLst/>
          </a:prstGeom>
          <a:noFill/>
          <a:ln/>
        </p:spPr>
        <p:txBody>
          <a:bodyPr wrap="square" lIns="0" tIns="0" rIns="0" bIns="0" rtlCol="0" anchor="ctr"/>
          <a:lstStyle/>
          <a:p>
            <a:pPr indent="0" marL="0">
              <a:buNone/>
            </a:pPr>
            <a:r>
              <a:rPr lang="en-US" sz="3200" b="1" dirty="0">
                <a:solidFill>
                  <a:srgbClr val="1F2A44"/>
                </a:solidFill>
                <a:latin typeface="Calibri" pitchFamily="34" charset="0"/>
                <a:ea typeface="Calibri" pitchFamily="34" charset="-122"/>
                <a:cs typeface="Calibri" pitchFamily="34" charset="-120"/>
              </a:rPr>
              <a:t>Enerji ve Batarya Modeli</a:t>
            </a:r>
            <a:endParaRPr lang="en-US" sz="3200" dirty="0"/>
          </a:p>
        </p:txBody>
      </p:sp>
      <p:sp>
        <p:nvSpPr>
          <p:cNvPr id="3" name="Text 1"/>
          <p:cNvSpPr txBox="1"/>
          <p:nvPr/>
        </p:nvSpPr>
        <p:spPr>
          <a:xfrm>
            <a:off x="548640" y="960120"/>
            <a:ext cx="11094415" cy="411480"/>
          </a:xfrm>
          <a:prstGeom prst="rect">
            <a:avLst/>
          </a:prstGeom>
          <a:noFill/>
          <a:ln/>
        </p:spPr>
        <p:txBody>
          <a:bodyPr wrap="square" lIns="0" tIns="0" rIns="0" bIns="0" rtlCol="0" anchor="ctr"/>
          <a:lstStyle/>
          <a:p>
            <a:pPr indent="0" marL="0">
              <a:buNone/>
            </a:pPr>
            <a:r>
              <a:rPr lang="en-US" sz="1900" dirty="0">
                <a:solidFill>
                  <a:srgbClr val="5B6577"/>
                </a:solidFill>
                <a:latin typeface="Calibri" pitchFamily="34" charset="0"/>
                <a:ea typeface="Calibri" pitchFamily="34" charset="-122"/>
                <a:cs typeface="Calibri" pitchFamily="34" charset="-120"/>
              </a:rPr>
              <a:t>Her rota adayı batarya kısıtıyla denetlenir</a:t>
            </a:r>
            <a:endParaRPr lang="en-US" sz="1900" dirty="0"/>
          </a:p>
        </p:txBody>
      </p:sp>
      <p:sp>
        <p:nvSpPr>
          <p:cNvPr id="4"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100" dirty="0">
                <a:solidFill>
                  <a:srgbClr val="8A93A3"/>
                </a:solidFill>
                <a:latin typeface="Calibri" pitchFamily="34" charset="0"/>
                <a:ea typeface="Calibri" pitchFamily="34" charset="-122"/>
                <a:cs typeface="Calibri" pitchFamily="34" charset="-120"/>
              </a:rPr>
              <a:t>TOK 2026 · Yiğit &amp; Erkan · Beykoz Üniversitesi</a:t>
            </a:r>
            <a:endParaRPr lang="en-US" sz="1100" dirty="0"/>
          </a:p>
        </p:txBody>
      </p:sp>
      <p:sp>
        <p:nvSpPr>
          <p:cNvPr id="5" name="Shape 3"/>
          <p:cNvSpPr/>
          <p:nvPr/>
        </p:nvSpPr>
        <p:spPr>
          <a:xfrm>
            <a:off x="548640" y="1600200"/>
            <a:ext cx="5577840" cy="4526280"/>
          </a:xfrm>
          <a:prstGeom prst="roundRect">
            <a:avLst>
              <a:gd name="adj" fmla="val 2424"/>
            </a:avLst>
          </a:prstGeom>
          <a:solidFill>
            <a:srgbClr val="EEF2F7"/>
          </a:solidFill>
          <a:ln w="12700">
            <a:solidFill>
              <a:srgbClr val="EEF2F7"/>
            </a:solidFill>
            <a:prstDash val="solid"/>
          </a:ln>
        </p:spPr>
      </p:sp>
      <p:sp>
        <p:nvSpPr>
          <p:cNvPr id="6" name="Text 4"/>
          <p:cNvSpPr txBox="1"/>
          <p:nvPr/>
        </p:nvSpPr>
        <p:spPr>
          <a:xfrm>
            <a:off x="822960" y="1737360"/>
            <a:ext cx="5029200" cy="411480"/>
          </a:xfrm>
          <a:prstGeom prst="rect">
            <a:avLst/>
          </a:prstGeom>
          <a:noFill/>
          <a:ln/>
        </p:spPr>
        <p:txBody>
          <a:bodyPr wrap="square" lIns="0" tIns="0" rIns="0" bIns="0" rtlCol="0" anchor="ctr"/>
          <a:lstStyle/>
          <a:p>
            <a:pPr indent="0" marL="0">
              <a:buNone/>
            </a:pPr>
            <a:r>
              <a:rPr lang="en-US" sz="1800" b="1" dirty="0">
                <a:solidFill>
                  <a:srgbClr val="1F2A44"/>
                </a:solidFill>
                <a:latin typeface="Calibri" pitchFamily="34" charset="0"/>
                <a:ea typeface="Calibri" pitchFamily="34" charset="-122"/>
                <a:cs typeface="Calibri" pitchFamily="34" charset="-120"/>
              </a:rPr>
              <a:t>Rota enerjisi = dört bileşenin toplamı [11]</a:t>
            </a:r>
            <a:endParaRPr lang="en-US" sz="1800" dirty="0"/>
          </a:p>
        </p:txBody>
      </p:sp>
      <p:sp>
        <p:nvSpPr>
          <p:cNvPr id="7" name="Shape 5"/>
          <p:cNvSpPr/>
          <p:nvPr/>
        </p:nvSpPr>
        <p:spPr>
          <a:xfrm>
            <a:off x="822960" y="2377440"/>
            <a:ext cx="2377440" cy="1234440"/>
          </a:xfrm>
          <a:prstGeom prst="roundRect">
            <a:avLst>
              <a:gd name="adj" fmla="val 7407"/>
            </a:avLst>
          </a:prstGeom>
          <a:solidFill>
            <a:srgbClr val="FFFFFF"/>
          </a:solidFill>
          <a:ln w="12700">
            <a:solidFill>
              <a:srgbClr val="C9D1DC"/>
            </a:solidFill>
            <a:prstDash val="solid"/>
          </a:ln>
        </p:spPr>
      </p:sp>
      <p:sp>
        <p:nvSpPr>
          <p:cNvPr id="8" name="Shape 6"/>
          <p:cNvSpPr/>
          <p:nvPr/>
        </p:nvSpPr>
        <p:spPr>
          <a:xfrm>
            <a:off x="1714500" y="2514600"/>
            <a:ext cx="594360" cy="594360"/>
          </a:xfrm>
          <a:prstGeom prst="ellipse">
            <a:avLst/>
          </a:prstGeom>
          <a:solidFill>
            <a:srgbClr val="1A9E77"/>
          </a:solidFill>
          <a:ln w="12700">
            <a:solidFill>
              <a:srgbClr val="1A9E77"/>
            </a:solidFill>
            <a:prstDash val="solid"/>
          </a:ln>
        </p:spPr>
      </p:sp>
      <p:pic>
        <p:nvPicPr>
          <p:cNvPr id="9" name="Image 0" descr="icons/wind_w.png">    </p:cNvPr>
          <p:cNvPicPr>
            <a:picLocks noChangeAspect="1"/>
          </p:cNvPicPr>
          <p:nvPr/>
        </p:nvPicPr>
        <p:blipFill>
          <a:blip r:embed="rId1"/>
          <a:stretch>
            <a:fillRect/>
          </a:stretch>
        </p:blipFill>
        <p:spPr>
          <a:xfrm>
            <a:off x="1863090" y="2663190"/>
            <a:ext cx="297180" cy="297180"/>
          </a:xfrm>
          <a:prstGeom prst="rect">
            <a:avLst/>
          </a:prstGeom>
        </p:spPr>
      </p:pic>
      <p:sp>
        <p:nvSpPr>
          <p:cNvPr id="10" name="Text 7"/>
          <p:cNvSpPr txBox="1"/>
          <p:nvPr/>
        </p:nvSpPr>
        <p:spPr>
          <a:xfrm>
            <a:off x="914400" y="3154680"/>
            <a:ext cx="2194560" cy="365760"/>
          </a:xfrm>
          <a:prstGeom prst="rect">
            <a:avLst/>
          </a:prstGeom>
          <a:noFill/>
          <a:ln/>
        </p:spPr>
        <p:txBody>
          <a:bodyPr wrap="square" lIns="0" tIns="0" rIns="0" bIns="0" rtlCol="0" anchor="ctr"/>
          <a:lstStyle/>
          <a:p>
            <a:pPr algn="ctr" indent="0" marL="0">
              <a:buNone/>
            </a:pPr>
            <a:r>
              <a:rPr lang="en-US" sz="1500" b="1" dirty="0">
                <a:solidFill>
                  <a:srgbClr val="1F2A44"/>
                </a:solidFill>
                <a:latin typeface="Calibri" pitchFamily="34" charset="0"/>
                <a:ea typeface="Calibri" pitchFamily="34" charset="-122"/>
                <a:cs typeface="Calibri" pitchFamily="34" charset="-120"/>
              </a:rPr>
              <a:t>Aerodinamik sürüklenme</a:t>
            </a:r>
            <a:endParaRPr lang="en-US" sz="1500" dirty="0"/>
          </a:p>
        </p:txBody>
      </p:sp>
      <p:sp>
        <p:nvSpPr>
          <p:cNvPr id="11" name="Shape 8"/>
          <p:cNvSpPr/>
          <p:nvPr/>
        </p:nvSpPr>
        <p:spPr>
          <a:xfrm>
            <a:off x="3474720" y="2377440"/>
            <a:ext cx="2377440" cy="1234440"/>
          </a:xfrm>
          <a:prstGeom prst="roundRect">
            <a:avLst>
              <a:gd name="adj" fmla="val 7407"/>
            </a:avLst>
          </a:prstGeom>
          <a:solidFill>
            <a:srgbClr val="FFFFFF"/>
          </a:solidFill>
          <a:ln w="12700">
            <a:solidFill>
              <a:srgbClr val="C9D1DC"/>
            </a:solidFill>
            <a:prstDash val="solid"/>
          </a:ln>
        </p:spPr>
      </p:sp>
      <p:sp>
        <p:nvSpPr>
          <p:cNvPr id="12" name="Shape 9"/>
          <p:cNvSpPr/>
          <p:nvPr/>
        </p:nvSpPr>
        <p:spPr>
          <a:xfrm>
            <a:off x="4366260" y="2514600"/>
            <a:ext cx="594360" cy="594360"/>
          </a:xfrm>
          <a:prstGeom prst="ellipse">
            <a:avLst/>
          </a:prstGeom>
          <a:solidFill>
            <a:srgbClr val="1A9E77"/>
          </a:solidFill>
          <a:ln w="12700">
            <a:solidFill>
              <a:srgbClr val="1A9E77"/>
            </a:solidFill>
            <a:prstDash val="solid"/>
          </a:ln>
        </p:spPr>
      </p:sp>
      <p:pic>
        <p:nvPicPr>
          <p:cNvPr id="13" name="Image 1" descr="icons/road_w.png">    </p:cNvPr>
          <p:cNvPicPr>
            <a:picLocks noChangeAspect="1"/>
          </p:cNvPicPr>
          <p:nvPr/>
        </p:nvPicPr>
        <p:blipFill>
          <a:blip r:embed="rId2"/>
          <a:stretch>
            <a:fillRect/>
          </a:stretch>
        </p:blipFill>
        <p:spPr>
          <a:xfrm>
            <a:off x="4514850" y="2663190"/>
            <a:ext cx="297180" cy="297180"/>
          </a:xfrm>
          <a:prstGeom prst="rect">
            <a:avLst/>
          </a:prstGeom>
        </p:spPr>
      </p:pic>
      <p:sp>
        <p:nvSpPr>
          <p:cNvPr id="14" name="Text 10"/>
          <p:cNvSpPr txBox="1"/>
          <p:nvPr/>
        </p:nvSpPr>
        <p:spPr>
          <a:xfrm>
            <a:off x="3566160" y="3154680"/>
            <a:ext cx="2194560" cy="365760"/>
          </a:xfrm>
          <a:prstGeom prst="rect">
            <a:avLst/>
          </a:prstGeom>
          <a:noFill/>
          <a:ln/>
        </p:spPr>
        <p:txBody>
          <a:bodyPr wrap="square" lIns="0" tIns="0" rIns="0" bIns="0" rtlCol="0" anchor="ctr"/>
          <a:lstStyle/>
          <a:p>
            <a:pPr algn="ctr" indent="0" marL="0">
              <a:buNone/>
            </a:pPr>
            <a:r>
              <a:rPr lang="en-US" sz="1500" b="1" dirty="0">
                <a:solidFill>
                  <a:srgbClr val="1F2A44"/>
                </a:solidFill>
                <a:latin typeface="Calibri" pitchFamily="34" charset="0"/>
                <a:ea typeface="Calibri" pitchFamily="34" charset="-122"/>
                <a:cs typeface="Calibri" pitchFamily="34" charset="-120"/>
              </a:rPr>
              <a:t>Yuvarlanma direnci</a:t>
            </a:r>
            <a:endParaRPr lang="en-US" sz="1500" dirty="0"/>
          </a:p>
        </p:txBody>
      </p:sp>
      <p:sp>
        <p:nvSpPr>
          <p:cNvPr id="15" name="Shape 11"/>
          <p:cNvSpPr/>
          <p:nvPr/>
        </p:nvSpPr>
        <p:spPr>
          <a:xfrm>
            <a:off x="822960" y="3886200"/>
            <a:ext cx="2377440" cy="1234440"/>
          </a:xfrm>
          <a:prstGeom prst="roundRect">
            <a:avLst>
              <a:gd name="adj" fmla="val 7407"/>
            </a:avLst>
          </a:prstGeom>
          <a:solidFill>
            <a:srgbClr val="FFFFFF"/>
          </a:solidFill>
          <a:ln w="12700">
            <a:solidFill>
              <a:srgbClr val="C9D1DC"/>
            </a:solidFill>
            <a:prstDash val="solid"/>
          </a:ln>
        </p:spPr>
      </p:sp>
      <p:sp>
        <p:nvSpPr>
          <p:cNvPr id="16" name="Shape 12"/>
          <p:cNvSpPr/>
          <p:nvPr/>
        </p:nvSpPr>
        <p:spPr>
          <a:xfrm>
            <a:off x="1714500" y="4023360"/>
            <a:ext cx="594360" cy="594360"/>
          </a:xfrm>
          <a:prstGeom prst="ellipse">
            <a:avLst/>
          </a:prstGeom>
          <a:solidFill>
            <a:srgbClr val="1A9E77"/>
          </a:solidFill>
          <a:ln w="12700">
            <a:solidFill>
              <a:srgbClr val="1A9E77"/>
            </a:solidFill>
            <a:prstDash val="solid"/>
          </a:ln>
        </p:spPr>
      </p:sp>
      <p:pic>
        <p:nvPicPr>
          <p:cNvPr id="17" name="Image 2" descr="icons/speed_w.png">    </p:cNvPr>
          <p:cNvPicPr>
            <a:picLocks noChangeAspect="1"/>
          </p:cNvPicPr>
          <p:nvPr/>
        </p:nvPicPr>
        <p:blipFill>
          <a:blip r:embed="rId3"/>
          <a:stretch>
            <a:fillRect/>
          </a:stretch>
        </p:blipFill>
        <p:spPr>
          <a:xfrm>
            <a:off x="1863090" y="4171950"/>
            <a:ext cx="297180" cy="297180"/>
          </a:xfrm>
          <a:prstGeom prst="rect">
            <a:avLst/>
          </a:prstGeom>
        </p:spPr>
      </p:pic>
      <p:sp>
        <p:nvSpPr>
          <p:cNvPr id="18" name="Text 13"/>
          <p:cNvSpPr txBox="1"/>
          <p:nvPr/>
        </p:nvSpPr>
        <p:spPr>
          <a:xfrm>
            <a:off x="914400" y="4663440"/>
            <a:ext cx="2194560" cy="365760"/>
          </a:xfrm>
          <a:prstGeom prst="rect">
            <a:avLst/>
          </a:prstGeom>
          <a:noFill/>
          <a:ln/>
        </p:spPr>
        <p:txBody>
          <a:bodyPr wrap="square" lIns="0" tIns="0" rIns="0" bIns="0" rtlCol="0" anchor="ctr"/>
          <a:lstStyle/>
          <a:p>
            <a:pPr algn="ctr" indent="0" marL="0">
              <a:buNone/>
            </a:pPr>
            <a:r>
              <a:rPr lang="en-US" sz="1500" b="1" dirty="0">
                <a:solidFill>
                  <a:srgbClr val="1F2A44"/>
                </a:solidFill>
                <a:latin typeface="Calibri" pitchFamily="34" charset="0"/>
                <a:ea typeface="Calibri" pitchFamily="34" charset="-122"/>
                <a:cs typeface="Calibri" pitchFamily="34" charset="-120"/>
              </a:rPr>
              <a:t>İvmelenme</a:t>
            </a:r>
            <a:endParaRPr lang="en-US" sz="1500" dirty="0"/>
          </a:p>
        </p:txBody>
      </p:sp>
      <p:sp>
        <p:nvSpPr>
          <p:cNvPr id="19" name="Shape 14"/>
          <p:cNvSpPr/>
          <p:nvPr/>
        </p:nvSpPr>
        <p:spPr>
          <a:xfrm>
            <a:off x="3474720" y="3886200"/>
            <a:ext cx="2377440" cy="1234440"/>
          </a:xfrm>
          <a:prstGeom prst="roundRect">
            <a:avLst>
              <a:gd name="adj" fmla="val 7407"/>
            </a:avLst>
          </a:prstGeom>
          <a:solidFill>
            <a:srgbClr val="FFFFFF"/>
          </a:solidFill>
          <a:ln w="12700">
            <a:solidFill>
              <a:srgbClr val="C9D1DC"/>
            </a:solidFill>
            <a:prstDash val="solid"/>
          </a:ln>
        </p:spPr>
      </p:sp>
      <p:sp>
        <p:nvSpPr>
          <p:cNvPr id="20" name="Shape 15"/>
          <p:cNvSpPr/>
          <p:nvPr/>
        </p:nvSpPr>
        <p:spPr>
          <a:xfrm>
            <a:off x="4366260" y="4023360"/>
            <a:ext cx="594360" cy="594360"/>
          </a:xfrm>
          <a:prstGeom prst="ellipse">
            <a:avLst/>
          </a:prstGeom>
          <a:solidFill>
            <a:srgbClr val="1A9E77"/>
          </a:solidFill>
          <a:ln w="12700">
            <a:solidFill>
              <a:srgbClr val="1A9E77"/>
            </a:solidFill>
            <a:prstDash val="solid"/>
          </a:ln>
        </p:spPr>
      </p:sp>
      <p:pic>
        <p:nvPicPr>
          <p:cNvPr id="21" name="Image 3" descr="icons/fan_w.png">    </p:cNvPr>
          <p:cNvPicPr>
            <a:picLocks noChangeAspect="1"/>
          </p:cNvPicPr>
          <p:nvPr/>
        </p:nvPicPr>
        <p:blipFill>
          <a:blip r:embed="rId4"/>
          <a:stretch>
            <a:fillRect/>
          </a:stretch>
        </p:blipFill>
        <p:spPr>
          <a:xfrm>
            <a:off x="4514850" y="4171950"/>
            <a:ext cx="297180" cy="297180"/>
          </a:xfrm>
          <a:prstGeom prst="rect">
            <a:avLst/>
          </a:prstGeom>
        </p:spPr>
      </p:pic>
      <p:sp>
        <p:nvSpPr>
          <p:cNvPr id="22" name="Text 16"/>
          <p:cNvSpPr txBox="1"/>
          <p:nvPr/>
        </p:nvSpPr>
        <p:spPr>
          <a:xfrm>
            <a:off x="3566160" y="4663440"/>
            <a:ext cx="2194560" cy="365760"/>
          </a:xfrm>
          <a:prstGeom prst="rect">
            <a:avLst/>
          </a:prstGeom>
          <a:noFill/>
          <a:ln/>
        </p:spPr>
        <p:txBody>
          <a:bodyPr wrap="square" lIns="0" tIns="0" rIns="0" bIns="0" rtlCol="0" anchor="ctr"/>
          <a:lstStyle/>
          <a:p>
            <a:pPr algn="ctr" indent="0" marL="0">
              <a:buNone/>
            </a:pPr>
            <a:r>
              <a:rPr lang="en-US" sz="1500" b="1" dirty="0">
                <a:solidFill>
                  <a:srgbClr val="1F2A44"/>
                </a:solidFill>
                <a:latin typeface="Calibri" pitchFamily="34" charset="0"/>
                <a:ea typeface="Calibri" pitchFamily="34" charset="-122"/>
                <a:cs typeface="Calibri" pitchFamily="34" charset="-120"/>
              </a:rPr>
              <a:t>Yardımcı sistemler</a:t>
            </a:r>
            <a:endParaRPr lang="en-US" sz="1500" dirty="0"/>
          </a:p>
        </p:txBody>
      </p:sp>
      <p:sp>
        <p:nvSpPr>
          <p:cNvPr id="23" name="Text 17"/>
          <p:cNvSpPr txBox="1"/>
          <p:nvPr/>
        </p:nvSpPr>
        <p:spPr>
          <a:xfrm>
            <a:off x="822960" y="5623560"/>
            <a:ext cx="5029200" cy="365760"/>
          </a:xfrm>
          <a:prstGeom prst="rect">
            <a:avLst/>
          </a:prstGeom>
          <a:noFill/>
          <a:ln/>
        </p:spPr>
        <p:txBody>
          <a:bodyPr wrap="square" lIns="0" tIns="0" rIns="0" bIns="0" rtlCol="0" anchor="ctr"/>
          <a:lstStyle/>
          <a:p>
            <a:pPr indent="0" marL="0">
              <a:buNone/>
            </a:pPr>
            <a:r>
              <a:rPr lang="en-US" sz="1500" dirty="0">
                <a:solidFill>
                  <a:srgbClr val="5B6577"/>
                </a:solidFill>
                <a:latin typeface="Calibri" pitchFamily="34" charset="0"/>
                <a:ea typeface="Calibri" pitchFamily="34" charset="-122"/>
                <a:cs typeface="Calibri" pitchFamily="34" charset="-120"/>
              </a:rPr>
              <a:t>Araç: Tesla Model 3 Standart Range (Tablo 1)</a:t>
            </a:r>
            <a:endParaRPr lang="en-US" sz="1500" dirty="0"/>
          </a:p>
        </p:txBody>
      </p:sp>
      <p:sp>
        <p:nvSpPr>
          <p:cNvPr id="24" name="Shape 18"/>
          <p:cNvSpPr/>
          <p:nvPr/>
        </p:nvSpPr>
        <p:spPr>
          <a:xfrm>
            <a:off x="6519672" y="1600200"/>
            <a:ext cx="5123383" cy="4526280"/>
          </a:xfrm>
          <a:prstGeom prst="roundRect">
            <a:avLst>
              <a:gd name="adj" fmla="val 2424"/>
            </a:avLst>
          </a:prstGeom>
          <a:solidFill>
            <a:srgbClr val="EEF2F7"/>
          </a:solidFill>
          <a:ln w="12700">
            <a:solidFill>
              <a:srgbClr val="EEF2F7"/>
            </a:solidFill>
            <a:prstDash val="solid"/>
          </a:ln>
        </p:spPr>
      </p:sp>
      <p:sp>
        <p:nvSpPr>
          <p:cNvPr id="25" name="Text 19"/>
          <p:cNvSpPr txBox="1"/>
          <p:nvPr/>
        </p:nvSpPr>
        <p:spPr>
          <a:xfrm>
            <a:off x="6793992" y="1737360"/>
            <a:ext cx="4574743" cy="411480"/>
          </a:xfrm>
          <a:prstGeom prst="rect">
            <a:avLst/>
          </a:prstGeom>
          <a:noFill/>
          <a:ln/>
        </p:spPr>
        <p:txBody>
          <a:bodyPr wrap="square" lIns="0" tIns="0" rIns="0" bIns="0" rtlCol="0" anchor="ctr"/>
          <a:lstStyle/>
          <a:p>
            <a:pPr indent="0" marL="0">
              <a:buNone/>
            </a:pPr>
            <a:r>
              <a:rPr lang="en-US" sz="1800" b="1" dirty="0">
                <a:solidFill>
                  <a:srgbClr val="1F2A44"/>
                </a:solidFill>
                <a:latin typeface="Calibri" pitchFamily="34" charset="0"/>
                <a:ea typeface="Calibri" pitchFamily="34" charset="-122"/>
                <a:cs typeface="Calibri" pitchFamily="34" charset="-120"/>
              </a:rPr>
              <a:t>Batarya kontrolü</a:t>
            </a:r>
            <a:endParaRPr lang="en-US" sz="1800" dirty="0"/>
          </a:p>
        </p:txBody>
      </p:sp>
      <p:sp>
        <p:nvSpPr>
          <p:cNvPr id="26" name="Shape 20"/>
          <p:cNvSpPr/>
          <p:nvPr/>
        </p:nvSpPr>
        <p:spPr>
          <a:xfrm>
            <a:off x="6839712" y="2331720"/>
            <a:ext cx="3429000" cy="731520"/>
          </a:xfrm>
          <a:prstGeom prst="roundRect">
            <a:avLst>
              <a:gd name="adj" fmla="val 12500"/>
            </a:avLst>
          </a:prstGeom>
          <a:solidFill>
            <a:srgbClr val="1F2A44"/>
          </a:solidFill>
          <a:ln w="12700">
            <a:solidFill>
              <a:srgbClr val="1F2A44"/>
            </a:solidFill>
            <a:prstDash val="solid"/>
          </a:ln>
        </p:spPr>
      </p:sp>
      <p:sp>
        <p:nvSpPr>
          <p:cNvPr id="27" name="Text 21"/>
          <p:cNvSpPr txBox="1"/>
          <p:nvPr/>
        </p:nvSpPr>
        <p:spPr>
          <a:xfrm>
            <a:off x="6931152" y="2331720"/>
            <a:ext cx="3246120" cy="7315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Yolculuk sonu şarj</a:t>
            </a:r>
            <a:endParaRPr lang="en-US" sz="1600" dirty="0"/>
          </a:p>
          <a:p>
            <a:pPr algn="ctr" indent="0" marL="0">
              <a:buNone/>
            </a:pPr>
            <a:r>
              <a:rPr lang="en-US" sz="1600" dirty="0">
                <a:solidFill>
                  <a:srgbClr val="FFFFFF"/>
                </a:solidFill>
                <a:latin typeface="Calibri" pitchFamily="34" charset="0"/>
                <a:ea typeface="Calibri" pitchFamily="34" charset="-122"/>
                <a:cs typeface="Calibri" pitchFamily="34" charset="-120"/>
              </a:rPr>
              <a:t>durumu (SoC) tahmini</a:t>
            </a:r>
            <a:endParaRPr lang="en-US" sz="1600" dirty="0"/>
          </a:p>
        </p:txBody>
      </p:sp>
      <p:sp>
        <p:nvSpPr>
          <p:cNvPr id="28" name="Shape 22"/>
          <p:cNvSpPr/>
          <p:nvPr/>
        </p:nvSpPr>
        <p:spPr>
          <a:xfrm>
            <a:off x="8554212" y="3090672"/>
            <a:ext cx="0" cy="320040"/>
          </a:xfrm>
          <a:prstGeom prst="line">
            <a:avLst/>
          </a:prstGeom>
          <a:noFill/>
          <a:ln w="25400">
            <a:solidFill>
              <a:srgbClr val="5B6577"/>
            </a:solidFill>
            <a:prstDash val="solid"/>
            <a:tailEnd type="triangle"/>
          </a:ln>
        </p:spPr>
      </p:sp>
      <p:sp>
        <p:nvSpPr>
          <p:cNvPr id="29" name="Shape 23"/>
          <p:cNvSpPr/>
          <p:nvPr/>
        </p:nvSpPr>
        <p:spPr>
          <a:xfrm>
            <a:off x="7365492" y="3456432"/>
            <a:ext cx="2377440" cy="1051560"/>
          </a:xfrm>
          <a:prstGeom prst="diamond">
            <a:avLst/>
          </a:prstGeom>
          <a:solidFill>
            <a:srgbClr val="FFFFFF"/>
          </a:solidFill>
          <a:ln w="25400">
            <a:solidFill>
              <a:srgbClr val="D9572B"/>
            </a:solidFill>
            <a:prstDash val="solid"/>
          </a:ln>
        </p:spPr>
      </p:sp>
      <p:sp>
        <p:nvSpPr>
          <p:cNvPr id="30" name="Text 24"/>
          <p:cNvSpPr txBox="1"/>
          <p:nvPr/>
        </p:nvSpPr>
        <p:spPr>
          <a:xfrm>
            <a:off x="7365492" y="3456432"/>
            <a:ext cx="2377440" cy="1051560"/>
          </a:xfrm>
          <a:prstGeom prst="rect">
            <a:avLst/>
          </a:prstGeom>
          <a:noFill/>
          <a:ln/>
        </p:spPr>
        <p:txBody>
          <a:bodyPr wrap="square" lIns="0" tIns="0" rIns="0" bIns="0" rtlCol="0" anchor="ctr"/>
          <a:lstStyle/>
          <a:p>
            <a:pPr algn="ctr" indent="0" marL="0">
              <a:buNone/>
            </a:pPr>
            <a:r>
              <a:rPr lang="en-US" sz="1700" b="1" dirty="0">
                <a:solidFill>
                  <a:srgbClr val="D9572B"/>
                </a:solidFill>
                <a:latin typeface="Calibri" pitchFamily="34" charset="0"/>
                <a:ea typeface="Calibri" pitchFamily="34" charset="-122"/>
                <a:cs typeface="Calibri" pitchFamily="34" charset="-120"/>
              </a:rPr>
              <a:t>SoC &lt; %20 ?</a:t>
            </a:r>
            <a:endParaRPr lang="en-US" sz="1700" dirty="0"/>
          </a:p>
        </p:txBody>
      </p:sp>
      <p:sp>
        <p:nvSpPr>
          <p:cNvPr id="31" name="Shape 25"/>
          <p:cNvSpPr/>
          <p:nvPr/>
        </p:nvSpPr>
        <p:spPr>
          <a:xfrm>
            <a:off x="8554212" y="4535424"/>
            <a:ext cx="0" cy="320040"/>
          </a:xfrm>
          <a:prstGeom prst="line">
            <a:avLst/>
          </a:prstGeom>
          <a:noFill/>
          <a:ln w="25400">
            <a:solidFill>
              <a:srgbClr val="5B6577"/>
            </a:solidFill>
            <a:prstDash val="solid"/>
            <a:tailEnd type="triangle"/>
          </a:ln>
        </p:spPr>
      </p:sp>
      <p:sp>
        <p:nvSpPr>
          <p:cNvPr id="32" name="Shape 26"/>
          <p:cNvSpPr/>
          <p:nvPr/>
        </p:nvSpPr>
        <p:spPr>
          <a:xfrm>
            <a:off x="6839712" y="4892040"/>
            <a:ext cx="3429000" cy="960120"/>
          </a:xfrm>
          <a:prstGeom prst="roundRect">
            <a:avLst>
              <a:gd name="adj" fmla="val 9524"/>
            </a:avLst>
          </a:prstGeom>
          <a:solidFill>
            <a:srgbClr val="1A9E77"/>
          </a:solidFill>
          <a:ln w="12700">
            <a:solidFill>
              <a:srgbClr val="1A9E77"/>
            </a:solidFill>
            <a:prstDash val="solid"/>
          </a:ln>
        </p:spPr>
      </p:sp>
      <p:sp>
        <p:nvSpPr>
          <p:cNvPr id="33" name="Text 27"/>
          <p:cNvSpPr txBox="1"/>
          <p:nvPr/>
        </p:nvSpPr>
        <p:spPr>
          <a:xfrm>
            <a:off x="6931152" y="4892040"/>
            <a:ext cx="3246120" cy="9601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Evet: şarj istasyonu</a:t>
            </a:r>
            <a:endParaRPr lang="en-US" sz="1600" dirty="0"/>
          </a:p>
          <a:p>
            <a:pPr algn="ctr" indent="0" marL="0">
              <a:buNone/>
            </a:pPr>
            <a:r>
              <a:rPr lang="en-US" sz="1600" dirty="0">
                <a:solidFill>
                  <a:srgbClr val="FFFFFF"/>
                </a:solidFill>
                <a:latin typeface="Calibri" pitchFamily="34" charset="0"/>
                <a:ea typeface="Calibri" pitchFamily="34" charset="-122"/>
                <a:cs typeface="Calibri" pitchFamily="34" charset="-120"/>
              </a:rPr>
              <a:t>rotaya eklenir</a:t>
            </a:r>
            <a:endParaRPr lang="en-US" sz="1600" dirty="0"/>
          </a:p>
        </p:txBody>
      </p:sp>
      <p:sp>
        <p:nvSpPr>
          <p:cNvPr id="34" name="Shape 28"/>
          <p:cNvSpPr/>
          <p:nvPr/>
        </p:nvSpPr>
        <p:spPr>
          <a:xfrm>
            <a:off x="9761220" y="3982212"/>
            <a:ext cx="320040" cy="0"/>
          </a:xfrm>
          <a:prstGeom prst="line">
            <a:avLst/>
          </a:prstGeom>
          <a:noFill/>
          <a:ln w="25400">
            <a:solidFill>
              <a:srgbClr val="5B6577"/>
            </a:solidFill>
            <a:prstDash val="solid"/>
            <a:tailEnd type="triangle"/>
          </a:ln>
        </p:spPr>
      </p:sp>
      <p:sp>
        <p:nvSpPr>
          <p:cNvPr id="35" name="Text 29"/>
          <p:cNvSpPr txBox="1"/>
          <p:nvPr/>
        </p:nvSpPr>
        <p:spPr>
          <a:xfrm>
            <a:off x="10154412" y="3611880"/>
            <a:ext cx="1305763" cy="731520"/>
          </a:xfrm>
          <a:prstGeom prst="rect">
            <a:avLst/>
          </a:prstGeom>
          <a:noFill/>
          <a:ln/>
        </p:spPr>
        <p:txBody>
          <a:bodyPr wrap="square" lIns="0" tIns="0" rIns="0" bIns="0" rtlCol="0" anchor="ctr"/>
          <a:lstStyle/>
          <a:p>
            <a:pPr indent="0" marL="0">
              <a:buNone/>
            </a:pPr>
            <a:r>
              <a:rPr lang="en-US" sz="1500" b="1" dirty="0">
                <a:solidFill>
                  <a:srgbClr val="5B6577"/>
                </a:solidFill>
                <a:latin typeface="Calibri" pitchFamily="34" charset="0"/>
                <a:ea typeface="Calibri" pitchFamily="34" charset="-122"/>
                <a:cs typeface="Calibri" pitchFamily="34" charset="-120"/>
              </a:rPr>
              <a:t>Hayır:</a:t>
            </a:r>
            <a:endParaRPr lang="en-US" sz="1500" dirty="0"/>
          </a:p>
          <a:p>
            <a:pPr indent="0" marL="0">
              <a:buNone/>
            </a:pPr>
            <a:r>
              <a:rPr lang="en-US" sz="1500" dirty="0">
                <a:solidFill>
                  <a:srgbClr val="5B6577"/>
                </a:solidFill>
                <a:latin typeface="Calibri" pitchFamily="34" charset="0"/>
                <a:ea typeface="Calibri" pitchFamily="34" charset="-122"/>
                <a:cs typeface="Calibri" pitchFamily="34" charset="-120"/>
              </a:rPr>
              <a:t>rota uygulanabilir</a:t>
            </a:r>
            <a:endParaRPr lang="en-US" sz="15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3A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640080"/>
          </a:xfrm>
          <a:prstGeom prst="rect">
            <a:avLst/>
          </a:prstGeom>
          <a:noFill/>
          <a:ln/>
        </p:spPr>
        <p:txBody>
          <a:bodyPr wrap="square" lIns="0" tIns="0" rIns="0" bIns="0" rtlCol="0" anchor="ctr"/>
          <a:lstStyle/>
          <a:p>
            <a:pPr indent="0" marL="0">
              <a:buNone/>
            </a:pPr>
            <a:r>
              <a:rPr lang="en-US" sz="3200" b="1" dirty="0">
                <a:solidFill>
                  <a:srgbClr val="1F2A44"/>
                </a:solidFill>
                <a:latin typeface="Calibri" pitchFamily="34" charset="0"/>
                <a:ea typeface="Calibri" pitchFamily="34" charset="-122"/>
                <a:cs typeface="Calibri" pitchFamily="34" charset="-120"/>
              </a:rPr>
              <a:t>Optimizasyon ve Öğrenme</a:t>
            </a:r>
            <a:endParaRPr lang="en-US" sz="3200" dirty="0"/>
          </a:p>
        </p:txBody>
      </p:sp>
      <p:sp>
        <p:nvSpPr>
          <p:cNvPr id="3" name="Text 1"/>
          <p:cNvSpPr txBox="1"/>
          <p:nvPr/>
        </p:nvSpPr>
        <p:spPr>
          <a:xfrm>
            <a:off x="548640" y="960120"/>
            <a:ext cx="11094415" cy="411480"/>
          </a:xfrm>
          <a:prstGeom prst="rect">
            <a:avLst/>
          </a:prstGeom>
          <a:noFill/>
          <a:ln/>
        </p:spPr>
        <p:txBody>
          <a:bodyPr wrap="square" lIns="0" tIns="0" rIns="0" bIns="0" rtlCol="0" anchor="ctr"/>
          <a:lstStyle/>
          <a:p>
            <a:pPr indent="0" marL="0">
              <a:buNone/>
            </a:pPr>
            <a:r>
              <a:rPr lang="en-US" sz="1900" dirty="0">
                <a:solidFill>
                  <a:srgbClr val="5B6577"/>
                </a:solidFill>
                <a:latin typeface="Calibri" pitchFamily="34" charset="0"/>
                <a:ea typeface="Calibri" pitchFamily="34" charset="-122"/>
                <a:cs typeface="Calibri" pitchFamily="34" charset="-120"/>
              </a:rPr>
              <a:t>Tek rota yerine sürücüye uyarlanan seçenekler</a:t>
            </a:r>
            <a:endParaRPr lang="en-US" sz="1900" dirty="0"/>
          </a:p>
        </p:txBody>
      </p:sp>
      <p:sp>
        <p:nvSpPr>
          <p:cNvPr id="4"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100" dirty="0">
                <a:solidFill>
                  <a:srgbClr val="8A93A3"/>
                </a:solidFill>
                <a:latin typeface="Calibri" pitchFamily="34" charset="0"/>
                <a:ea typeface="Calibri" pitchFamily="34" charset="-122"/>
                <a:cs typeface="Calibri" pitchFamily="34" charset="-120"/>
              </a:rPr>
              <a:t>TOK 2026 · Yiğit &amp; Erkan · Beykoz Üniversitesi</a:t>
            </a:r>
            <a:endParaRPr lang="en-US" sz="1100" dirty="0"/>
          </a:p>
        </p:txBody>
      </p:sp>
      <p:sp>
        <p:nvSpPr>
          <p:cNvPr id="5" name="Shape 3"/>
          <p:cNvSpPr/>
          <p:nvPr/>
        </p:nvSpPr>
        <p:spPr>
          <a:xfrm>
            <a:off x="548640" y="1600200"/>
            <a:ext cx="5349240" cy="4526280"/>
          </a:xfrm>
          <a:prstGeom prst="roundRect">
            <a:avLst>
              <a:gd name="adj" fmla="val 2424"/>
            </a:avLst>
          </a:prstGeom>
          <a:solidFill>
            <a:srgbClr val="EEF2F7"/>
          </a:solidFill>
          <a:ln w="12700">
            <a:solidFill>
              <a:srgbClr val="EEF2F7"/>
            </a:solidFill>
            <a:prstDash val="solid"/>
          </a:ln>
        </p:spPr>
      </p:sp>
      <p:sp>
        <p:nvSpPr>
          <p:cNvPr id="6" name="Text 4"/>
          <p:cNvSpPr txBox="1"/>
          <p:nvPr/>
        </p:nvSpPr>
        <p:spPr>
          <a:xfrm>
            <a:off x="822960" y="1737360"/>
            <a:ext cx="4800600" cy="411480"/>
          </a:xfrm>
          <a:prstGeom prst="rect">
            <a:avLst/>
          </a:prstGeom>
          <a:noFill/>
          <a:ln/>
        </p:spPr>
        <p:txBody>
          <a:bodyPr wrap="square" lIns="0" tIns="0" rIns="0" bIns="0" rtlCol="0" anchor="ctr"/>
          <a:lstStyle/>
          <a:p>
            <a:pPr indent="0" marL="0">
              <a:buNone/>
            </a:pPr>
            <a:r>
              <a:rPr lang="en-US" sz="1900" b="1" dirty="0">
                <a:solidFill>
                  <a:srgbClr val="1F2A44"/>
                </a:solidFill>
                <a:latin typeface="Calibri" pitchFamily="34" charset="0"/>
                <a:ea typeface="Calibri" pitchFamily="34" charset="-122"/>
                <a:cs typeface="Calibri" pitchFamily="34" charset="-120"/>
              </a:rPr>
              <a:t>D-NSGA-II (Dinamik NSGA-II) [7]</a:t>
            </a:r>
            <a:endParaRPr lang="en-US" sz="1900" dirty="0"/>
          </a:p>
        </p:txBody>
      </p:sp>
      <p:sp>
        <p:nvSpPr>
          <p:cNvPr id="7" name="Text 5"/>
          <p:cNvSpPr txBox="1"/>
          <p:nvPr/>
        </p:nvSpPr>
        <p:spPr>
          <a:xfrm>
            <a:off x="822960" y="2194560"/>
            <a:ext cx="4800600" cy="685800"/>
          </a:xfrm>
          <a:prstGeom prst="rect">
            <a:avLst/>
          </a:prstGeom>
          <a:noFill/>
          <a:ln/>
        </p:spPr>
        <p:txBody>
          <a:bodyPr wrap="square" lIns="0" tIns="0" rIns="0" bIns="0" rtlCol="0" anchor="t"/>
          <a:lstStyle/>
          <a:p>
            <a:pPr indent="0" marL="0">
              <a:buNone/>
            </a:pPr>
            <a:r>
              <a:rPr lang="en-US" sz="1600" dirty="0">
                <a:solidFill>
                  <a:srgbClr val="1E2533"/>
                </a:solidFill>
                <a:latin typeface="Calibri" pitchFamily="34" charset="0"/>
                <a:ea typeface="Calibri" pitchFamily="34" charset="-122"/>
                <a:cs typeface="Calibri" pitchFamily="34" charset="-120"/>
              </a:rPr>
              <a:t>Enerji, süre ve konfor, CLS'ye göre güncellenen ağırlıklarla birleştirilir.</a:t>
            </a:r>
            <a:endParaRPr lang="en-US" sz="1600" dirty="0"/>
          </a:p>
        </p:txBody>
      </p:sp>
      <p:sp>
        <p:nvSpPr>
          <p:cNvPr id="8" name="Text 6"/>
          <p:cNvSpPr txBox="1"/>
          <p:nvPr/>
        </p:nvSpPr>
        <p:spPr>
          <a:xfrm>
            <a:off x="822960" y="2926080"/>
            <a:ext cx="4800600" cy="365760"/>
          </a:xfrm>
          <a:prstGeom prst="rect">
            <a:avLst/>
          </a:prstGeom>
          <a:noFill/>
          <a:ln/>
        </p:spPr>
        <p:txBody>
          <a:bodyPr wrap="square" lIns="0" tIns="0" rIns="0" bIns="0" rtlCol="0" anchor="ctr"/>
          <a:lstStyle/>
          <a:p>
            <a:pPr indent="0" marL="0">
              <a:buNone/>
            </a:pPr>
            <a:r>
              <a:rPr lang="en-US" sz="1600" b="1" dirty="0">
                <a:solidFill>
                  <a:srgbClr val="1F2A44"/>
                </a:solidFill>
                <a:latin typeface="Calibri" pitchFamily="34" charset="0"/>
                <a:ea typeface="Calibri" pitchFamily="34" charset="-122"/>
                <a:cs typeface="Calibri" pitchFamily="34" charset="-120"/>
              </a:rPr>
              <a:t>Sürücüye üç seçenek sunulur:</a:t>
            </a:r>
            <a:endParaRPr lang="en-US" sz="1600" dirty="0"/>
          </a:p>
        </p:txBody>
      </p:sp>
      <p:sp>
        <p:nvSpPr>
          <p:cNvPr id="9" name="Shape 7"/>
          <p:cNvSpPr/>
          <p:nvPr/>
        </p:nvSpPr>
        <p:spPr>
          <a:xfrm>
            <a:off x="822960" y="3383280"/>
            <a:ext cx="1508760" cy="731520"/>
          </a:xfrm>
          <a:prstGeom prst="roundRect">
            <a:avLst>
              <a:gd name="adj" fmla="val 12500"/>
            </a:avLst>
          </a:prstGeom>
          <a:solidFill>
            <a:srgbClr val="1A9E77"/>
          </a:solidFill>
          <a:ln w="12700">
            <a:solidFill>
              <a:srgbClr val="1A9E77"/>
            </a:solidFill>
            <a:prstDash val="solid"/>
          </a:ln>
        </p:spPr>
      </p:sp>
      <p:sp>
        <p:nvSpPr>
          <p:cNvPr id="10" name="Text 8"/>
          <p:cNvSpPr txBox="1"/>
          <p:nvPr/>
        </p:nvSpPr>
        <p:spPr>
          <a:xfrm>
            <a:off x="914400" y="3383280"/>
            <a:ext cx="1325880" cy="7315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Verimlilik odaklı</a:t>
            </a:r>
            <a:endParaRPr lang="en-US" sz="1500" dirty="0"/>
          </a:p>
        </p:txBody>
      </p:sp>
      <p:sp>
        <p:nvSpPr>
          <p:cNvPr id="11" name="Shape 9"/>
          <p:cNvSpPr/>
          <p:nvPr/>
        </p:nvSpPr>
        <p:spPr>
          <a:xfrm>
            <a:off x="2468880" y="3383280"/>
            <a:ext cx="1508760" cy="731520"/>
          </a:xfrm>
          <a:prstGeom prst="roundRect">
            <a:avLst>
              <a:gd name="adj" fmla="val 12500"/>
            </a:avLst>
          </a:prstGeom>
          <a:solidFill>
            <a:srgbClr val="1F2A44"/>
          </a:solidFill>
          <a:ln w="12700">
            <a:solidFill>
              <a:srgbClr val="1F2A44"/>
            </a:solidFill>
            <a:prstDash val="solid"/>
          </a:ln>
        </p:spPr>
      </p:sp>
      <p:sp>
        <p:nvSpPr>
          <p:cNvPr id="12" name="Text 10"/>
          <p:cNvSpPr txBox="1"/>
          <p:nvPr/>
        </p:nvSpPr>
        <p:spPr>
          <a:xfrm>
            <a:off x="2560320" y="3383280"/>
            <a:ext cx="1325880" cy="7315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Dengeli</a:t>
            </a:r>
            <a:endParaRPr lang="en-US" sz="1500" dirty="0"/>
          </a:p>
        </p:txBody>
      </p:sp>
      <p:sp>
        <p:nvSpPr>
          <p:cNvPr id="13" name="Shape 11"/>
          <p:cNvSpPr/>
          <p:nvPr/>
        </p:nvSpPr>
        <p:spPr>
          <a:xfrm>
            <a:off x="4114800" y="3383280"/>
            <a:ext cx="1508760" cy="731520"/>
          </a:xfrm>
          <a:prstGeom prst="roundRect">
            <a:avLst>
              <a:gd name="adj" fmla="val 12500"/>
            </a:avLst>
          </a:prstGeom>
          <a:solidFill>
            <a:srgbClr val="D9572B"/>
          </a:solidFill>
          <a:ln w="12700">
            <a:solidFill>
              <a:srgbClr val="D9572B"/>
            </a:solidFill>
            <a:prstDash val="solid"/>
          </a:ln>
        </p:spPr>
      </p:sp>
      <p:sp>
        <p:nvSpPr>
          <p:cNvPr id="14" name="Text 12"/>
          <p:cNvSpPr txBox="1"/>
          <p:nvPr/>
        </p:nvSpPr>
        <p:spPr>
          <a:xfrm>
            <a:off x="4206240" y="3383280"/>
            <a:ext cx="1325880" cy="7315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Konfor odaklı</a:t>
            </a:r>
            <a:endParaRPr lang="en-US" sz="1500" dirty="0"/>
          </a:p>
        </p:txBody>
      </p:sp>
      <p:sp>
        <p:nvSpPr>
          <p:cNvPr id="15" name="Text 13"/>
          <p:cNvSpPr txBox="1"/>
          <p:nvPr/>
        </p:nvSpPr>
        <p:spPr>
          <a:xfrm>
            <a:off x="822960" y="4343400"/>
            <a:ext cx="1371600" cy="411480"/>
          </a:xfrm>
          <a:prstGeom prst="rect">
            <a:avLst/>
          </a:prstGeom>
          <a:noFill/>
          <a:ln/>
        </p:spPr>
        <p:txBody>
          <a:bodyPr wrap="square" lIns="0" tIns="0" rIns="0" bIns="0" rtlCol="0" anchor="ctr"/>
          <a:lstStyle/>
          <a:p>
            <a:pPr indent="0" marL="0">
              <a:buNone/>
            </a:pPr>
            <a:r>
              <a:rPr lang="en-US" sz="1600" b="1" dirty="0">
                <a:solidFill>
                  <a:srgbClr val="1A9E77"/>
                </a:solidFill>
                <a:latin typeface="Calibri" pitchFamily="34" charset="0"/>
                <a:ea typeface="Calibri" pitchFamily="34" charset="-122"/>
                <a:cs typeface="Calibri" pitchFamily="34" charset="-120"/>
              </a:rPr>
              <a:t>Düşük CLS</a:t>
            </a:r>
            <a:endParaRPr lang="en-US" sz="1600" dirty="0"/>
          </a:p>
        </p:txBody>
      </p:sp>
      <p:sp>
        <p:nvSpPr>
          <p:cNvPr id="16" name="Shape 14"/>
          <p:cNvSpPr/>
          <p:nvPr/>
        </p:nvSpPr>
        <p:spPr>
          <a:xfrm>
            <a:off x="2240280" y="4549140"/>
            <a:ext cx="457200" cy="0"/>
          </a:xfrm>
          <a:prstGeom prst="line">
            <a:avLst/>
          </a:prstGeom>
          <a:noFill/>
          <a:ln w="25400">
            <a:solidFill>
              <a:srgbClr val="5B6577"/>
            </a:solidFill>
            <a:prstDash val="solid"/>
            <a:tailEnd type="triangle"/>
          </a:ln>
        </p:spPr>
      </p:sp>
      <p:sp>
        <p:nvSpPr>
          <p:cNvPr id="17" name="Text 15"/>
          <p:cNvSpPr txBox="1"/>
          <p:nvPr/>
        </p:nvSpPr>
        <p:spPr>
          <a:xfrm>
            <a:off x="2834640" y="4343400"/>
            <a:ext cx="2788920" cy="411480"/>
          </a:xfrm>
          <a:prstGeom prst="rect">
            <a:avLst/>
          </a:prstGeom>
          <a:noFill/>
          <a:ln/>
        </p:spPr>
        <p:txBody>
          <a:bodyPr wrap="square" lIns="0" tIns="0" rIns="0" bIns="0" rtlCol="0" anchor="ctr"/>
          <a:lstStyle/>
          <a:p>
            <a:pPr indent="0" marL="0">
              <a:buNone/>
            </a:pPr>
            <a:r>
              <a:rPr lang="en-US" sz="1600" dirty="0">
                <a:solidFill>
                  <a:srgbClr val="1E2533"/>
                </a:solidFill>
                <a:latin typeface="Calibri" pitchFamily="34" charset="0"/>
                <a:ea typeface="Calibri" pitchFamily="34" charset="-122"/>
                <a:cs typeface="Calibri" pitchFamily="34" charset="-120"/>
              </a:rPr>
              <a:t>enerji ve süre öncelikli</a:t>
            </a:r>
            <a:endParaRPr lang="en-US" sz="1600" dirty="0"/>
          </a:p>
        </p:txBody>
      </p:sp>
      <p:sp>
        <p:nvSpPr>
          <p:cNvPr id="18" name="Text 16"/>
          <p:cNvSpPr txBox="1"/>
          <p:nvPr/>
        </p:nvSpPr>
        <p:spPr>
          <a:xfrm>
            <a:off x="822960" y="4892040"/>
            <a:ext cx="1371600" cy="411480"/>
          </a:xfrm>
          <a:prstGeom prst="rect">
            <a:avLst/>
          </a:prstGeom>
          <a:noFill/>
          <a:ln/>
        </p:spPr>
        <p:txBody>
          <a:bodyPr wrap="square" lIns="0" tIns="0" rIns="0" bIns="0" rtlCol="0" anchor="ctr"/>
          <a:lstStyle/>
          <a:p>
            <a:pPr indent="0" marL="0">
              <a:buNone/>
            </a:pPr>
            <a:r>
              <a:rPr lang="en-US" sz="1600" b="1" dirty="0">
                <a:solidFill>
                  <a:srgbClr val="D9572B"/>
                </a:solidFill>
                <a:latin typeface="Calibri" pitchFamily="34" charset="0"/>
                <a:ea typeface="Calibri" pitchFamily="34" charset="-122"/>
                <a:cs typeface="Calibri" pitchFamily="34" charset="-120"/>
              </a:rPr>
              <a:t>Yüksek CLS</a:t>
            </a:r>
            <a:endParaRPr lang="en-US" sz="1600" dirty="0"/>
          </a:p>
        </p:txBody>
      </p:sp>
      <p:sp>
        <p:nvSpPr>
          <p:cNvPr id="19" name="Shape 17"/>
          <p:cNvSpPr/>
          <p:nvPr/>
        </p:nvSpPr>
        <p:spPr>
          <a:xfrm>
            <a:off x="2240280" y="5097780"/>
            <a:ext cx="457200" cy="0"/>
          </a:xfrm>
          <a:prstGeom prst="line">
            <a:avLst/>
          </a:prstGeom>
          <a:noFill/>
          <a:ln w="25400">
            <a:solidFill>
              <a:srgbClr val="5B6577"/>
            </a:solidFill>
            <a:prstDash val="solid"/>
            <a:tailEnd type="triangle"/>
          </a:ln>
        </p:spPr>
      </p:sp>
      <p:sp>
        <p:nvSpPr>
          <p:cNvPr id="20" name="Text 18"/>
          <p:cNvSpPr txBox="1"/>
          <p:nvPr/>
        </p:nvSpPr>
        <p:spPr>
          <a:xfrm>
            <a:off x="2834640" y="4892040"/>
            <a:ext cx="2788920" cy="411480"/>
          </a:xfrm>
          <a:prstGeom prst="rect">
            <a:avLst/>
          </a:prstGeom>
          <a:noFill/>
          <a:ln/>
        </p:spPr>
        <p:txBody>
          <a:bodyPr wrap="square" lIns="0" tIns="0" rIns="0" bIns="0" rtlCol="0" anchor="ctr"/>
          <a:lstStyle/>
          <a:p>
            <a:pPr indent="0" marL="0">
              <a:buNone/>
            </a:pPr>
            <a:r>
              <a:rPr lang="en-US" sz="1600" dirty="0">
                <a:solidFill>
                  <a:srgbClr val="1E2533"/>
                </a:solidFill>
                <a:latin typeface="Calibri" pitchFamily="34" charset="0"/>
                <a:ea typeface="Calibri" pitchFamily="34" charset="-122"/>
                <a:cs typeface="Calibri" pitchFamily="34" charset="-120"/>
              </a:rPr>
              <a:t>konfor öncelikli</a:t>
            </a:r>
            <a:endParaRPr lang="en-US" sz="1600" dirty="0"/>
          </a:p>
        </p:txBody>
      </p:sp>
      <p:sp>
        <p:nvSpPr>
          <p:cNvPr id="21" name="Text 19"/>
          <p:cNvSpPr txBox="1"/>
          <p:nvPr/>
        </p:nvSpPr>
        <p:spPr>
          <a:xfrm>
            <a:off x="822960" y="5532120"/>
            <a:ext cx="4800600" cy="411480"/>
          </a:xfrm>
          <a:prstGeom prst="rect">
            <a:avLst/>
          </a:prstGeom>
          <a:noFill/>
          <a:ln/>
        </p:spPr>
        <p:txBody>
          <a:bodyPr wrap="square" lIns="0" tIns="0" rIns="0" bIns="0" rtlCol="0" anchor="ctr"/>
          <a:lstStyle/>
          <a:p>
            <a:pPr indent="0" marL="0">
              <a:buNone/>
            </a:pPr>
            <a:r>
              <a:rPr lang="en-US" sz="1500" dirty="0">
                <a:solidFill>
                  <a:srgbClr val="5B6577"/>
                </a:solidFill>
                <a:latin typeface="Calibri" pitchFamily="34" charset="0"/>
                <a:ea typeface="Calibri" pitchFamily="34" charset="-122"/>
                <a:cs typeface="Calibri" pitchFamily="34" charset="-120"/>
              </a:rPr>
              <a:t>Ağırlıklı skoru en iyi olan seçenek etkinleşir.</a:t>
            </a:r>
            <a:endParaRPr lang="en-US" sz="1500" dirty="0"/>
          </a:p>
        </p:txBody>
      </p:sp>
      <p:sp>
        <p:nvSpPr>
          <p:cNvPr id="22" name="Shape 20"/>
          <p:cNvSpPr/>
          <p:nvPr/>
        </p:nvSpPr>
        <p:spPr>
          <a:xfrm>
            <a:off x="6291072" y="1600200"/>
            <a:ext cx="5349240" cy="4526280"/>
          </a:xfrm>
          <a:prstGeom prst="roundRect">
            <a:avLst>
              <a:gd name="adj" fmla="val 2424"/>
            </a:avLst>
          </a:prstGeom>
          <a:solidFill>
            <a:srgbClr val="EEF2F7"/>
          </a:solidFill>
          <a:ln w="12700">
            <a:solidFill>
              <a:srgbClr val="EEF2F7"/>
            </a:solidFill>
            <a:prstDash val="solid"/>
          </a:ln>
        </p:spPr>
      </p:sp>
      <p:sp>
        <p:nvSpPr>
          <p:cNvPr id="23" name="Text 21"/>
          <p:cNvSpPr txBox="1"/>
          <p:nvPr/>
        </p:nvSpPr>
        <p:spPr>
          <a:xfrm>
            <a:off x="6565392" y="1737360"/>
            <a:ext cx="4800600" cy="411480"/>
          </a:xfrm>
          <a:prstGeom prst="rect">
            <a:avLst/>
          </a:prstGeom>
          <a:noFill/>
          <a:ln/>
        </p:spPr>
        <p:txBody>
          <a:bodyPr wrap="square" lIns="0" tIns="0" rIns="0" bIns="0" rtlCol="0" anchor="ctr"/>
          <a:lstStyle/>
          <a:p>
            <a:pPr indent="0" marL="0">
              <a:buNone/>
            </a:pPr>
            <a:r>
              <a:rPr lang="en-US" sz="1900" b="1" dirty="0">
                <a:solidFill>
                  <a:srgbClr val="1F2A44"/>
                </a:solidFill>
                <a:latin typeface="Calibri" pitchFamily="34" charset="0"/>
                <a:ea typeface="Calibri" pitchFamily="34" charset="-122"/>
                <a:cs typeface="Calibri" pitchFamily="34" charset="-120"/>
              </a:rPr>
              <a:t>Q-Learning [9]</a:t>
            </a:r>
            <a:endParaRPr lang="en-US" sz="1900" dirty="0"/>
          </a:p>
        </p:txBody>
      </p:sp>
      <p:sp>
        <p:nvSpPr>
          <p:cNvPr id="24" name="Shape 22"/>
          <p:cNvSpPr/>
          <p:nvPr/>
        </p:nvSpPr>
        <p:spPr>
          <a:xfrm>
            <a:off x="6611112" y="2377440"/>
            <a:ext cx="2148840" cy="1097280"/>
          </a:xfrm>
          <a:prstGeom prst="roundRect">
            <a:avLst>
              <a:gd name="adj" fmla="val 8333"/>
            </a:avLst>
          </a:prstGeom>
          <a:solidFill>
            <a:srgbClr val="FFFFFF"/>
          </a:solidFill>
          <a:ln w="19050">
            <a:solidFill>
              <a:srgbClr val="D9572B"/>
            </a:solidFill>
            <a:prstDash val="solid"/>
          </a:ln>
        </p:spPr>
      </p:sp>
      <p:sp>
        <p:nvSpPr>
          <p:cNvPr id="25" name="Text 23"/>
          <p:cNvSpPr txBox="1"/>
          <p:nvPr/>
        </p:nvSpPr>
        <p:spPr>
          <a:xfrm>
            <a:off x="6684264" y="2377440"/>
            <a:ext cx="2002536" cy="1097280"/>
          </a:xfrm>
          <a:prstGeom prst="rect">
            <a:avLst/>
          </a:prstGeom>
          <a:noFill/>
          <a:ln/>
        </p:spPr>
        <p:txBody>
          <a:bodyPr wrap="square" lIns="0" tIns="0" rIns="0" bIns="0" rtlCol="0" anchor="ctr"/>
          <a:lstStyle/>
          <a:p>
            <a:pPr algn="ctr" indent="0" marL="0">
              <a:buNone/>
            </a:pPr>
            <a:r>
              <a:rPr lang="en-US" sz="1700" b="1" dirty="0">
                <a:solidFill>
                  <a:srgbClr val="1F2A44"/>
                </a:solidFill>
                <a:latin typeface="Calibri" pitchFamily="34" charset="0"/>
                <a:ea typeface="Calibri" pitchFamily="34" charset="-122"/>
                <a:cs typeface="Calibri" pitchFamily="34" charset="-120"/>
              </a:rPr>
              <a:t>Durum</a:t>
            </a:r>
            <a:endParaRPr lang="en-US" sz="1700" dirty="0"/>
          </a:p>
          <a:p>
            <a:pPr algn="ctr" indent="0" marL="0">
              <a:buNone/>
            </a:pPr>
            <a:r>
              <a:rPr lang="en-US" sz="1300" dirty="0">
                <a:solidFill>
                  <a:srgbClr val="5B6577"/>
                </a:solidFill>
                <a:latin typeface="Calibri" pitchFamily="34" charset="0"/>
                <a:ea typeface="Calibri" pitchFamily="34" charset="-122"/>
                <a:cs typeface="Calibri" pitchFamily="34" charset="-120"/>
              </a:rPr>
              <a:t>CLS · SoC · trafik · rota tipi</a:t>
            </a:r>
            <a:endParaRPr lang="en-US" sz="1700" dirty="0"/>
          </a:p>
        </p:txBody>
      </p:sp>
      <p:sp>
        <p:nvSpPr>
          <p:cNvPr id="26" name="Shape 24"/>
          <p:cNvSpPr/>
          <p:nvPr/>
        </p:nvSpPr>
        <p:spPr>
          <a:xfrm>
            <a:off x="9171432" y="2377440"/>
            <a:ext cx="2148840" cy="1097280"/>
          </a:xfrm>
          <a:prstGeom prst="roundRect">
            <a:avLst>
              <a:gd name="adj" fmla="val 8333"/>
            </a:avLst>
          </a:prstGeom>
          <a:solidFill>
            <a:srgbClr val="FFFFFF"/>
          </a:solidFill>
          <a:ln w="19050">
            <a:solidFill>
              <a:srgbClr val="D9572B"/>
            </a:solidFill>
            <a:prstDash val="solid"/>
          </a:ln>
        </p:spPr>
      </p:sp>
      <p:sp>
        <p:nvSpPr>
          <p:cNvPr id="27" name="Text 25"/>
          <p:cNvSpPr txBox="1"/>
          <p:nvPr/>
        </p:nvSpPr>
        <p:spPr>
          <a:xfrm>
            <a:off x="9244584" y="2377440"/>
            <a:ext cx="2002536" cy="1097280"/>
          </a:xfrm>
          <a:prstGeom prst="rect">
            <a:avLst/>
          </a:prstGeom>
          <a:noFill/>
          <a:ln/>
        </p:spPr>
        <p:txBody>
          <a:bodyPr wrap="square" lIns="0" tIns="0" rIns="0" bIns="0" rtlCol="0" anchor="ctr"/>
          <a:lstStyle/>
          <a:p>
            <a:pPr algn="ctr" indent="0" marL="0">
              <a:buNone/>
            </a:pPr>
            <a:r>
              <a:rPr lang="en-US" sz="1700" b="1" dirty="0">
                <a:solidFill>
                  <a:srgbClr val="1F2A44"/>
                </a:solidFill>
                <a:latin typeface="Calibri" pitchFamily="34" charset="0"/>
                <a:ea typeface="Calibri" pitchFamily="34" charset="-122"/>
                <a:cs typeface="Calibri" pitchFamily="34" charset="-120"/>
              </a:rPr>
              <a:t>Eylem</a:t>
            </a:r>
            <a:endParaRPr lang="en-US" sz="1700" dirty="0"/>
          </a:p>
          <a:p>
            <a:pPr algn="ctr" indent="0" marL="0">
              <a:buNone/>
            </a:pPr>
            <a:r>
              <a:rPr lang="en-US" sz="1300" dirty="0">
                <a:solidFill>
                  <a:srgbClr val="5B6577"/>
                </a:solidFill>
                <a:latin typeface="Calibri" pitchFamily="34" charset="0"/>
                <a:ea typeface="Calibri" pitchFamily="34" charset="-122"/>
                <a:cs typeface="Calibri" pitchFamily="34" charset="-120"/>
              </a:rPr>
              <a:t>Verimlilik · Dengeli · Konfor</a:t>
            </a:r>
            <a:endParaRPr lang="en-US" sz="1700" dirty="0"/>
          </a:p>
        </p:txBody>
      </p:sp>
      <p:sp>
        <p:nvSpPr>
          <p:cNvPr id="28" name="Shape 26"/>
          <p:cNvSpPr/>
          <p:nvPr/>
        </p:nvSpPr>
        <p:spPr>
          <a:xfrm>
            <a:off x="9171432" y="4114800"/>
            <a:ext cx="2148840" cy="1097280"/>
          </a:xfrm>
          <a:prstGeom prst="roundRect">
            <a:avLst>
              <a:gd name="adj" fmla="val 8333"/>
            </a:avLst>
          </a:prstGeom>
          <a:solidFill>
            <a:srgbClr val="FFFFFF"/>
          </a:solidFill>
          <a:ln w="19050">
            <a:solidFill>
              <a:srgbClr val="D9572B"/>
            </a:solidFill>
            <a:prstDash val="solid"/>
          </a:ln>
        </p:spPr>
      </p:sp>
      <p:sp>
        <p:nvSpPr>
          <p:cNvPr id="29" name="Text 27"/>
          <p:cNvSpPr txBox="1"/>
          <p:nvPr/>
        </p:nvSpPr>
        <p:spPr>
          <a:xfrm>
            <a:off x="9244584" y="4114800"/>
            <a:ext cx="2002536" cy="1097280"/>
          </a:xfrm>
          <a:prstGeom prst="rect">
            <a:avLst/>
          </a:prstGeom>
          <a:noFill/>
          <a:ln/>
        </p:spPr>
        <p:txBody>
          <a:bodyPr wrap="square" lIns="0" tIns="0" rIns="0" bIns="0" rtlCol="0" anchor="ctr"/>
          <a:lstStyle/>
          <a:p>
            <a:pPr algn="ctr" indent="0" marL="0">
              <a:buNone/>
            </a:pPr>
            <a:r>
              <a:rPr lang="en-US" sz="1700" b="1" dirty="0">
                <a:solidFill>
                  <a:srgbClr val="1F2A44"/>
                </a:solidFill>
                <a:latin typeface="Calibri" pitchFamily="34" charset="0"/>
                <a:ea typeface="Calibri" pitchFamily="34" charset="-122"/>
                <a:cs typeface="Calibri" pitchFamily="34" charset="-120"/>
              </a:rPr>
              <a:t>Ödül</a:t>
            </a:r>
            <a:endParaRPr lang="en-US" sz="1700" dirty="0"/>
          </a:p>
          <a:p>
            <a:pPr algn="ctr" indent="0" marL="0">
              <a:buNone/>
            </a:pPr>
            <a:r>
              <a:rPr lang="en-US" sz="1300" dirty="0">
                <a:solidFill>
                  <a:srgbClr val="5B6577"/>
                </a:solidFill>
                <a:latin typeface="Calibri" pitchFamily="34" charset="0"/>
                <a:ea typeface="Calibri" pitchFamily="34" charset="-122"/>
                <a:cs typeface="Calibri" pitchFamily="34" charset="-120"/>
              </a:rPr>
              <a:t>memnuniyet + konfor − gecikme</a:t>
            </a:r>
            <a:endParaRPr lang="en-US" sz="1700" dirty="0"/>
          </a:p>
        </p:txBody>
      </p:sp>
      <p:sp>
        <p:nvSpPr>
          <p:cNvPr id="30" name="Shape 28"/>
          <p:cNvSpPr/>
          <p:nvPr/>
        </p:nvSpPr>
        <p:spPr>
          <a:xfrm>
            <a:off x="6611112" y="4114800"/>
            <a:ext cx="2148840" cy="1097280"/>
          </a:xfrm>
          <a:prstGeom prst="roundRect">
            <a:avLst>
              <a:gd name="adj" fmla="val 8333"/>
            </a:avLst>
          </a:prstGeom>
          <a:solidFill>
            <a:srgbClr val="FFFFFF"/>
          </a:solidFill>
          <a:ln w="19050">
            <a:solidFill>
              <a:srgbClr val="D9572B"/>
            </a:solidFill>
            <a:prstDash val="solid"/>
          </a:ln>
        </p:spPr>
      </p:sp>
      <p:sp>
        <p:nvSpPr>
          <p:cNvPr id="31" name="Text 29"/>
          <p:cNvSpPr txBox="1"/>
          <p:nvPr/>
        </p:nvSpPr>
        <p:spPr>
          <a:xfrm>
            <a:off x="6684264" y="4114800"/>
            <a:ext cx="2002536" cy="1097280"/>
          </a:xfrm>
          <a:prstGeom prst="rect">
            <a:avLst/>
          </a:prstGeom>
          <a:noFill/>
          <a:ln/>
        </p:spPr>
        <p:txBody>
          <a:bodyPr wrap="square" lIns="0" tIns="0" rIns="0" bIns="0" rtlCol="0" anchor="ctr"/>
          <a:lstStyle/>
          <a:p>
            <a:pPr algn="ctr" indent="0" marL="0">
              <a:buNone/>
            </a:pPr>
            <a:r>
              <a:rPr lang="en-US" sz="1700" b="1" dirty="0">
                <a:solidFill>
                  <a:srgbClr val="1F2A44"/>
                </a:solidFill>
                <a:latin typeface="Calibri" pitchFamily="34" charset="0"/>
                <a:ea typeface="Calibri" pitchFamily="34" charset="-122"/>
                <a:cs typeface="Calibri" pitchFamily="34" charset="-120"/>
              </a:rPr>
              <a:t>Güncelleme</a:t>
            </a:r>
            <a:endParaRPr lang="en-US" sz="1700" dirty="0"/>
          </a:p>
          <a:p>
            <a:pPr algn="ctr" indent="0" marL="0">
              <a:buNone/>
            </a:pPr>
            <a:r>
              <a:rPr lang="en-US" sz="1300" dirty="0">
                <a:solidFill>
                  <a:srgbClr val="5B6577"/>
                </a:solidFill>
                <a:latin typeface="Calibri" pitchFamily="34" charset="0"/>
                <a:ea typeface="Calibri" pitchFamily="34" charset="-122"/>
                <a:cs typeface="Calibri" pitchFamily="34" charset="-120"/>
              </a:rPr>
              <a:t>Q-değerleri güncellenir</a:t>
            </a:r>
            <a:endParaRPr lang="en-US" sz="1700" dirty="0"/>
          </a:p>
        </p:txBody>
      </p:sp>
      <p:sp>
        <p:nvSpPr>
          <p:cNvPr id="32" name="Shape 30"/>
          <p:cNvSpPr/>
          <p:nvPr/>
        </p:nvSpPr>
        <p:spPr>
          <a:xfrm>
            <a:off x="8805672" y="2926080"/>
            <a:ext cx="320040" cy="0"/>
          </a:xfrm>
          <a:prstGeom prst="line">
            <a:avLst/>
          </a:prstGeom>
          <a:noFill/>
          <a:ln w="25400">
            <a:solidFill>
              <a:srgbClr val="D9572B"/>
            </a:solidFill>
            <a:prstDash val="solid"/>
            <a:tailEnd type="triangle"/>
          </a:ln>
        </p:spPr>
      </p:sp>
      <p:sp>
        <p:nvSpPr>
          <p:cNvPr id="33" name="Shape 31"/>
          <p:cNvSpPr/>
          <p:nvPr/>
        </p:nvSpPr>
        <p:spPr>
          <a:xfrm>
            <a:off x="10245852" y="3520440"/>
            <a:ext cx="0" cy="548640"/>
          </a:xfrm>
          <a:prstGeom prst="line">
            <a:avLst/>
          </a:prstGeom>
          <a:noFill/>
          <a:ln w="25400">
            <a:solidFill>
              <a:srgbClr val="D9572B"/>
            </a:solidFill>
            <a:prstDash val="solid"/>
            <a:tailEnd type="triangle"/>
          </a:ln>
        </p:spPr>
      </p:sp>
      <p:sp>
        <p:nvSpPr>
          <p:cNvPr id="34" name="Shape 32"/>
          <p:cNvSpPr/>
          <p:nvPr/>
        </p:nvSpPr>
        <p:spPr>
          <a:xfrm flipH="1">
            <a:off x="8805672" y="4663440"/>
            <a:ext cx="320040" cy="0"/>
          </a:xfrm>
          <a:prstGeom prst="line">
            <a:avLst/>
          </a:prstGeom>
          <a:noFill/>
          <a:ln w="25400">
            <a:solidFill>
              <a:srgbClr val="D9572B"/>
            </a:solidFill>
            <a:prstDash val="solid"/>
            <a:tailEnd type="triangle"/>
          </a:ln>
        </p:spPr>
      </p:sp>
      <p:sp>
        <p:nvSpPr>
          <p:cNvPr id="35" name="Shape 33"/>
          <p:cNvSpPr/>
          <p:nvPr/>
        </p:nvSpPr>
        <p:spPr>
          <a:xfrm flipV="1">
            <a:off x="7685532" y="3520440"/>
            <a:ext cx="0" cy="548640"/>
          </a:xfrm>
          <a:prstGeom prst="line">
            <a:avLst/>
          </a:prstGeom>
          <a:noFill/>
          <a:ln w="25400">
            <a:solidFill>
              <a:srgbClr val="D9572B"/>
            </a:solidFill>
            <a:prstDash val="solid"/>
            <a:tailEnd type="triangle"/>
          </a:ln>
        </p:spPr>
      </p:sp>
      <p:sp>
        <p:nvSpPr>
          <p:cNvPr id="36" name="Text 34"/>
          <p:cNvSpPr txBox="1"/>
          <p:nvPr/>
        </p:nvSpPr>
        <p:spPr>
          <a:xfrm>
            <a:off x="6565392" y="5623560"/>
            <a:ext cx="4800600" cy="365760"/>
          </a:xfrm>
          <a:prstGeom prst="rect">
            <a:avLst/>
          </a:prstGeom>
          <a:noFill/>
          <a:ln/>
        </p:spPr>
        <p:txBody>
          <a:bodyPr wrap="square" lIns="0" tIns="0" rIns="0" bIns="0" rtlCol="0" anchor="ctr"/>
          <a:lstStyle/>
          <a:p>
            <a:pPr indent="0" marL="0">
              <a:buNone/>
            </a:pPr>
            <a:r>
              <a:rPr lang="en-US" sz="1500" dirty="0">
                <a:solidFill>
                  <a:srgbClr val="5B6577"/>
                </a:solidFill>
                <a:latin typeface="Calibri" pitchFamily="34" charset="0"/>
                <a:ea typeface="Calibri" pitchFamily="34" charset="-122"/>
                <a:cs typeface="Calibri" pitchFamily="34" charset="-120"/>
              </a:rPr>
              <a:t>Sentetik kullanıcı modeli üzerinde eğitilir</a:t>
            </a:r>
            <a:endParaRPr lang="en-US" sz="15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3A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640080"/>
          </a:xfrm>
          <a:prstGeom prst="rect">
            <a:avLst/>
          </a:prstGeom>
          <a:noFill/>
          <a:ln/>
        </p:spPr>
        <p:txBody>
          <a:bodyPr wrap="square" lIns="0" tIns="0" rIns="0" bIns="0" rtlCol="0" anchor="ctr"/>
          <a:lstStyle/>
          <a:p>
            <a:pPr indent="0" marL="0">
              <a:buNone/>
            </a:pPr>
            <a:r>
              <a:rPr lang="en-US" sz="3200" b="1" dirty="0">
                <a:solidFill>
                  <a:srgbClr val="1F2A44"/>
                </a:solidFill>
                <a:latin typeface="Calibri" pitchFamily="34" charset="0"/>
                <a:ea typeface="Calibri" pitchFamily="34" charset="-122"/>
                <a:cs typeface="Calibri" pitchFamily="34" charset="-120"/>
              </a:rPr>
              <a:t>Deney Düzeni</a:t>
            </a:r>
            <a:endParaRPr lang="en-US" sz="3200" dirty="0"/>
          </a:p>
        </p:txBody>
      </p:sp>
      <p:sp>
        <p:nvSpPr>
          <p:cNvPr id="3" name="Text 1"/>
          <p:cNvSpPr txBox="1"/>
          <p:nvPr/>
        </p:nvSpPr>
        <p:spPr>
          <a:xfrm>
            <a:off x="548640" y="960120"/>
            <a:ext cx="11094415" cy="411480"/>
          </a:xfrm>
          <a:prstGeom prst="rect">
            <a:avLst/>
          </a:prstGeom>
          <a:noFill/>
          <a:ln/>
        </p:spPr>
        <p:txBody>
          <a:bodyPr wrap="square" lIns="0" tIns="0" rIns="0" bIns="0" rtlCol="0" anchor="ctr"/>
          <a:lstStyle/>
          <a:p>
            <a:pPr indent="0" marL="0">
              <a:buNone/>
            </a:pPr>
            <a:r>
              <a:rPr lang="en-US" sz="1900" dirty="0">
                <a:solidFill>
                  <a:srgbClr val="5B6577"/>
                </a:solidFill>
                <a:latin typeface="Calibri" pitchFamily="34" charset="0"/>
                <a:ea typeface="Calibri" pitchFamily="34" charset="-122"/>
                <a:cs typeface="Calibri" pitchFamily="34" charset="-120"/>
              </a:rPr>
              <a:t>Ankara'nın OpenStreetMap tabanlı yol ağında benzetim</a:t>
            </a:r>
            <a:endParaRPr lang="en-US" sz="1900" dirty="0"/>
          </a:p>
        </p:txBody>
      </p:sp>
      <p:sp>
        <p:nvSpPr>
          <p:cNvPr id="4"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100" dirty="0">
                <a:solidFill>
                  <a:srgbClr val="8A93A3"/>
                </a:solidFill>
                <a:latin typeface="Calibri" pitchFamily="34" charset="0"/>
                <a:ea typeface="Calibri" pitchFamily="34" charset="-122"/>
                <a:cs typeface="Calibri" pitchFamily="34" charset="-120"/>
              </a:rPr>
              <a:t>TOK 2026 · Yiğit &amp; Erkan · Beykoz Üniversitesi</a:t>
            </a:r>
            <a:endParaRPr lang="en-US" sz="1100" dirty="0"/>
          </a:p>
        </p:txBody>
      </p:sp>
      <p:sp>
        <p:nvSpPr>
          <p:cNvPr id="5" name="Shape 3"/>
          <p:cNvSpPr/>
          <p:nvPr/>
        </p:nvSpPr>
        <p:spPr>
          <a:xfrm>
            <a:off x="548640" y="1645920"/>
            <a:ext cx="2540432" cy="1920240"/>
          </a:xfrm>
          <a:prstGeom prst="roundRect">
            <a:avLst>
              <a:gd name="adj" fmla="val 5714"/>
            </a:avLst>
          </a:prstGeom>
          <a:solidFill>
            <a:srgbClr val="EEF2F7"/>
          </a:solidFill>
          <a:ln w="12700">
            <a:solidFill>
              <a:srgbClr val="EEF2F7"/>
            </a:solidFill>
            <a:prstDash val="solid"/>
          </a:ln>
        </p:spPr>
      </p:sp>
      <p:sp>
        <p:nvSpPr>
          <p:cNvPr id="6" name="Text 4"/>
          <p:cNvSpPr txBox="1"/>
          <p:nvPr/>
        </p:nvSpPr>
        <p:spPr>
          <a:xfrm>
            <a:off x="548640" y="1828800"/>
            <a:ext cx="2540432" cy="1005840"/>
          </a:xfrm>
          <a:prstGeom prst="rect">
            <a:avLst/>
          </a:prstGeom>
          <a:noFill/>
          <a:ln/>
        </p:spPr>
        <p:txBody>
          <a:bodyPr wrap="square" lIns="0" tIns="0" rIns="0" bIns="0" rtlCol="0" anchor="ctr"/>
          <a:lstStyle/>
          <a:p>
            <a:pPr algn="ctr" indent="0" marL="0">
              <a:buNone/>
            </a:pPr>
            <a:r>
              <a:rPr lang="en-US" sz="6000" b="1" dirty="0">
                <a:solidFill>
                  <a:srgbClr val="1A9E77"/>
                </a:solidFill>
                <a:latin typeface="Calibri" pitchFamily="34" charset="0"/>
                <a:ea typeface="Calibri" pitchFamily="34" charset="-122"/>
                <a:cs typeface="Calibri" pitchFamily="34" charset="-120"/>
              </a:rPr>
              <a:t>50</a:t>
            </a:r>
            <a:endParaRPr lang="en-US" sz="6000" dirty="0"/>
          </a:p>
        </p:txBody>
      </p:sp>
      <p:sp>
        <p:nvSpPr>
          <p:cNvPr id="7" name="Text 5"/>
          <p:cNvSpPr txBox="1"/>
          <p:nvPr/>
        </p:nvSpPr>
        <p:spPr>
          <a:xfrm>
            <a:off x="685800" y="2880360"/>
            <a:ext cx="2266112" cy="548640"/>
          </a:xfrm>
          <a:prstGeom prst="rect">
            <a:avLst/>
          </a:prstGeom>
          <a:noFill/>
          <a:ln/>
        </p:spPr>
        <p:txBody>
          <a:bodyPr wrap="square" lIns="0" tIns="0" rIns="0" bIns="0" rtlCol="0" anchor="t"/>
          <a:lstStyle/>
          <a:p>
            <a:pPr algn="ctr" indent="0" marL="0">
              <a:buNone/>
            </a:pPr>
            <a:r>
              <a:rPr lang="en-US" sz="1700" dirty="0">
                <a:solidFill>
                  <a:srgbClr val="1E2533"/>
                </a:solidFill>
                <a:latin typeface="Calibri" pitchFamily="34" charset="0"/>
                <a:ea typeface="Calibri" pitchFamily="34" charset="-122"/>
                <a:cs typeface="Calibri" pitchFamily="34" charset="-120"/>
              </a:rPr>
              <a:t>şehir içi başlangıç–varış senaryosu</a:t>
            </a:r>
            <a:endParaRPr lang="en-US" sz="1700" dirty="0"/>
          </a:p>
        </p:txBody>
      </p:sp>
      <p:sp>
        <p:nvSpPr>
          <p:cNvPr id="8" name="Shape 6"/>
          <p:cNvSpPr/>
          <p:nvPr/>
        </p:nvSpPr>
        <p:spPr>
          <a:xfrm>
            <a:off x="3399968" y="1645920"/>
            <a:ext cx="2540432" cy="1920240"/>
          </a:xfrm>
          <a:prstGeom prst="roundRect">
            <a:avLst>
              <a:gd name="adj" fmla="val 5714"/>
            </a:avLst>
          </a:prstGeom>
          <a:solidFill>
            <a:srgbClr val="EEF2F7"/>
          </a:solidFill>
          <a:ln w="12700">
            <a:solidFill>
              <a:srgbClr val="EEF2F7"/>
            </a:solidFill>
            <a:prstDash val="solid"/>
          </a:ln>
        </p:spPr>
      </p:sp>
      <p:sp>
        <p:nvSpPr>
          <p:cNvPr id="9" name="Text 7"/>
          <p:cNvSpPr txBox="1"/>
          <p:nvPr/>
        </p:nvSpPr>
        <p:spPr>
          <a:xfrm>
            <a:off x="3399968" y="1828800"/>
            <a:ext cx="2540432" cy="1005840"/>
          </a:xfrm>
          <a:prstGeom prst="rect">
            <a:avLst/>
          </a:prstGeom>
          <a:noFill/>
          <a:ln/>
        </p:spPr>
        <p:txBody>
          <a:bodyPr wrap="square" lIns="0" tIns="0" rIns="0" bIns="0" rtlCol="0" anchor="ctr"/>
          <a:lstStyle/>
          <a:p>
            <a:pPr algn="ctr" indent="0" marL="0">
              <a:buNone/>
            </a:pPr>
            <a:r>
              <a:rPr lang="en-US" sz="6000" b="1" dirty="0">
                <a:solidFill>
                  <a:srgbClr val="1F2A44"/>
                </a:solidFill>
                <a:latin typeface="Calibri" pitchFamily="34" charset="0"/>
                <a:ea typeface="Calibri" pitchFamily="34" charset="-122"/>
                <a:cs typeface="Calibri" pitchFamily="34" charset="-120"/>
              </a:rPr>
              <a:t>10</a:t>
            </a:r>
            <a:endParaRPr lang="en-US" sz="6000" dirty="0"/>
          </a:p>
        </p:txBody>
      </p:sp>
      <p:sp>
        <p:nvSpPr>
          <p:cNvPr id="10" name="Text 8"/>
          <p:cNvSpPr txBox="1"/>
          <p:nvPr/>
        </p:nvSpPr>
        <p:spPr>
          <a:xfrm>
            <a:off x="3537128" y="2880360"/>
            <a:ext cx="2266112" cy="548640"/>
          </a:xfrm>
          <a:prstGeom prst="rect">
            <a:avLst/>
          </a:prstGeom>
          <a:noFill/>
          <a:ln/>
        </p:spPr>
        <p:txBody>
          <a:bodyPr wrap="square" lIns="0" tIns="0" rIns="0" bIns="0" rtlCol="0" anchor="t"/>
          <a:lstStyle/>
          <a:p>
            <a:pPr algn="ctr" indent="0" marL="0">
              <a:buNone/>
            </a:pPr>
            <a:r>
              <a:rPr lang="en-US" sz="1700" dirty="0">
                <a:solidFill>
                  <a:srgbClr val="1E2533"/>
                </a:solidFill>
                <a:latin typeface="Calibri" pitchFamily="34" charset="0"/>
                <a:ea typeface="Calibri" pitchFamily="34" charset="-122"/>
                <a:cs typeface="Calibri" pitchFamily="34" charset="-120"/>
              </a:rPr>
              <a:t>rastgele tohum / senaryo</a:t>
            </a:r>
            <a:endParaRPr lang="en-US" sz="1700" dirty="0"/>
          </a:p>
        </p:txBody>
      </p:sp>
      <p:sp>
        <p:nvSpPr>
          <p:cNvPr id="11" name="Shape 9"/>
          <p:cNvSpPr/>
          <p:nvPr/>
        </p:nvSpPr>
        <p:spPr>
          <a:xfrm>
            <a:off x="6251296" y="1645920"/>
            <a:ext cx="2540432" cy="1920240"/>
          </a:xfrm>
          <a:prstGeom prst="roundRect">
            <a:avLst>
              <a:gd name="adj" fmla="val 5714"/>
            </a:avLst>
          </a:prstGeom>
          <a:solidFill>
            <a:srgbClr val="EEF2F7"/>
          </a:solidFill>
          <a:ln w="12700">
            <a:solidFill>
              <a:srgbClr val="EEF2F7"/>
            </a:solidFill>
            <a:prstDash val="solid"/>
          </a:ln>
        </p:spPr>
      </p:sp>
      <p:sp>
        <p:nvSpPr>
          <p:cNvPr id="12" name="Text 10"/>
          <p:cNvSpPr txBox="1"/>
          <p:nvPr/>
        </p:nvSpPr>
        <p:spPr>
          <a:xfrm>
            <a:off x="6251296" y="1828800"/>
            <a:ext cx="2540432" cy="1005840"/>
          </a:xfrm>
          <a:prstGeom prst="rect">
            <a:avLst/>
          </a:prstGeom>
          <a:noFill/>
          <a:ln/>
        </p:spPr>
        <p:txBody>
          <a:bodyPr wrap="square" lIns="0" tIns="0" rIns="0" bIns="0" rtlCol="0" anchor="ctr"/>
          <a:lstStyle/>
          <a:p>
            <a:pPr algn="ctr" indent="0" marL="0">
              <a:buNone/>
            </a:pPr>
            <a:r>
              <a:rPr lang="en-US" sz="6000" b="1" dirty="0">
                <a:solidFill>
                  <a:srgbClr val="1F2A44"/>
                </a:solidFill>
                <a:latin typeface="Calibri" pitchFamily="34" charset="0"/>
                <a:ea typeface="Calibri" pitchFamily="34" charset="-122"/>
                <a:cs typeface="Calibri" pitchFamily="34" charset="-120"/>
              </a:rPr>
              <a:t>4</a:t>
            </a:r>
            <a:endParaRPr lang="en-US" sz="6000" dirty="0"/>
          </a:p>
        </p:txBody>
      </p:sp>
      <p:sp>
        <p:nvSpPr>
          <p:cNvPr id="13" name="Text 11"/>
          <p:cNvSpPr txBox="1"/>
          <p:nvPr/>
        </p:nvSpPr>
        <p:spPr>
          <a:xfrm>
            <a:off x="6388456" y="2880360"/>
            <a:ext cx="2266112" cy="548640"/>
          </a:xfrm>
          <a:prstGeom prst="rect">
            <a:avLst/>
          </a:prstGeom>
          <a:noFill/>
          <a:ln/>
        </p:spPr>
        <p:txBody>
          <a:bodyPr wrap="square" lIns="0" tIns="0" rIns="0" bIns="0" rtlCol="0" anchor="t"/>
          <a:lstStyle/>
          <a:p>
            <a:pPr algn="ctr" indent="0" marL="0">
              <a:buNone/>
            </a:pPr>
            <a:r>
              <a:rPr lang="en-US" sz="1700" dirty="0">
                <a:solidFill>
                  <a:srgbClr val="1E2533"/>
                </a:solidFill>
                <a:latin typeface="Calibri" pitchFamily="34" charset="0"/>
                <a:ea typeface="Calibri" pitchFamily="34" charset="-122"/>
                <a:cs typeface="Calibri" pitchFamily="34" charset="-120"/>
              </a:rPr>
              <a:t>karşılaştırılan yöntem</a:t>
            </a:r>
            <a:endParaRPr lang="en-US" sz="1700" dirty="0"/>
          </a:p>
        </p:txBody>
      </p:sp>
      <p:sp>
        <p:nvSpPr>
          <p:cNvPr id="14" name="Shape 12"/>
          <p:cNvSpPr/>
          <p:nvPr/>
        </p:nvSpPr>
        <p:spPr>
          <a:xfrm>
            <a:off x="9102623" y="1645920"/>
            <a:ext cx="2540432" cy="1920240"/>
          </a:xfrm>
          <a:prstGeom prst="roundRect">
            <a:avLst>
              <a:gd name="adj" fmla="val 5714"/>
            </a:avLst>
          </a:prstGeom>
          <a:solidFill>
            <a:srgbClr val="EEF2F7"/>
          </a:solidFill>
          <a:ln w="12700">
            <a:solidFill>
              <a:srgbClr val="EEF2F7"/>
            </a:solidFill>
            <a:prstDash val="solid"/>
          </a:ln>
        </p:spPr>
      </p:sp>
      <p:sp>
        <p:nvSpPr>
          <p:cNvPr id="15" name="Text 13"/>
          <p:cNvSpPr txBox="1"/>
          <p:nvPr/>
        </p:nvSpPr>
        <p:spPr>
          <a:xfrm>
            <a:off x="9102623" y="1828800"/>
            <a:ext cx="2540432" cy="1005840"/>
          </a:xfrm>
          <a:prstGeom prst="rect">
            <a:avLst/>
          </a:prstGeom>
          <a:noFill/>
          <a:ln/>
        </p:spPr>
        <p:txBody>
          <a:bodyPr wrap="square" lIns="0" tIns="0" rIns="0" bIns="0" rtlCol="0" anchor="ctr"/>
          <a:lstStyle/>
          <a:p>
            <a:pPr algn="ctr" indent="0" marL="0">
              <a:buNone/>
            </a:pPr>
            <a:r>
              <a:rPr lang="en-US" sz="6000" b="1" dirty="0">
                <a:solidFill>
                  <a:srgbClr val="D9572B"/>
                </a:solidFill>
                <a:latin typeface="Calibri" pitchFamily="34" charset="0"/>
                <a:ea typeface="Calibri" pitchFamily="34" charset="-122"/>
                <a:cs typeface="Calibri" pitchFamily="34" charset="-120"/>
              </a:rPr>
              <a:t>5</a:t>
            </a:r>
            <a:endParaRPr lang="en-US" sz="6000" dirty="0"/>
          </a:p>
        </p:txBody>
      </p:sp>
      <p:sp>
        <p:nvSpPr>
          <p:cNvPr id="16" name="Text 14"/>
          <p:cNvSpPr txBox="1"/>
          <p:nvPr/>
        </p:nvSpPr>
        <p:spPr>
          <a:xfrm>
            <a:off x="9239783" y="2880360"/>
            <a:ext cx="2266112" cy="548640"/>
          </a:xfrm>
          <a:prstGeom prst="rect">
            <a:avLst/>
          </a:prstGeom>
          <a:noFill/>
          <a:ln/>
        </p:spPr>
        <p:txBody>
          <a:bodyPr wrap="square" lIns="0" tIns="0" rIns="0" bIns="0" rtlCol="0" anchor="t"/>
          <a:lstStyle/>
          <a:p>
            <a:pPr algn="ctr" indent="0" marL="0">
              <a:buNone/>
            </a:pPr>
            <a:r>
              <a:rPr lang="en-US" sz="1700" dirty="0">
                <a:solidFill>
                  <a:srgbClr val="1E2533"/>
                </a:solidFill>
                <a:latin typeface="Calibri" pitchFamily="34" charset="0"/>
                <a:ea typeface="Calibri" pitchFamily="34" charset="-122"/>
                <a:cs typeface="Calibri" pitchFamily="34" charset="-120"/>
              </a:rPr>
              <a:t>CLS düzeyi (15–85)</a:t>
            </a:r>
            <a:endParaRPr lang="en-US" sz="1700" dirty="0"/>
          </a:p>
        </p:txBody>
      </p:sp>
      <p:sp>
        <p:nvSpPr>
          <p:cNvPr id="17" name="Text 15"/>
          <p:cNvSpPr txBox="1"/>
          <p:nvPr/>
        </p:nvSpPr>
        <p:spPr>
          <a:xfrm>
            <a:off x="548640" y="3977640"/>
            <a:ext cx="11094415" cy="411480"/>
          </a:xfrm>
          <a:prstGeom prst="rect">
            <a:avLst/>
          </a:prstGeom>
          <a:noFill/>
          <a:ln/>
        </p:spPr>
        <p:txBody>
          <a:bodyPr wrap="square" lIns="0" tIns="0" rIns="0" bIns="0" rtlCol="0" anchor="ctr"/>
          <a:lstStyle/>
          <a:p>
            <a:pPr indent="0" marL="0">
              <a:buNone/>
            </a:pPr>
            <a:r>
              <a:rPr lang="en-US" sz="1900" b="1" dirty="0">
                <a:solidFill>
                  <a:srgbClr val="1F2A44"/>
                </a:solidFill>
                <a:latin typeface="Calibri" pitchFamily="34" charset="0"/>
                <a:ea typeface="Calibri" pitchFamily="34" charset="-122"/>
                <a:cs typeface="Calibri" pitchFamily="34" charset="-120"/>
              </a:rPr>
              <a:t>Karşılaştırılan yöntemler</a:t>
            </a:r>
            <a:endParaRPr lang="en-US" sz="1900" dirty="0"/>
          </a:p>
        </p:txBody>
      </p:sp>
      <p:sp>
        <p:nvSpPr>
          <p:cNvPr id="18" name="Shape 16"/>
          <p:cNvSpPr/>
          <p:nvPr/>
        </p:nvSpPr>
        <p:spPr>
          <a:xfrm>
            <a:off x="548640" y="4526280"/>
            <a:ext cx="2540432" cy="914400"/>
          </a:xfrm>
          <a:prstGeom prst="roundRect">
            <a:avLst>
              <a:gd name="adj" fmla="val 10000"/>
            </a:avLst>
          </a:prstGeom>
          <a:solidFill>
            <a:srgbClr val="EEF2F7"/>
          </a:solidFill>
          <a:ln w="12700">
            <a:solidFill>
              <a:srgbClr val="EEF2F7"/>
            </a:solidFill>
            <a:prstDash val="solid"/>
          </a:ln>
        </p:spPr>
      </p:sp>
      <p:sp>
        <p:nvSpPr>
          <p:cNvPr id="19" name="Text 17"/>
          <p:cNvSpPr txBox="1"/>
          <p:nvPr/>
        </p:nvSpPr>
        <p:spPr>
          <a:xfrm>
            <a:off x="640080" y="4526280"/>
            <a:ext cx="2357552" cy="914400"/>
          </a:xfrm>
          <a:prstGeom prst="rect">
            <a:avLst/>
          </a:prstGeom>
          <a:noFill/>
          <a:ln/>
        </p:spPr>
        <p:txBody>
          <a:bodyPr wrap="square" lIns="0" tIns="0" rIns="0" bIns="0" rtlCol="0" anchor="ctr"/>
          <a:lstStyle/>
          <a:p>
            <a:pPr algn="ctr" indent="0" marL="0">
              <a:buNone/>
            </a:pPr>
            <a:r>
              <a:rPr lang="en-US" sz="1800" b="1" dirty="0">
                <a:solidFill>
                  <a:srgbClr val="1F2A44"/>
                </a:solidFill>
                <a:latin typeface="Calibri" pitchFamily="34" charset="0"/>
                <a:ea typeface="Calibri" pitchFamily="34" charset="-122"/>
                <a:cs typeface="Calibri" pitchFamily="34" charset="-120"/>
              </a:rPr>
              <a:t>Dijkstra [12]</a:t>
            </a:r>
            <a:endParaRPr lang="en-US" sz="1800" dirty="0"/>
          </a:p>
          <a:p>
            <a:pPr algn="ctr" indent="0" marL="0">
              <a:buNone/>
            </a:pPr>
            <a:r>
              <a:rPr lang="en-US" sz="1400" dirty="0">
                <a:solidFill>
                  <a:srgbClr val="1F2A44"/>
                </a:solidFill>
                <a:latin typeface="Calibri" pitchFamily="34" charset="0"/>
                <a:ea typeface="Calibri" pitchFamily="34" charset="-122"/>
                <a:cs typeface="Calibri" pitchFamily="34" charset="-120"/>
              </a:rPr>
              <a:t>mesafe maliyetli</a:t>
            </a:r>
            <a:endParaRPr lang="en-US" sz="1800" dirty="0"/>
          </a:p>
        </p:txBody>
      </p:sp>
      <p:sp>
        <p:nvSpPr>
          <p:cNvPr id="20" name="Shape 18"/>
          <p:cNvSpPr/>
          <p:nvPr/>
        </p:nvSpPr>
        <p:spPr>
          <a:xfrm>
            <a:off x="3399968" y="4526280"/>
            <a:ext cx="2540432" cy="914400"/>
          </a:xfrm>
          <a:prstGeom prst="roundRect">
            <a:avLst>
              <a:gd name="adj" fmla="val 10000"/>
            </a:avLst>
          </a:prstGeom>
          <a:solidFill>
            <a:srgbClr val="EEF2F7"/>
          </a:solidFill>
          <a:ln w="12700">
            <a:solidFill>
              <a:srgbClr val="EEF2F7"/>
            </a:solidFill>
            <a:prstDash val="solid"/>
          </a:ln>
        </p:spPr>
      </p:sp>
      <p:sp>
        <p:nvSpPr>
          <p:cNvPr id="21" name="Text 19"/>
          <p:cNvSpPr txBox="1"/>
          <p:nvPr/>
        </p:nvSpPr>
        <p:spPr>
          <a:xfrm>
            <a:off x="3491408" y="4526280"/>
            <a:ext cx="2357552" cy="914400"/>
          </a:xfrm>
          <a:prstGeom prst="rect">
            <a:avLst/>
          </a:prstGeom>
          <a:noFill/>
          <a:ln/>
        </p:spPr>
        <p:txBody>
          <a:bodyPr wrap="square" lIns="0" tIns="0" rIns="0" bIns="0" rtlCol="0" anchor="ctr"/>
          <a:lstStyle/>
          <a:p>
            <a:pPr algn="ctr" indent="0" marL="0">
              <a:buNone/>
            </a:pPr>
            <a:r>
              <a:rPr lang="en-US" sz="1800" b="1" dirty="0">
                <a:solidFill>
                  <a:srgbClr val="1F2A44"/>
                </a:solidFill>
                <a:latin typeface="Calibri" pitchFamily="34" charset="0"/>
                <a:ea typeface="Calibri" pitchFamily="34" charset="-122"/>
                <a:cs typeface="Calibri" pitchFamily="34" charset="-120"/>
              </a:rPr>
              <a:t>A* [13]</a:t>
            </a:r>
            <a:endParaRPr lang="en-US" sz="1800" dirty="0"/>
          </a:p>
          <a:p>
            <a:pPr algn="ctr" indent="0" marL="0">
              <a:buNone/>
            </a:pPr>
            <a:r>
              <a:rPr lang="en-US" sz="1400" dirty="0">
                <a:solidFill>
                  <a:srgbClr val="1F2A44"/>
                </a:solidFill>
                <a:latin typeface="Calibri" pitchFamily="34" charset="0"/>
                <a:ea typeface="Calibri" pitchFamily="34" charset="-122"/>
                <a:cs typeface="Calibri" pitchFamily="34" charset="-120"/>
              </a:rPr>
              <a:t>süre maliyetli</a:t>
            </a:r>
            <a:endParaRPr lang="en-US" sz="1800" dirty="0"/>
          </a:p>
        </p:txBody>
      </p:sp>
      <p:sp>
        <p:nvSpPr>
          <p:cNvPr id="22" name="Shape 20"/>
          <p:cNvSpPr/>
          <p:nvPr/>
        </p:nvSpPr>
        <p:spPr>
          <a:xfrm>
            <a:off x="6251296" y="4526280"/>
            <a:ext cx="2540432" cy="914400"/>
          </a:xfrm>
          <a:prstGeom prst="roundRect">
            <a:avLst>
              <a:gd name="adj" fmla="val 10000"/>
            </a:avLst>
          </a:prstGeom>
          <a:solidFill>
            <a:srgbClr val="EEF2F7"/>
          </a:solidFill>
          <a:ln w="12700">
            <a:solidFill>
              <a:srgbClr val="EEF2F7"/>
            </a:solidFill>
            <a:prstDash val="solid"/>
          </a:ln>
        </p:spPr>
      </p:sp>
      <p:sp>
        <p:nvSpPr>
          <p:cNvPr id="23" name="Text 21"/>
          <p:cNvSpPr txBox="1"/>
          <p:nvPr/>
        </p:nvSpPr>
        <p:spPr>
          <a:xfrm>
            <a:off x="6342736" y="4526280"/>
            <a:ext cx="2357552" cy="914400"/>
          </a:xfrm>
          <a:prstGeom prst="rect">
            <a:avLst/>
          </a:prstGeom>
          <a:noFill/>
          <a:ln/>
        </p:spPr>
        <p:txBody>
          <a:bodyPr wrap="square" lIns="0" tIns="0" rIns="0" bIns="0" rtlCol="0" anchor="ctr"/>
          <a:lstStyle/>
          <a:p>
            <a:pPr algn="ctr" indent="0" marL="0">
              <a:buNone/>
            </a:pPr>
            <a:r>
              <a:rPr lang="en-US" sz="1800" b="1" dirty="0">
                <a:solidFill>
                  <a:srgbClr val="1F2A44"/>
                </a:solidFill>
                <a:latin typeface="Calibri" pitchFamily="34" charset="0"/>
                <a:ea typeface="Calibri" pitchFamily="34" charset="-122"/>
                <a:cs typeface="Calibri" pitchFamily="34" charset="-120"/>
              </a:rPr>
              <a:t>NSGA-II</a:t>
            </a:r>
            <a:endParaRPr lang="en-US" sz="1800" dirty="0"/>
          </a:p>
          <a:p>
            <a:pPr algn="ctr" indent="0" marL="0">
              <a:buNone/>
            </a:pPr>
            <a:r>
              <a:rPr lang="en-US" sz="1400" dirty="0">
                <a:solidFill>
                  <a:srgbClr val="1F2A44"/>
                </a:solidFill>
                <a:latin typeface="Calibri" pitchFamily="34" charset="0"/>
                <a:ea typeface="Calibri" pitchFamily="34" charset="-122"/>
                <a:cs typeface="Calibri" pitchFamily="34" charset="-120"/>
              </a:rPr>
              <a:t>CLS uyarlaması yok</a:t>
            </a:r>
            <a:endParaRPr lang="en-US" sz="1800" dirty="0"/>
          </a:p>
        </p:txBody>
      </p:sp>
      <p:sp>
        <p:nvSpPr>
          <p:cNvPr id="24" name="Shape 22"/>
          <p:cNvSpPr/>
          <p:nvPr/>
        </p:nvSpPr>
        <p:spPr>
          <a:xfrm>
            <a:off x="9102623" y="4526280"/>
            <a:ext cx="2540432" cy="914400"/>
          </a:xfrm>
          <a:prstGeom prst="roundRect">
            <a:avLst>
              <a:gd name="adj" fmla="val 10000"/>
            </a:avLst>
          </a:prstGeom>
          <a:solidFill>
            <a:srgbClr val="1A9E77"/>
          </a:solidFill>
          <a:ln w="12700">
            <a:solidFill>
              <a:srgbClr val="1A9E77"/>
            </a:solidFill>
            <a:prstDash val="solid"/>
          </a:ln>
        </p:spPr>
      </p:sp>
      <p:sp>
        <p:nvSpPr>
          <p:cNvPr id="25" name="Text 23"/>
          <p:cNvSpPr txBox="1"/>
          <p:nvPr/>
        </p:nvSpPr>
        <p:spPr>
          <a:xfrm>
            <a:off x="9194063" y="4526280"/>
            <a:ext cx="2357552" cy="9144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AffectEV</a:t>
            </a:r>
            <a:endParaRPr lang="en-US" sz="1800" dirty="0"/>
          </a:p>
          <a:p>
            <a:pPr algn="ctr" indent="0" marL="0">
              <a:buNone/>
            </a:pPr>
            <a:r>
              <a:rPr lang="en-US" sz="1400" dirty="0">
                <a:solidFill>
                  <a:srgbClr val="FFFFFF"/>
                </a:solidFill>
                <a:latin typeface="Calibri" pitchFamily="34" charset="0"/>
                <a:ea typeface="Calibri" pitchFamily="34" charset="-122"/>
                <a:cs typeface="Calibri" pitchFamily="34" charset="-120"/>
              </a:rPr>
              <a:t>CLS uyarlamalı</a:t>
            </a:r>
            <a:endParaRPr lang="en-US" sz="1800" dirty="0"/>
          </a:p>
        </p:txBody>
      </p:sp>
      <p:sp>
        <p:nvSpPr>
          <p:cNvPr id="26" name="Text 24"/>
          <p:cNvSpPr txBox="1"/>
          <p:nvPr/>
        </p:nvSpPr>
        <p:spPr>
          <a:xfrm>
            <a:off x="548640" y="5669280"/>
            <a:ext cx="11094415" cy="411480"/>
          </a:xfrm>
          <a:prstGeom prst="rect">
            <a:avLst/>
          </a:prstGeom>
          <a:noFill/>
          <a:ln/>
        </p:spPr>
        <p:txBody>
          <a:bodyPr wrap="square" lIns="0" tIns="0" rIns="0" bIns="0" rtlCol="0" anchor="ctr"/>
          <a:lstStyle/>
          <a:p>
            <a:pPr indent="0" marL="0">
              <a:buNone/>
            </a:pPr>
            <a:r>
              <a:rPr lang="en-US" sz="1500" dirty="0">
                <a:solidFill>
                  <a:srgbClr val="5B6577"/>
                </a:solidFill>
                <a:latin typeface="Calibri" pitchFamily="34" charset="0"/>
                <a:ea typeface="Calibri" pitchFamily="34" charset="-122"/>
                <a:cs typeface="Calibri" pitchFamily="34" charset="-120"/>
              </a:rPr>
              <a:t>Sentetik trafik yoğunluğu ve hız profilleri; ölçütler: seyahat süresi, enerji tüketimi, sürüş konforu</a:t>
            </a:r>
            <a:endParaRPr lang="en-US" sz="15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3A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640080"/>
          </a:xfrm>
          <a:prstGeom prst="rect">
            <a:avLst/>
          </a:prstGeom>
          <a:noFill/>
          <a:ln/>
        </p:spPr>
        <p:txBody>
          <a:bodyPr wrap="square" lIns="0" tIns="0" rIns="0" bIns="0" rtlCol="0" anchor="ctr"/>
          <a:lstStyle/>
          <a:p>
            <a:pPr indent="0" marL="0">
              <a:buNone/>
            </a:pPr>
            <a:r>
              <a:rPr lang="en-US" sz="3200" b="1" dirty="0">
                <a:solidFill>
                  <a:srgbClr val="1F2A44"/>
                </a:solidFill>
                <a:latin typeface="Calibri" pitchFamily="34" charset="0"/>
                <a:ea typeface="Calibri" pitchFamily="34" charset="-122"/>
                <a:cs typeface="Calibri" pitchFamily="34" charset="-120"/>
              </a:rPr>
              <a:t>Bulgular: Genel Karşılaştırma</a:t>
            </a:r>
            <a:endParaRPr lang="en-US" sz="3200" dirty="0"/>
          </a:p>
        </p:txBody>
      </p:sp>
      <p:sp>
        <p:nvSpPr>
          <p:cNvPr id="3" name="Text 1"/>
          <p:cNvSpPr txBox="1"/>
          <p:nvPr/>
        </p:nvSpPr>
        <p:spPr>
          <a:xfrm>
            <a:off x="548640" y="960120"/>
            <a:ext cx="11094415" cy="411480"/>
          </a:xfrm>
          <a:prstGeom prst="rect">
            <a:avLst/>
          </a:prstGeom>
          <a:noFill/>
          <a:ln/>
        </p:spPr>
        <p:txBody>
          <a:bodyPr wrap="square" lIns="0" tIns="0" rIns="0" bIns="0" rtlCol="0" anchor="ctr"/>
          <a:lstStyle/>
          <a:p>
            <a:pPr indent="0" marL="0">
              <a:buNone/>
            </a:pPr>
            <a:r>
              <a:rPr lang="en-US" sz="1900" dirty="0">
                <a:solidFill>
                  <a:srgbClr val="5B6577"/>
                </a:solidFill>
                <a:latin typeface="Calibri" pitchFamily="34" charset="0"/>
                <a:ea typeface="Calibri" pitchFamily="34" charset="-122"/>
                <a:cs typeface="Calibri" pitchFamily="34" charset="-120"/>
              </a:rPr>
              <a:t>Genel ortalamada AffectEV standart algoritmalarla eşdeğer</a:t>
            </a:r>
            <a:endParaRPr lang="en-US" sz="1900" dirty="0"/>
          </a:p>
        </p:txBody>
      </p:sp>
      <p:sp>
        <p:nvSpPr>
          <p:cNvPr id="4"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100" dirty="0">
                <a:solidFill>
                  <a:srgbClr val="8A93A3"/>
                </a:solidFill>
                <a:latin typeface="Calibri" pitchFamily="34" charset="0"/>
                <a:ea typeface="Calibri" pitchFamily="34" charset="-122"/>
                <a:cs typeface="Calibri" pitchFamily="34" charset="-120"/>
              </a:rPr>
              <a:t>TOK 2026 · Yiğit &amp; Erkan · Beykoz Üniversitesi</a:t>
            </a:r>
            <a:endParaRPr lang="en-US" sz="1100" dirty="0"/>
          </a:p>
        </p:txBody>
      </p:sp>
      <p:sp>
        <p:nvSpPr>
          <p:cNvPr id="5" name="Shape 3"/>
          <p:cNvSpPr/>
          <p:nvPr/>
        </p:nvSpPr>
        <p:spPr>
          <a:xfrm>
            <a:off x="548640" y="2011680"/>
            <a:ext cx="2540432" cy="2651760"/>
          </a:xfrm>
          <a:prstGeom prst="roundRect">
            <a:avLst>
              <a:gd name="adj" fmla="val 4319"/>
            </a:avLst>
          </a:prstGeom>
          <a:solidFill>
            <a:srgbClr val="EEF2F7"/>
          </a:solidFill>
          <a:ln w="12700">
            <a:solidFill>
              <a:srgbClr val="EEF2F7"/>
            </a:solidFill>
            <a:prstDash val="solid"/>
          </a:ln>
        </p:spPr>
      </p:sp>
      <p:sp>
        <p:nvSpPr>
          <p:cNvPr id="6" name="Text 4"/>
          <p:cNvSpPr txBox="1"/>
          <p:nvPr/>
        </p:nvSpPr>
        <p:spPr>
          <a:xfrm>
            <a:off x="731520" y="2286000"/>
            <a:ext cx="2174672" cy="457200"/>
          </a:xfrm>
          <a:prstGeom prst="rect">
            <a:avLst/>
          </a:prstGeom>
          <a:noFill/>
          <a:ln/>
        </p:spPr>
        <p:txBody>
          <a:bodyPr wrap="square" lIns="0" tIns="0" rIns="0" bIns="0" rtlCol="0" anchor="ctr"/>
          <a:lstStyle/>
          <a:p>
            <a:pPr algn="ctr" indent="0" marL="0">
              <a:buNone/>
            </a:pPr>
            <a:r>
              <a:rPr lang="en-US" sz="2000" b="1" dirty="0">
                <a:solidFill>
                  <a:srgbClr val="1F2A44"/>
                </a:solidFill>
                <a:latin typeface="Calibri" pitchFamily="34" charset="0"/>
                <a:ea typeface="Calibri" pitchFamily="34" charset="-122"/>
                <a:cs typeface="Calibri" pitchFamily="34" charset="-120"/>
              </a:rPr>
              <a:t>Dijkstra</a:t>
            </a:r>
            <a:endParaRPr lang="en-US" sz="2000" dirty="0"/>
          </a:p>
        </p:txBody>
      </p:sp>
      <p:sp>
        <p:nvSpPr>
          <p:cNvPr id="7" name="Text 5"/>
          <p:cNvSpPr txBox="1"/>
          <p:nvPr/>
        </p:nvSpPr>
        <p:spPr>
          <a:xfrm>
            <a:off x="548640" y="2880360"/>
            <a:ext cx="2540432" cy="1051560"/>
          </a:xfrm>
          <a:prstGeom prst="rect">
            <a:avLst/>
          </a:prstGeom>
          <a:noFill/>
          <a:ln/>
        </p:spPr>
        <p:txBody>
          <a:bodyPr wrap="square" lIns="0" tIns="0" rIns="0" bIns="0" rtlCol="0" anchor="ctr"/>
          <a:lstStyle/>
          <a:p>
            <a:pPr algn="ctr" indent="0" marL="0">
              <a:buNone/>
            </a:pPr>
            <a:r>
              <a:rPr lang="en-US" sz="6600" b="1" dirty="0">
                <a:solidFill>
                  <a:srgbClr val="1F2A44"/>
                </a:solidFill>
                <a:latin typeface="Calibri" pitchFamily="34" charset="0"/>
                <a:ea typeface="Calibri" pitchFamily="34" charset="-122"/>
                <a:cs typeface="Calibri" pitchFamily="34" charset="-120"/>
              </a:rPr>
              <a:t>46,8</a:t>
            </a:r>
            <a:endParaRPr lang="en-US" sz="6600" dirty="0"/>
          </a:p>
        </p:txBody>
      </p:sp>
      <p:sp>
        <p:nvSpPr>
          <p:cNvPr id="8" name="Text 6"/>
          <p:cNvSpPr txBox="1"/>
          <p:nvPr/>
        </p:nvSpPr>
        <p:spPr>
          <a:xfrm>
            <a:off x="548640" y="3977640"/>
            <a:ext cx="2540432" cy="365760"/>
          </a:xfrm>
          <a:prstGeom prst="rect">
            <a:avLst/>
          </a:prstGeom>
          <a:noFill/>
          <a:ln/>
        </p:spPr>
        <p:txBody>
          <a:bodyPr wrap="square" lIns="0" tIns="0" rIns="0" bIns="0" rtlCol="0" anchor="ctr"/>
          <a:lstStyle/>
          <a:p>
            <a:pPr algn="ctr" indent="0" marL="0">
              <a:buNone/>
            </a:pPr>
            <a:r>
              <a:rPr lang="en-US" sz="1600" dirty="0">
                <a:solidFill>
                  <a:srgbClr val="5B6577"/>
                </a:solidFill>
                <a:latin typeface="Calibri" pitchFamily="34" charset="0"/>
                <a:ea typeface="Calibri" pitchFamily="34" charset="-122"/>
                <a:cs typeface="Calibri" pitchFamily="34" charset="-120"/>
              </a:rPr>
              <a:t>konfor (0–100)</a:t>
            </a:r>
            <a:endParaRPr lang="en-US" sz="1600" dirty="0"/>
          </a:p>
        </p:txBody>
      </p:sp>
      <p:sp>
        <p:nvSpPr>
          <p:cNvPr id="9" name="Shape 7"/>
          <p:cNvSpPr/>
          <p:nvPr/>
        </p:nvSpPr>
        <p:spPr>
          <a:xfrm>
            <a:off x="3399968" y="2011680"/>
            <a:ext cx="2540432" cy="2651760"/>
          </a:xfrm>
          <a:prstGeom prst="roundRect">
            <a:avLst>
              <a:gd name="adj" fmla="val 4319"/>
            </a:avLst>
          </a:prstGeom>
          <a:solidFill>
            <a:srgbClr val="EEF2F7"/>
          </a:solidFill>
          <a:ln w="12700">
            <a:solidFill>
              <a:srgbClr val="EEF2F7"/>
            </a:solidFill>
            <a:prstDash val="solid"/>
          </a:ln>
        </p:spPr>
      </p:sp>
      <p:sp>
        <p:nvSpPr>
          <p:cNvPr id="10" name="Text 8"/>
          <p:cNvSpPr txBox="1"/>
          <p:nvPr/>
        </p:nvSpPr>
        <p:spPr>
          <a:xfrm>
            <a:off x="3582848" y="2286000"/>
            <a:ext cx="2174672" cy="457200"/>
          </a:xfrm>
          <a:prstGeom prst="rect">
            <a:avLst/>
          </a:prstGeom>
          <a:noFill/>
          <a:ln/>
        </p:spPr>
        <p:txBody>
          <a:bodyPr wrap="square" lIns="0" tIns="0" rIns="0" bIns="0" rtlCol="0" anchor="ctr"/>
          <a:lstStyle/>
          <a:p>
            <a:pPr algn="ctr" indent="0" marL="0">
              <a:buNone/>
            </a:pPr>
            <a:r>
              <a:rPr lang="en-US" sz="2000" b="1" dirty="0">
                <a:solidFill>
                  <a:srgbClr val="1F2A44"/>
                </a:solidFill>
                <a:latin typeface="Calibri" pitchFamily="34" charset="0"/>
                <a:ea typeface="Calibri" pitchFamily="34" charset="-122"/>
                <a:cs typeface="Calibri" pitchFamily="34" charset="-120"/>
              </a:rPr>
              <a:t>A*</a:t>
            </a:r>
            <a:endParaRPr lang="en-US" sz="2000" dirty="0"/>
          </a:p>
        </p:txBody>
      </p:sp>
      <p:sp>
        <p:nvSpPr>
          <p:cNvPr id="11" name="Text 9"/>
          <p:cNvSpPr txBox="1"/>
          <p:nvPr/>
        </p:nvSpPr>
        <p:spPr>
          <a:xfrm>
            <a:off x="3399968" y="2880360"/>
            <a:ext cx="2540432" cy="1051560"/>
          </a:xfrm>
          <a:prstGeom prst="rect">
            <a:avLst/>
          </a:prstGeom>
          <a:noFill/>
          <a:ln/>
        </p:spPr>
        <p:txBody>
          <a:bodyPr wrap="square" lIns="0" tIns="0" rIns="0" bIns="0" rtlCol="0" anchor="ctr"/>
          <a:lstStyle/>
          <a:p>
            <a:pPr algn="ctr" indent="0" marL="0">
              <a:buNone/>
            </a:pPr>
            <a:r>
              <a:rPr lang="en-US" sz="6600" b="1" dirty="0">
                <a:solidFill>
                  <a:srgbClr val="1F2A44"/>
                </a:solidFill>
                <a:latin typeface="Calibri" pitchFamily="34" charset="0"/>
                <a:ea typeface="Calibri" pitchFamily="34" charset="-122"/>
                <a:cs typeface="Calibri" pitchFamily="34" charset="-120"/>
              </a:rPr>
              <a:t>50,5</a:t>
            </a:r>
            <a:endParaRPr lang="en-US" sz="6600" dirty="0"/>
          </a:p>
        </p:txBody>
      </p:sp>
      <p:sp>
        <p:nvSpPr>
          <p:cNvPr id="12" name="Text 10"/>
          <p:cNvSpPr txBox="1"/>
          <p:nvPr/>
        </p:nvSpPr>
        <p:spPr>
          <a:xfrm>
            <a:off x="3399968" y="3977640"/>
            <a:ext cx="2540432" cy="365760"/>
          </a:xfrm>
          <a:prstGeom prst="rect">
            <a:avLst/>
          </a:prstGeom>
          <a:noFill/>
          <a:ln/>
        </p:spPr>
        <p:txBody>
          <a:bodyPr wrap="square" lIns="0" tIns="0" rIns="0" bIns="0" rtlCol="0" anchor="ctr"/>
          <a:lstStyle/>
          <a:p>
            <a:pPr algn="ctr" indent="0" marL="0">
              <a:buNone/>
            </a:pPr>
            <a:r>
              <a:rPr lang="en-US" sz="1600" dirty="0">
                <a:solidFill>
                  <a:srgbClr val="5B6577"/>
                </a:solidFill>
                <a:latin typeface="Calibri" pitchFamily="34" charset="0"/>
                <a:ea typeface="Calibri" pitchFamily="34" charset="-122"/>
                <a:cs typeface="Calibri" pitchFamily="34" charset="-120"/>
              </a:rPr>
              <a:t>konfor (0–100)</a:t>
            </a:r>
            <a:endParaRPr lang="en-US" sz="1600" dirty="0"/>
          </a:p>
        </p:txBody>
      </p:sp>
      <p:sp>
        <p:nvSpPr>
          <p:cNvPr id="13" name="Shape 11"/>
          <p:cNvSpPr/>
          <p:nvPr/>
        </p:nvSpPr>
        <p:spPr>
          <a:xfrm>
            <a:off x="6251296" y="2011680"/>
            <a:ext cx="2540432" cy="2651760"/>
          </a:xfrm>
          <a:prstGeom prst="roundRect">
            <a:avLst>
              <a:gd name="adj" fmla="val 4319"/>
            </a:avLst>
          </a:prstGeom>
          <a:solidFill>
            <a:srgbClr val="EEF2F7"/>
          </a:solidFill>
          <a:ln w="12700">
            <a:solidFill>
              <a:srgbClr val="EEF2F7"/>
            </a:solidFill>
            <a:prstDash val="solid"/>
          </a:ln>
        </p:spPr>
      </p:sp>
      <p:sp>
        <p:nvSpPr>
          <p:cNvPr id="14" name="Text 12"/>
          <p:cNvSpPr txBox="1"/>
          <p:nvPr/>
        </p:nvSpPr>
        <p:spPr>
          <a:xfrm>
            <a:off x="6434176" y="2286000"/>
            <a:ext cx="2174672" cy="457200"/>
          </a:xfrm>
          <a:prstGeom prst="rect">
            <a:avLst/>
          </a:prstGeom>
          <a:noFill/>
          <a:ln/>
        </p:spPr>
        <p:txBody>
          <a:bodyPr wrap="square" lIns="0" tIns="0" rIns="0" bIns="0" rtlCol="0" anchor="ctr"/>
          <a:lstStyle/>
          <a:p>
            <a:pPr algn="ctr" indent="0" marL="0">
              <a:buNone/>
            </a:pPr>
            <a:r>
              <a:rPr lang="en-US" sz="2000" b="1" dirty="0">
                <a:solidFill>
                  <a:srgbClr val="1F2A44"/>
                </a:solidFill>
                <a:latin typeface="Calibri" pitchFamily="34" charset="0"/>
                <a:ea typeface="Calibri" pitchFamily="34" charset="-122"/>
                <a:cs typeface="Calibri" pitchFamily="34" charset="-120"/>
              </a:rPr>
              <a:t>NSGA-II (CLS yok)</a:t>
            </a:r>
            <a:endParaRPr lang="en-US" sz="2000" dirty="0"/>
          </a:p>
        </p:txBody>
      </p:sp>
      <p:sp>
        <p:nvSpPr>
          <p:cNvPr id="15" name="Text 13"/>
          <p:cNvSpPr txBox="1"/>
          <p:nvPr/>
        </p:nvSpPr>
        <p:spPr>
          <a:xfrm>
            <a:off x="6251296" y="2880360"/>
            <a:ext cx="2540432" cy="1051560"/>
          </a:xfrm>
          <a:prstGeom prst="rect">
            <a:avLst/>
          </a:prstGeom>
          <a:noFill/>
          <a:ln/>
        </p:spPr>
        <p:txBody>
          <a:bodyPr wrap="square" lIns="0" tIns="0" rIns="0" bIns="0" rtlCol="0" anchor="ctr"/>
          <a:lstStyle/>
          <a:p>
            <a:pPr algn="ctr" indent="0" marL="0">
              <a:buNone/>
            </a:pPr>
            <a:r>
              <a:rPr lang="en-US" sz="6600" b="1" dirty="0">
                <a:solidFill>
                  <a:srgbClr val="1F2A44"/>
                </a:solidFill>
                <a:latin typeface="Calibri" pitchFamily="34" charset="0"/>
                <a:ea typeface="Calibri" pitchFamily="34" charset="-122"/>
                <a:cs typeface="Calibri" pitchFamily="34" charset="-120"/>
              </a:rPr>
              <a:t>49,6</a:t>
            </a:r>
            <a:endParaRPr lang="en-US" sz="6600" dirty="0"/>
          </a:p>
        </p:txBody>
      </p:sp>
      <p:sp>
        <p:nvSpPr>
          <p:cNvPr id="16" name="Text 14"/>
          <p:cNvSpPr txBox="1"/>
          <p:nvPr/>
        </p:nvSpPr>
        <p:spPr>
          <a:xfrm>
            <a:off x="6251296" y="3977640"/>
            <a:ext cx="2540432" cy="365760"/>
          </a:xfrm>
          <a:prstGeom prst="rect">
            <a:avLst/>
          </a:prstGeom>
          <a:noFill/>
          <a:ln/>
        </p:spPr>
        <p:txBody>
          <a:bodyPr wrap="square" lIns="0" tIns="0" rIns="0" bIns="0" rtlCol="0" anchor="ctr"/>
          <a:lstStyle/>
          <a:p>
            <a:pPr algn="ctr" indent="0" marL="0">
              <a:buNone/>
            </a:pPr>
            <a:r>
              <a:rPr lang="en-US" sz="1600" dirty="0">
                <a:solidFill>
                  <a:srgbClr val="5B6577"/>
                </a:solidFill>
                <a:latin typeface="Calibri" pitchFamily="34" charset="0"/>
                <a:ea typeface="Calibri" pitchFamily="34" charset="-122"/>
                <a:cs typeface="Calibri" pitchFamily="34" charset="-120"/>
              </a:rPr>
              <a:t>konfor (0–100)</a:t>
            </a:r>
            <a:endParaRPr lang="en-US" sz="1600" dirty="0"/>
          </a:p>
        </p:txBody>
      </p:sp>
      <p:sp>
        <p:nvSpPr>
          <p:cNvPr id="17" name="Shape 15"/>
          <p:cNvSpPr/>
          <p:nvPr/>
        </p:nvSpPr>
        <p:spPr>
          <a:xfrm>
            <a:off x="9102623" y="2011680"/>
            <a:ext cx="2540432" cy="2651760"/>
          </a:xfrm>
          <a:prstGeom prst="roundRect">
            <a:avLst>
              <a:gd name="adj" fmla="val 4319"/>
            </a:avLst>
          </a:prstGeom>
          <a:solidFill>
            <a:srgbClr val="1A9E77"/>
          </a:solidFill>
          <a:ln w="12700">
            <a:solidFill>
              <a:srgbClr val="1A9E77"/>
            </a:solidFill>
            <a:prstDash val="solid"/>
          </a:ln>
        </p:spPr>
      </p:sp>
      <p:sp>
        <p:nvSpPr>
          <p:cNvPr id="18" name="Text 16"/>
          <p:cNvSpPr txBox="1"/>
          <p:nvPr/>
        </p:nvSpPr>
        <p:spPr>
          <a:xfrm>
            <a:off x="9285503" y="2286000"/>
            <a:ext cx="2174672"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AffectEV</a:t>
            </a:r>
            <a:endParaRPr lang="en-US" sz="2000" dirty="0"/>
          </a:p>
        </p:txBody>
      </p:sp>
      <p:sp>
        <p:nvSpPr>
          <p:cNvPr id="19" name="Text 17"/>
          <p:cNvSpPr txBox="1"/>
          <p:nvPr/>
        </p:nvSpPr>
        <p:spPr>
          <a:xfrm>
            <a:off x="9102623" y="2880360"/>
            <a:ext cx="2540432" cy="1051560"/>
          </a:xfrm>
          <a:prstGeom prst="rect">
            <a:avLst/>
          </a:prstGeom>
          <a:noFill/>
          <a:ln/>
        </p:spPr>
        <p:txBody>
          <a:bodyPr wrap="square" lIns="0" tIns="0" rIns="0" bIns="0" rtlCol="0" anchor="ctr"/>
          <a:lstStyle/>
          <a:p>
            <a:pPr algn="ctr" indent="0" marL="0">
              <a:buNone/>
            </a:pPr>
            <a:r>
              <a:rPr lang="en-US" sz="6600" b="1" dirty="0">
                <a:solidFill>
                  <a:srgbClr val="FFFFFF"/>
                </a:solidFill>
                <a:latin typeface="Calibri" pitchFamily="34" charset="0"/>
                <a:ea typeface="Calibri" pitchFamily="34" charset="-122"/>
                <a:cs typeface="Calibri" pitchFamily="34" charset="-120"/>
              </a:rPr>
              <a:t>50,3</a:t>
            </a:r>
            <a:endParaRPr lang="en-US" sz="6600" dirty="0"/>
          </a:p>
        </p:txBody>
      </p:sp>
      <p:sp>
        <p:nvSpPr>
          <p:cNvPr id="20" name="Text 18"/>
          <p:cNvSpPr txBox="1"/>
          <p:nvPr/>
        </p:nvSpPr>
        <p:spPr>
          <a:xfrm>
            <a:off x="9102623" y="3977640"/>
            <a:ext cx="2540432" cy="365760"/>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konfor (0–100)</a:t>
            </a:r>
            <a:endParaRPr lang="en-US" sz="1600" dirty="0"/>
          </a:p>
        </p:txBody>
      </p:sp>
      <p:sp>
        <p:nvSpPr>
          <p:cNvPr id="21" name="Text 19"/>
          <p:cNvSpPr txBox="1"/>
          <p:nvPr/>
        </p:nvSpPr>
        <p:spPr>
          <a:xfrm>
            <a:off x="548640" y="5074920"/>
            <a:ext cx="11094415" cy="411480"/>
          </a:xfrm>
          <a:prstGeom prst="rect">
            <a:avLst/>
          </a:prstGeom>
          <a:noFill/>
          <a:ln/>
        </p:spPr>
        <p:txBody>
          <a:bodyPr wrap="square" lIns="0" tIns="0" rIns="0" bIns="0" rtlCol="0" anchor="ctr"/>
          <a:lstStyle/>
          <a:p>
            <a:pPr algn="ctr" indent="0" marL="0">
              <a:buNone/>
            </a:pPr>
            <a:r>
              <a:rPr lang="en-US" sz="1500" dirty="0">
                <a:solidFill>
                  <a:srgbClr val="5B6577"/>
                </a:solidFill>
                <a:latin typeface="Calibri" pitchFamily="34" charset="0"/>
                <a:ea typeface="Calibri" pitchFamily="34" charset="-122"/>
                <a:cs typeface="Calibri" pitchFamily="34" charset="-120"/>
              </a:rPr>
              <a:t>Tüm senaryoların ortalaması (bildiri, Tablo 2)</a:t>
            </a:r>
            <a:endParaRPr lang="en-US" sz="15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3A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640080"/>
          </a:xfrm>
          <a:prstGeom prst="rect">
            <a:avLst/>
          </a:prstGeom>
          <a:noFill/>
          <a:ln/>
        </p:spPr>
        <p:txBody>
          <a:bodyPr wrap="square" lIns="0" tIns="0" rIns="0" bIns="0" rtlCol="0" anchor="ctr"/>
          <a:lstStyle/>
          <a:p>
            <a:pPr indent="0" marL="0">
              <a:buNone/>
            </a:pPr>
            <a:r>
              <a:rPr lang="en-US" sz="3200" b="1" dirty="0">
                <a:solidFill>
                  <a:srgbClr val="1F2A44"/>
                </a:solidFill>
                <a:latin typeface="Calibri" pitchFamily="34" charset="0"/>
                <a:ea typeface="Calibri" pitchFamily="34" charset="-122"/>
                <a:cs typeface="Calibri" pitchFamily="34" charset="-120"/>
              </a:rPr>
              <a:t>Bulgular: Bilişsel Yüke Göre Uyarlama</a:t>
            </a:r>
            <a:endParaRPr lang="en-US" sz="3200" dirty="0"/>
          </a:p>
        </p:txBody>
      </p:sp>
      <p:sp>
        <p:nvSpPr>
          <p:cNvPr id="3" name="Text 1"/>
          <p:cNvSpPr txBox="1"/>
          <p:nvPr/>
        </p:nvSpPr>
        <p:spPr>
          <a:xfrm>
            <a:off x="548640" y="960120"/>
            <a:ext cx="11094415" cy="411480"/>
          </a:xfrm>
          <a:prstGeom prst="rect">
            <a:avLst/>
          </a:prstGeom>
          <a:noFill/>
          <a:ln/>
        </p:spPr>
        <p:txBody>
          <a:bodyPr wrap="square" lIns="0" tIns="0" rIns="0" bIns="0" rtlCol="0" anchor="ctr"/>
          <a:lstStyle/>
          <a:p>
            <a:pPr indent="0" marL="0">
              <a:buNone/>
            </a:pPr>
            <a:r>
              <a:rPr lang="en-US" sz="1900" dirty="0">
                <a:solidFill>
                  <a:srgbClr val="5B6577"/>
                </a:solidFill>
                <a:latin typeface="Calibri" pitchFamily="34" charset="0"/>
                <a:ea typeface="Calibri" pitchFamily="34" charset="-122"/>
                <a:cs typeface="Calibri" pitchFamily="34" charset="-120"/>
              </a:rPr>
              <a:t>Yüksek CLS'de sistem konfora geçiyor; bedeli enerji</a:t>
            </a:r>
            <a:endParaRPr lang="en-US" sz="1900" dirty="0"/>
          </a:p>
        </p:txBody>
      </p:sp>
      <p:sp>
        <p:nvSpPr>
          <p:cNvPr id="4"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100" dirty="0">
                <a:solidFill>
                  <a:srgbClr val="8A93A3"/>
                </a:solidFill>
                <a:latin typeface="Calibri" pitchFamily="34" charset="0"/>
                <a:ea typeface="Calibri" pitchFamily="34" charset="-122"/>
                <a:cs typeface="Calibri" pitchFamily="34" charset="-120"/>
              </a:rPr>
              <a:t>TOK 2026 · Yiğit &amp; Erkan · Beykoz Üniversitesi</a:t>
            </a:r>
            <a:endParaRPr lang="en-US" sz="1100" dirty="0"/>
          </a:p>
        </p:txBody>
      </p:sp>
      <p:graphicFrame>
        <p:nvGraphicFramePr>
          <p:cNvPr id="5" name="Chart 0" descr=""/>
          <p:cNvGraphicFramePr/>
          <p:nvPr/>
        </p:nvGraphicFramePr>
        <p:xfrm>
          <a:off x="548640" y="1554480"/>
          <a:ext cx="7315200" cy="40233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1463040" y="5623560"/>
            <a:ext cx="3749040" cy="457200"/>
          </a:xfrm>
          <a:prstGeom prst="roundRect">
            <a:avLst>
              <a:gd name="adj" fmla="val 20000"/>
            </a:avLst>
          </a:prstGeom>
          <a:solidFill>
            <a:srgbClr val="EEF2F7"/>
          </a:solidFill>
          <a:ln w="12700">
            <a:solidFill>
              <a:srgbClr val="EEF2F7"/>
            </a:solidFill>
            <a:prstDash val="solid"/>
          </a:ln>
        </p:spPr>
      </p:sp>
      <p:sp>
        <p:nvSpPr>
          <p:cNvPr id="7" name="Text 4"/>
          <p:cNvSpPr txBox="1"/>
          <p:nvPr/>
        </p:nvSpPr>
        <p:spPr>
          <a:xfrm>
            <a:off x="1554480" y="5623560"/>
            <a:ext cx="3566160" cy="457200"/>
          </a:xfrm>
          <a:prstGeom prst="rect">
            <a:avLst/>
          </a:prstGeom>
          <a:noFill/>
          <a:ln/>
        </p:spPr>
        <p:txBody>
          <a:bodyPr wrap="square" lIns="0" tIns="0" rIns="0" bIns="0" rtlCol="0" anchor="ctr"/>
          <a:lstStyle/>
          <a:p>
            <a:pPr algn="ctr" indent="0" marL="0">
              <a:buNone/>
            </a:pPr>
            <a:r>
              <a:rPr lang="en-US" sz="1500" b="1" dirty="0">
                <a:solidFill>
                  <a:srgbClr val="1F2A44"/>
                </a:solidFill>
                <a:latin typeface="Calibri" pitchFamily="34" charset="0"/>
                <a:ea typeface="Calibri" pitchFamily="34" charset="-122"/>
                <a:cs typeface="Calibri" pitchFamily="34" charset="-120"/>
              </a:rPr>
              <a:t>Verimlilik rejimi (CLS ≤ 50)</a:t>
            </a:r>
            <a:endParaRPr lang="en-US" sz="1500" dirty="0"/>
          </a:p>
        </p:txBody>
      </p:sp>
      <p:sp>
        <p:nvSpPr>
          <p:cNvPr id="8" name="Shape 5"/>
          <p:cNvSpPr/>
          <p:nvPr/>
        </p:nvSpPr>
        <p:spPr>
          <a:xfrm>
            <a:off x="5440680" y="5623560"/>
            <a:ext cx="2331720" cy="457200"/>
          </a:xfrm>
          <a:prstGeom prst="roundRect">
            <a:avLst>
              <a:gd name="adj" fmla="val 20000"/>
            </a:avLst>
          </a:prstGeom>
          <a:solidFill>
            <a:srgbClr val="D9572B"/>
          </a:solidFill>
          <a:ln w="12700">
            <a:solidFill>
              <a:srgbClr val="D9572B"/>
            </a:solidFill>
            <a:prstDash val="solid"/>
          </a:ln>
        </p:spPr>
      </p:sp>
      <p:sp>
        <p:nvSpPr>
          <p:cNvPr id="9" name="Text 6"/>
          <p:cNvSpPr txBox="1"/>
          <p:nvPr/>
        </p:nvSpPr>
        <p:spPr>
          <a:xfrm>
            <a:off x="5532120" y="5623560"/>
            <a:ext cx="21488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Konfor rejimi (CLS ≥ 65)</a:t>
            </a:r>
            <a:endParaRPr lang="en-US" sz="1500" dirty="0"/>
          </a:p>
        </p:txBody>
      </p:sp>
      <p:sp>
        <p:nvSpPr>
          <p:cNvPr id="10" name="Shape 7"/>
          <p:cNvSpPr/>
          <p:nvPr/>
        </p:nvSpPr>
        <p:spPr>
          <a:xfrm>
            <a:off x="8275320" y="1828800"/>
            <a:ext cx="3367735" cy="1463040"/>
          </a:xfrm>
          <a:prstGeom prst="roundRect">
            <a:avLst>
              <a:gd name="adj" fmla="val 7500"/>
            </a:avLst>
          </a:prstGeom>
          <a:solidFill>
            <a:srgbClr val="EEF2F7"/>
          </a:solidFill>
          <a:ln w="12700">
            <a:solidFill>
              <a:srgbClr val="EEF2F7"/>
            </a:solidFill>
            <a:prstDash val="solid"/>
          </a:ln>
        </p:spPr>
      </p:sp>
      <p:sp>
        <p:nvSpPr>
          <p:cNvPr id="11" name="Text 8"/>
          <p:cNvSpPr txBox="1"/>
          <p:nvPr/>
        </p:nvSpPr>
        <p:spPr>
          <a:xfrm>
            <a:off x="8549640" y="2011680"/>
            <a:ext cx="2819095" cy="411480"/>
          </a:xfrm>
          <a:prstGeom prst="rect">
            <a:avLst/>
          </a:prstGeom>
          <a:noFill/>
          <a:ln/>
        </p:spPr>
        <p:txBody>
          <a:bodyPr wrap="square" lIns="0" tIns="0" rIns="0" bIns="0" rtlCol="0" anchor="ctr"/>
          <a:lstStyle/>
          <a:p>
            <a:pPr indent="0" marL="0">
              <a:buNone/>
            </a:pPr>
            <a:r>
              <a:rPr lang="en-US" sz="1800" dirty="0">
                <a:solidFill>
                  <a:srgbClr val="5B6577"/>
                </a:solidFill>
                <a:latin typeface="Calibri" pitchFamily="34" charset="0"/>
                <a:ea typeface="Calibri" pitchFamily="34" charset="-122"/>
                <a:cs typeface="Calibri" pitchFamily="34" charset="-120"/>
              </a:rPr>
              <a:t>Konfor</a:t>
            </a:r>
            <a:endParaRPr lang="en-US" sz="1800" dirty="0"/>
          </a:p>
        </p:txBody>
      </p:sp>
      <p:sp>
        <p:nvSpPr>
          <p:cNvPr id="12" name="Text 9"/>
          <p:cNvSpPr txBox="1"/>
          <p:nvPr/>
        </p:nvSpPr>
        <p:spPr>
          <a:xfrm>
            <a:off x="8549640" y="2468880"/>
            <a:ext cx="2819095" cy="640080"/>
          </a:xfrm>
          <a:prstGeom prst="rect">
            <a:avLst/>
          </a:prstGeom>
          <a:noFill/>
          <a:ln/>
        </p:spPr>
        <p:txBody>
          <a:bodyPr wrap="square" lIns="0" tIns="0" rIns="0" bIns="0" rtlCol="0" anchor="ctr"/>
          <a:lstStyle/>
          <a:p>
            <a:pPr indent="0" marL="0">
              <a:buNone/>
            </a:pPr>
            <a:r>
              <a:rPr lang="en-US" sz="3000" b="1" dirty="0">
                <a:solidFill>
                  <a:srgbClr val="D9572B"/>
                </a:solidFill>
                <a:latin typeface="Calibri" pitchFamily="34" charset="0"/>
                <a:ea typeface="Calibri" pitchFamily="34" charset="-122"/>
                <a:cs typeface="Calibri" pitchFamily="34" charset="-120"/>
              </a:rPr>
              <a:t>47,3 → 52,5</a:t>
            </a:r>
            <a:endParaRPr lang="en-US" sz="3000" dirty="0"/>
          </a:p>
        </p:txBody>
      </p:sp>
      <p:sp>
        <p:nvSpPr>
          <p:cNvPr id="13" name="Shape 10"/>
          <p:cNvSpPr/>
          <p:nvPr/>
        </p:nvSpPr>
        <p:spPr>
          <a:xfrm>
            <a:off x="8275320" y="3611880"/>
            <a:ext cx="3367735" cy="1463040"/>
          </a:xfrm>
          <a:prstGeom prst="roundRect">
            <a:avLst>
              <a:gd name="adj" fmla="val 7500"/>
            </a:avLst>
          </a:prstGeom>
          <a:solidFill>
            <a:srgbClr val="EEF2F7"/>
          </a:solidFill>
          <a:ln w="12700">
            <a:solidFill>
              <a:srgbClr val="EEF2F7"/>
            </a:solidFill>
            <a:prstDash val="solid"/>
          </a:ln>
        </p:spPr>
      </p:sp>
      <p:sp>
        <p:nvSpPr>
          <p:cNvPr id="14" name="Text 11"/>
          <p:cNvSpPr txBox="1"/>
          <p:nvPr/>
        </p:nvSpPr>
        <p:spPr>
          <a:xfrm>
            <a:off x="8549640" y="3794760"/>
            <a:ext cx="2819095" cy="411480"/>
          </a:xfrm>
          <a:prstGeom prst="rect">
            <a:avLst/>
          </a:prstGeom>
          <a:noFill/>
          <a:ln/>
        </p:spPr>
        <p:txBody>
          <a:bodyPr wrap="square" lIns="0" tIns="0" rIns="0" bIns="0" rtlCol="0" anchor="ctr"/>
          <a:lstStyle/>
          <a:p>
            <a:pPr indent="0" marL="0">
              <a:buNone/>
            </a:pPr>
            <a:r>
              <a:rPr lang="en-US" sz="1800" dirty="0">
                <a:solidFill>
                  <a:srgbClr val="5B6577"/>
                </a:solidFill>
                <a:latin typeface="Calibri" pitchFamily="34" charset="0"/>
                <a:ea typeface="Calibri" pitchFamily="34" charset="-122"/>
                <a:cs typeface="Calibri" pitchFamily="34" charset="-120"/>
              </a:rPr>
              <a:t>Bedeli: enerji</a:t>
            </a:r>
            <a:endParaRPr lang="en-US" sz="1800" dirty="0"/>
          </a:p>
        </p:txBody>
      </p:sp>
      <p:sp>
        <p:nvSpPr>
          <p:cNvPr id="15" name="Text 12"/>
          <p:cNvSpPr txBox="1"/>
          <p:nvPr/>
        </p:nvSpPr>
        <p:spPr>
          <a:xfrm>
            <a:off x="8549640" y="4251960"/>
            <a:ext cx="2819095" cy="640080"/>
          </a:xfrm>
          <a:prstGeom prst="rect">
            <a:avLst/>
          </a:prstGeom>
          <a:noFill/>
          <a:ln/>
        </p:spPr>
        <p:txBody>
          <a:bodyPr wrap="square" lIns="0" tIns="0" rIns="0" bIns="0" rtlCol="0" anchor="ctr"/>
          <a:lstStyle/>
          <a:p>
            <a:pPr indent="0" marL="0">
              <a:buNone/>
            </a:pPr>
            <a:r>
              <a:rPr lang="en-US" sz="3000" b="1" dirty="0">
                <a:solidFill>
                  <a:srgbClr val="1F2A44"/>
                </a:solidFill>
                <a:latin typeface="Calibri" pitchFamily="34" charset="0"/>
                <a:ea typeface="Calibri" pitchFamily="34" charset="-122"/>
                <a:cs typeface="Calibri" pitchFamily="34" charset="-120"/>
              </a:rPr>
              <a:t>7,1 → 8,6 kWh</a:t>
            </a:r>
            <a:endParaRPr lang="en-US" sz="3000" dirty="0"/>
          </a:p>
        </p:txBody>
      </p:sp>
      <p:sp>
        <p:nvSpPr>
          <p:cNvPr id="16" name="Text 13"/>
          <p:cNvSpPr txBox="1"/>
          <p:nvPr/>
        </p:nvSpPr>
        <p:spPr>
          <a:xfrm>
            <a:off x="8275320" y="5257800"/>
            <a:ext cx="3367735" cy="411480"/>
          </a:xfrm>
          <a:prstGeom prst="rect">
            <a:avLst/>
          </a:prstGeom>
          <a:noFill/>
          <a:ln/>
        </p:spPr>
        <p:txBody>
          <a:bodyPr wrap="square" lIns="0" tIns="0" rIns="0" bIns="0" rtlCol="0" anchor="ctr"/>
          <a:lstStyle/>
          <a:p>
            <a:pPr indent="0" marL="0">
              <a:buNone/>
            </a:pPr>
            <a:r>
              <a:rPr lang="en-US" sz="1400" dirty="0">
                <a:solidFill>
                  <a:srgbClr val="5B6577"/>
                </a:solidFill>
                <a:latin typeface="Calibri" pitchFamily="34" charset="0"/>
                <a:ea typeface="Calibri" pitchFamily="34" charset="-122"/>
                <a:cs typeface="Calibri" pitchFamily="34" charset="-120"/>
              </a:rPr>
              <a:t>Tüm senaryoların ortalaması (bildiri, Tablo 3)</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3A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640080"/>
          </a:xfrm>
          <a:prstGeom prst="rect">
            <a:avLst/>
          </a:prstGeom>
          <a:noFill/>
          <a:ln/>
        </p:spPr>
        <p:txBody>
          <a:bodyPr wrap="square" lIns="0" tIns="0" rIns="0" bIns="0" rtlCol="0" anchor="ctr"/>
          <a:lstStyle/>
          <a:p>
            <a:pPr indent="0" marL="0">
              <a:buNone/>
            </a:pPr>
            <a:r>
              <a:rPr lang="en-US" sz="3200" b="1" dirty="0">
                <a:solidFill>
                  <a:srgbClr val="1F2A44"/>
                </a:solidFill>
                <a:latin typeface="Calibri" pitchFamily="34" charset="0"/>
                <a:ea typeface="Calibri" pitchFamily="34" charset="-122"/>
                <a:cs typeface="Calibri" pitchFamily="34" charset="-120"/>
              </a:rPr>
              <a:t>Örnek Vaka: Keçiören → Bilkent</a:t>
            </a:r>
            <a:endParaRPr lang="en-US" sz="3200" dirty="0"/>
          </a:p>
        </p:txBody>
      </p:sp>
      <p:sp>
        <p:nvSpPr>
          <p:cNvPr id="3" name="Text 1"/>
          <p:cNvSpPr txBox="1"/>
          <p:nvPr/>
        </p:nvSpPr>
        <p:spPr>
          <a:xfrm>
            <a:off x="548640" y="960120"/>
            <a:ext cx="11094415" cy="411480"/>
          </a:xfrm>
          <a:prstGeom prst="rect">
            <a:avLst/>
          </a:prstGeom>
          <a:noFill/>
          <a:ln/>
        </p:spPr>
        <p:txBody>
          <a:bodyPr wrap="square" lIns="0" tIns="0" rIns="0" bIns="0" rtlCol="0" anchor="ctr"/>
          <a:lstStyle/>
          <a:p>
            <a:pPr indent="0" marL="0">
              <a:buNone/>
            </a:pPr>
            <a:r>
              <a:rPr lang="en-US" sz="1900" dirty="0">
                <a:solidFill>
                  <a:srgbClr val="5B6577"/>
                </a:solidFill>
                <a:latin typeface="Calibri" pitchFamily="34" charset="0"/>
                <a:ea typeface="Calibri" pitchFamily="34" charset="-122"/>
                <a:cs typeface="Calibri" pitchFamily="34" charset="-120"/>
              </a:rPr>
              <a:t>Tek bir örnek senaryo: yüksek CLS'li sürücü için konfor %41 artıyor</a:t>
            </a:r>
            <a:endParaRPr lang="en-US" sz="1900" dirty="0"/>
          </a:p>
        </p:txBody>
      </p:sp>
      <p:sp>
        <p:nvSpPr>
          <p:cNvPr id="4"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100" dirty="0">
                <a:solidFill>
                  <a:srgbClr val="8A93A3"/>
                </a:solidFill>
                <a:latin typeface="Calibri" pitchFamily="34" charset="0"/>
                <a:ea typeface="Calibri" pitchFamily="34" charset="-122"/>
                <a:cs typeface="Calibri" pitchFamily="34" charset="-120"/>
              </a:rPr>
              <a:t>TOK 2026 · Yiğit &amp; Erkan · Beykoz Üniversitesi</a:t>
            </a:r>
            <a:endParaRPr lang="en-US" sz="1100" dirty="0"/>
          </a:p>
        </p:txBody>
      </p:sp>
      <p:pic>
        <p:nvPicPr>
          <p:cNvPr id="5" name="Image 0" descr="fig3_nolegend.jpg">    </p:cNvPr>
          <p:cNvPicPr>
            <a:picLocks noChangeAspect="1"/>
          </p:cNvPicPr>
          <p:nvPr/>
        </p:nvPicPr>
        <p:blipFill>
          <a:blip r:embed="rId1"/>
          <a:stretch>
            <a:fillRect/>
          </a:stretch>
        </p:blipFill>
        <p:spPr>
          <a:xfrm>
            <a:off x="548640" y="1554480"/>
            <a:ext cx="5665037" cy="4069080"/>
          </a:xfrm>
          <a:prstGeom prst="rect">
            <a:avLst/>
          </a:prstGeom>
        </p:spPr>
      </p:pic>
      <p:sp>
        <p:nvSpPr>
          <p:cNvPr id="6" name="Text 3"/>
          <p:cNvSpPr txBox="1"/>
          <p:nvPr/>
        </p:nvSpPr>
        <p:spPr>
          <a:xfrm>
            <a:off x="548640" y="5678424"/>
            <a:ext cx="5665037" cy="548640"/>
          </a:xfrm>
          <a:prstGeom prst="rect">
            <a:avLst/>
          </a:prstGeom>
          <a:noFill/>
          <a:ln/>
        </p:spPr>
        <p:txBody>
          <a:bodyPr wrap="square" lIns="0" tIns="0" rIns="0" bIns="0" rtlCol="0" anchor="t"/>
          <a:lstStyle/>
          <a:p>
            <a:pPr indent="0" marL="0">
              <a:buNone/>
            </a:pPr>
            <a:r>
              <a:rPr lang="en-US" sz="1100" b="1" i="1" dirty="0">
                <a:solidFill>
                  <a:srgbClr val="1E2533"/>
                </a:solidFill>
                <a:latin typeface="Calibri" pitchFamily="34" charset="0"/>
                <a:ea typeface="Calibri" pitchFamily="34" charset="-122"/>
                <a:cs typeface="Calibri" pitchFamily="34" charset="-120"/>
              </a:rPr>
              <a:t>Düz çizgi: düşük CLS rotası (23,0 km) · Kesikli çizgi: yüksek CLS rotası (44,0 km)</a:t>
            </a:r>
            <a:endParaRPr lang="en-US" sz="1100" dirty="0"/>
          </a:p>
          <a:p>
            <a:pPr indent="0" marL="0">
              <a:buNone/>
            </a:pPr>
            <a:r>
              <a:rPr lang="en-US" sz="1100" i="1" dirty="0">
                <a:solidFill>
                  <a:srgbClr val="5B6577"/>
                </a:solidFill>
                <a:latin typeface="Calibri" pitchFamily="34" charset="0"/>
                <a:ea typeface="Calibri" pitchFamily="34" charset="-122"/>
                <a:cs typeface="Calibri" pitchFamily="34" charset="-120"/>
              </a:rPr>
              <a:t>Şekil 3: Düşük ve yüksek CLS rotalarının şematik karşılaştırması (Harita verisi: OpenStreetMap)</a:t>
            </a:r>
            <a:endParaRPr lang="en-US" sz="1100" dirty="0"/>
          </a:p>
        </p:txBody>
      </p:sp>
      <p:sp>
        <p:nvSpPr>
          <p:cNvPr id="7" name="Text 4"/>
          <p:cNvSpPr txBox="1"/>
          <p:nvPr/>
        </p:nvSpPr>
        <p:spPr>
          <a:xfrm>
            <a:off x="6625157" y="1554480"/>
            <a:ext cx="5017899" cy="411480"/>
          </a:xfrm>
          <a:prstGeom prst="rect">
            <a:avLst/>
          </a:prstGeom>
          <a:noFill/>
          <a:ln/>
        </p:spPr>
        <p:txBody>
          <a:bodyPr wrap="square" lIns="0" tIns="0" rIns="0" bIns="0" rtlCol="0" anchor="ctr"/>
          <a:lstStyle/>
          <a:p>
            <a:pPr indent="0" marL="0">
              <a:buNone/>
            </a:pPr>
            <a:r>
              <a:rPr lang="en-US" sz="1700" b="1" dirty="0">
                <a:solidFill>
                  <a:srgbClr val="5B6577"/>
                </a:solidFill>
                <a:latin typeface="Calibri" pitchFamily="34" charset="0"/>
                <a:ea typeface="Calibri" pitchFamily="34" charset="-122"/>
                <a:cs typeface="Calibri" pitchFamily="34" charset="-120"/>
              </a:rPr>
              <a:t>Düşük CLS</a:t>
            </a:r>
            <a:r>
              <a:rPr lang="en-US" sz="1700" b="1" dirty="0">
                <a:solidFill>
                  <a:srgbClr val="1F2A44"/>
                </a:solidFill>
                <a:latin typeface="Calibri" pitchFamily="34" charset="0"/>
                <a:ea typeface="Calibri" pitchFamily="34" charset="-122"/>
                <a:cs typeface="Calibri" pitchFamily="34" charset="-120"/>
              </a:rPr>
              <a:t>  →  </a:t>
            </a:r>
            <a:r>
              <a:rPr lang="en-US" sz="1700" b="1" dirty="0">
                <a:solidFill>
                  <a:srgbClr val="D9572B"/>
                </a:solidFill>
                <a:latin typeface="Calibri" pitchFamily="34" charset="0"/>
                <a:ea typeface="Calibri" pitchFamily="34" charset="-122"/>
                <a:cs typeface="Calibri" pitchFamily="34" charset="-120"/>
              </a:rPr>
              <a:t>Yüksek CLS</a:t>
            </a:r>
            <a:endParaRPr lang="en-US" sz="1700" dirty="0"/>
          </a:p>
        </p:txBody>
      </p:sp>
      <p:sp>
        <p:nvSpPr>
          <p:cNvPr id="8" name="Shape 5"/>
          <p:cNvSpPr/>
          <p:nvPr/>
        </p:nvSpPr>
        <p:spPr>
          <a:xfrm>
            <a:off x="6625157" y="2103120"/>
            <a:ext cx="5017899" cy="914400"/>
          </a:xfrm>
          <a:prstGeom prst="roundRect">
            <a:avLst>
              <a:gd name="adj" fmla="val 12000"/>
            </a:avLst>
          </a:prstGeom>
          <a:solidFill>
            <a:srgbClr val="EEF2F7"/>
          </a:solidFill>
          <a:ln w="12700">
            <a:solidFill>
              <a:srgbClr val="EEF2F7"/>
            </a:solidFill>
            <a:prstDash val="solid"/>
          </a:ln>
        </p:spPr>
      </p:sp>
      <p:sp>
        <p:nvSpPr>
          <p:cNvPr id="9" name="Shape 6"/>
          <p:cNvSpPr/>
          <p:nvPr/>
        </p:nvSpPr>
        <p:spPr>
          <a:xfrm>
            <a:off x="6808037" y="2267712"/>
            <a:ext cx="585216" cy="585216"/>
          </a:xfrm>
          <a:prstGeom prst="ellipse">
            <a:avLst/>
          </a:prstGeom>
          <a:solidFill>
            <a:srgbClr val="1F2A44"/>
          </a:solidFill>
          <a:ln w="12700">
            <a:solidFill>
              <a:srgbClr val="1F2A44"/>
            </a:solidFill>
            <a:prstDash val="solid"/>
          </a:ln>
        </p:spPr>
      </p:sp>
      <p:pic>
        <p:nvPicPr>
          <p:cNvPr id="10" name="Image 1" descr="icons/route_w.png">    </p:cNvPr>
          <p:cNvPicPr>
            <a:picLocks noChangeAspect="1"/>
          </p:cNvPicPr>
          <p:nvPr/>
        </p:nvPicPr>
        <p:blipFill>
          <a:blip r:embed="rId2"/>
          <a:stretch>
            <a:fillRect/>
          </a:stretch>
        </p:blipFill>
        <p:spPr>
          <a:xfrm>
            <a:off x="6954341" y="2414016"/>
            <a:ext cx="292608" cy="292608"/>
          </a:xfrm>
          <a:prstGeom prst="rect">
            <a:avLst/>
          </a:prstGeom>
        </p:spPr>
      </p:pic>
      <p:sp>
        <p:nvSpPr>
          <p:cNvPr id="11" name="Text 7"/>
          <p:cNvSpPr txBox="1"/>
          <p:nvPr/>
        </p:nvSpPr>
        <p:spPr>
          <a:xfrm>
            <a:off x="7539557" y="2103120"/>
            <a:ext cx="3097659" cy="914400"/>
          </a:xfrm>
          <a:prstGeom prst="rect">
            <a:avLst/>
          </a:prstGeom>
          <a:noFill/>
          <a:ln/>
        </p:spPr>
        <p:txBody>
          <a:bodyPr wrap="square" lIns="0" tIns="0" rIns="0" bIns="0" rtlCol="0" anchor="ctr"/>
          <a:lstStyle/>
          <a:p>
            <a:pPr indent="0" marL="0">
              <a:buNone/>
            </a:pPr>
            <a:r>
              <a:rPr lang="en-US" sz="1400" dirty="0">
                <a:solidFill>
                  <a:srgbClr val="5B6577"/>
                </a:solidFill>
                <a:latin typeface="Calibri" pitchFamily="34" charset="0"/>
                <a:ea typeface="Calibri" pitchFamily="34" charset="-122"/>
                <a:cs typeface="Calibri" pitchFamily="34" charset="-120"/>
              </a:rPr>
              <a:t>Mesafe</a:t>
            </a:r>
            <a:endParaRPr lang="en-US" sz="1400" dirty="0"/>
          </a:p>
          <a:p>
            <a:pPr indent="0" marL="0">
              <a:buNone/>
            </a:pPr>
            <a:r>
              <a:rPr lang="en-US" sz="2000" b="1" dirty="0">
                <a:solidFill>
                  <a:srgbClr val="1F2A44"/>
                </a:solidFill>
                <a:latin typeface="Calibri" pitchFamily="34" charset="0"/>
                <a:ea typeface="Calibri" pitchFamily="34" charset="-122"/>
                <a:cs typeface="Calibri" pitchFamily="34" charset="-120"/>
              </a:rPr>
              <a:t>23 → 44 km</a:t>
            </a:r>
            <a:endParaRPr lang="en-US" sz="1400" dirty="0"/>
          </a:p>
        </p:txBody>
      </p:sp>
      <p:sp>
        <p:nvSpPr>
          <p:cNvPr id="12" name="Text 8"/>
          <p:cNvSpPr txBox="1"/>
          <p:nvPr/>
        </p:nvSpPr>
        <p:spPr>
          <a:xfrm>
            <a:off x="10591495" y="2103120"/>
            <a:ext cx="914400" cy="914400"/>
          </a:xfrm>
          <a:prstGeom prst="rect">
            <a:avLst/>
          </a:prstGeom>
          <a:noFill/>
          <a:ln/>
        </p:spPr>
        <p:txBody>
          <a:bodyPr wrap="square" lIns="0" tIns="0" rIns="0" bIns="0" rtlCol="0" anchor="ctr"/>
          <a:lstStyle/>
          <a:p>
            <a:pPr algn="r" indent="0" marL="0">
              <a:buNone/>
            </a:pPr>
            <a:r>
              <a:rPr lang="en-US" sz="2000" b="1" dirty="0">
                <a:solidFill>
                  <a:srgbClr val="1F2A44"/>
                </a:solidFill>
                <a:latin typeface="Calibri" pitchFamily="34" charset="0"/>
                <a:ea typeface="Calibri" pitchFamily="34" charset="-122"/>
                <a:cs typeface="Calibri" pitchFamily="34" charset="-120"/>
              </a:rPr>
              <a:t>+%91</a:t>
            </a:r>
            <a:endParaRPr lang="en-US" sz="2000" dirty="0"/>
          </a:p>
        </p:txBody>
      </p:sp>
      <p:sp>
        <p:nvSpPr>
          <p:cNvPr id="13" name="Shape 9"/>
          <p:cNvSpPr/>
          <p:nvPr/>
        </p:nvSpPr>
        <p:spPr>
          <a:xfrm>
            <a:off x="6625157" y="3200400"/>
            <a:ext cx="5017899" cy="914400"/>
          </a:xfrm>
          <a:prstGeom prst="roundRect">
            <a:avLst>
              <a:gd name="adj" fmla="val 12000"/>
            </a:avLst>
          </a:prstGeom>
          <a:solidFill>
            <a:srgbClr val="EEF2F7"/>
          </a:solidFill>
          <a:ln w="12700">
            <a:solidFill>
              <a:srgbClr val="EEF2F7"/>
            </a:solidFill>
            <a:prstDash val="solid"/>
          </a:ln>
        </p:spPr>
      </p:sp>
      <p:sp>
        <p:nvSpPr>
          <p:cNvPr id="14" name="Shape 10"/>
          <p:cNvSpPr/>
          <p:nvPr/>
        </p:nvSpPr>
        <p:spPr>
          <a:xfrm>
            <a:off x="6808037" y="3364992"/>
            <a:ext cx="585216" cy="585216"/>
          </a:xfrm>
          <a:prstGeom prst="ellipse">
            <a:avLst/>
          </a:prstGeom>
          <a:solidFill>
            <a:srgbClr val="1F2A44"/>
          </a:solidFill>
          <a:ln w="12700">
            <a:solidFill>
              <a:srgbClr val="1F2A44"/>
            </a:solidFill>
            <a:prstDash val="solid"/>
          </a:ln>
        </p:spPr>
      </p:sp>
      <p:pic>
        <p:nvPicPr>
          <p:cNvPr id="15" name="Image 2" descr="icons/bolt_w.png">    </p:cNvPr>
          <p:cNvPicPr>
            <a:picLocks noChangeAspect="1"/>
          </p:cNvPicPr>
          <p:nvPr/>
        </p:nvPicPr>
        <p:blipFill>
          <a:blip r:embed="rId3"/>
          <a:stretch>
            <a:fillRect/>
          </a:stretch>
        </p:blipFill>
        <p:spPr>
          <a:xfrm>
            <a:off x="6954341" y="3511296"/>
            <a:ext cx="292608" cy="292608"/>
          </a:xfrm>
          <a:prstGeom prst="rect">
            <a:avLst/>
          </a:prstGeom>
        </p:spPr>
      </p:pic>
      <p:sp>
        <p:nvSpPr>
          <p:cNvPr id="16" name="Text 11"/>
          <p:cNvSpPr txBox="1"/>
          <p:nvPr/>
        </p:nvSpPr>
        <p:spPr>
          <a:xfrm>
            <a:off x="7539557" y="3200400"/>
            <a:ext cx="3097659" cy="914400"/>
          </a:xfrm>
          <a:prstGeom prst="rect">
            <a:avLst/>
          </a:prstGeom>
          <a:noFill/>
          <a:ln/>
        </p:spPr>
        <p:txBody>
          <a:bodyPr wrap="square" lIns="0" tIns="0" rIns="0" bIns="0" rtlCol="0" anchor="ctr"/>
          <a:lstStyle/>
          <a:p>
            <a:pPr indent="0" marL="0">
              <a:buNone/>
            </a:pPr>
            <a:r>
              <a:rPr lang="en-US" sz="1400" dirty="0">
                <a:solidFill>
                  <a:srgbClr val="5B6577"/>
                </a:solidFill>
                <a:latin typeface="Calibri" pitchFamily="34" charset="0"/>
                <a:ea typeface="Calibri" pitchFamily="34" charset="-122"/>
                <a:cs typeface="Calibri" pitchFamily="34" charset="-120"/>
              </a:rPr>
              <a:t>Enerji</a:t>
            </a:r>
            <a:endParaRPr lang="en-US" sz="1400" dirty="0"/>
          </a:p>
          <a:p>
            <a:pPr indent="0" marL="0">
              <a:buNone/>
            </a:pPr>
            <a:r>
              <a:rPr lang="en-US" sz="2000" b="1" dirty="0">
                <a:solidFill>
                  <a:srgbClr val="1F2A44"/>
                </a:solidFill>
                <a:latin typeface="Calibri" pitchFamily="34" charset="0"/>
                <a:ea typeface="Calibri" pitchFamily="34" charset="-122"/>
                <a:cs typeface="Calibri" pitchFamily="34" charset="-120"/>
              </a:rPr>
              <a:t>4,99 → 9,18 kWh</a:t>
            </a:r>
            <a:endParaRPr lang="en-US" sz="1400" dirty="0"/>
          </a:p>
        </p:txBody>
      </p:sp>
      <p:sp>
        <p:nvSpPr>
          <p:cNvPr id="17" name="Text 12"/>
          <p:cNvSpPr txBox="1"/>
          <p:nvPr/>
        </p:nvSpPr>
        <p:spPr>
          <a:xfrm>
            <a:off x="10591495" y="3200400"/>
            <a:ext cx="914400" cy="914400"/>
          </a:xfrm>
          <a:prstGeom prst="rect">
            <a:avLst/>
          </a:prstGeom>
          <a:noFill/>
          <a:ln/>
        </p:spPr>
        <p:txBody>
          <a:bodyPr wrap="square" lIns="0" tIns="0" rIns="0" bIns="0" rtlCol="0" anchor="ctr"/>
          <a:lstStyle/>
          <a:p>
            <a:pPr algn="r" indent="0" marL="0">
              <a:buNone/>
            </a:pPr>
            <a:r>
              <a:rPr lang="en-US" sz="2000" b="1" dirty="0">
                <a:solidFill>
                  <a:srgbClr val="1F2A44"/>
                </a:solidFill>
                <a:latin typeface="Calibri" pitchFamily="34" charset="0"/>
                <a:ea typeface="Calibri" pitchFamily="34" charset="-122"/>
                <a:cs typeface="Calibri" pitchFamily="34" charset="-120"/>
              </a:rPr>
              <a:t>+%84</a:t>
            </a:r>
            <a:endParaRPr lang="en-US" sz="2000" dirty="0"/>
          </a:p>
        </p:txBody>
      </p:sp>
      <p:sp>
        <p:nvSpPr>
          <p:cNvPr id="18" name="Shape 13"/>
          <p:cNvSpPr/>
          <p:nvPr/>
        </p:nvSpPr>
        <p:spPr>
          <a:xfrm>
            <a:off x="6625157" y="4297680"/>
            <a:ext cx="5017899" cy="914400"/>
          </a:xfrm>
          <a:prstGeom prst="roundRect">
            <a:avLst>
              <a:gd name="adj" fmla="val 12000"/>
            </a:avLst>
          </a:prstGeom>
          <a:solidFill>
            <a:srgbClr val="D9572B"/>
          </a:solidFill>
          <a:ln w="12700">
            <a:solidFill>
              <a:srgbClr val="D9572B"/>
            </a:solidFill>
            <a:prstDash val="solid"/>
          </a:ln>
        </p:spPr>
      </p:sp>
      <p:sp>
        <p:nvSpPr>
          <p:cNvPr id="19" name="Shape 14"/>
          <p:cNvSpPr/>
          <p:nvPr/>
        </p:nvSpPr>
        <p:spPr>
          <a:xfrm>
            <a:off x="6808037" y="4462272"/>
            <a:ext cx="585216" cy="585216"/>
          </a:xfrm>
          <a:prstGeom prst="ellipse">
            <a:avLst/>
          </a:prstGeom>
          <a:solidFill>
            <a:srgbClr val="1F2A44"/>
          </a:solidFill>
          <a:ln w="12700">
            <a:solidFill>
              <a:srgbClr val="1F2A44"/>
            </a:solidFill>
            <a:prstDash val="solid"/>
          </a:ln>
        </p:spPr>
      </p:sp>
      <p:pic>
        <p:nvPicPr>
          <p:cNvPr id="20" name="Image 3" descr="icons/check_w.png">    </p:cNvPr>
          <p:cNvPicPr>
            <a:picLocks noChangeAspect="1"/>
          </p:cNvPicPr>
          <p:nvPr/>
        </p:nvPicPr>
        <p:blipFill>
          <a:blip r:embed="rId4"/>
          <a:stretch>
            <a:fillRect/>
          </a:stretch>
        </p:blipFill>
        <p:spPr>
          <a:xfrm>
            <a:off x="6954341" y="4608576"/>
            <a:ext cx="292608" cy="292608"/>
          </a:xfrm>
          <a:prstGeom prst="rect">
            <a:avLst/>
          </a:prstGeom>
        </p:spPr>
      </p:pic>
      <p:sp>
        <p:nvSpPr>
          <p:cNvPr id="21" name="Text 15"/>
          <p:cNvSpPr txBox="1"/>
          <p:nvPr/>
        </p:nvSpPr>
        <p:spPr>
          <a:xfrm>
            <a:off x="7539557" y="4297680"/>
            <a:ext cx="3097659" cy="9144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Konfor</a:t>
            </a:r>
            <a:endParaRPr lang="en-US" sz="1400" dirty="0"/>
          </a:p>
          <a:p>
            <a:pPr indent="0" marL="0">
              <a:buNone/>
            </a:pPr>
            <a:r>
              <a:rPr lang="en-US" sz="2000" b="1" dirty="0">
                <a:solidFill>
                  <a:srgbClr val="FFFFFF"/>
                </a:solidFill>
                <a:latin typeface="Calibri" pitchFamily="34" charset="0"/>
                <a:ea typeface="Calibri" pitchFamily="34" charset="-122"/>
                <a:cs typeface="Calibri" pitchFamily="34" charset="-120"/>
              </a:rPr>
              <a:t>39 → 55</a:t>
            </a:r>
            <a:endParaRPr lang="en-US" sz="1400" dirty="0"/>
          </a:p>
        </p:txBody>
      </p:sp>
      <p:sp>
        <p:nvSpPr>
          <p:cNvPr id="22" name="Text 16"/>
          <p:cNvSpPr txBox="1"/>
          <p:nvPr/>
        </p:nvSpPr>
        <p:spPr>
          <a:xfrm>
            <a:off x="10591495" y="4297680"/>
            <a:ext cx="914400" cy="914400"/>
          </a:xfrm>
          <a:prstGeom prst="rect">
            <a:avLst/>
          </a:prstGeom>
          <a:noFill/>
          <a:ln/>
        </p:spPr>
        <p:txBody>
          <a:bodyPr wrap="square" lIns="0" tIns="0" rIns="0" bIns="0" rtlCol="0" anchor="ctr"/>
          <a:lstStyle/>
          <a:p>
            <a:pPr algn="r" indent="0" marL="0">
              <a:buNone/>
            </a:pPr>
            <a:r>
              <a:rPr lang="en-US" sz="2000" b="1" dirty="0">
                <a:solidFill>
                  <a:srgbClr val="FFFFFF"/>
                </a:solidFill>
                <a:latin typeface="Calibri" pitchFamily="34" charset="0"/>
                <a:ea typeface="Calibri" pitchFamily="34" charset="-122"/>
                <a:cs typeface="Calibri" pitchFamily="34" charset="-120"/>
              </a:rPr>
              <a:t>+%41</a:t>
            </a:r>
            <a:endParaRPr lang="en-US" sz="2000" dirty="0"/>
          </a:p>
        </p:txBody>
      </p:sp>
      <p:sp>
        <p:nvSpPr>
          <p:cNvPr id="23" name="Text 17"/>
          <p:cNvSpPr txBox="1"/>
          <p:nvPr/>
        </p:nvSpPr>
        <p:spPr>
          <a:xfrm>
            <a:off x="6625157" y="5394960"/>
            <a:ext cx="5017899" cy="822960"/>
          </a:xfrm>
          <a:prstGeom prst="rect">
            <a:avLst/>
          </a:prstGeom>
          <a:noFill/>
          <a:ln/>
        </p:spPr>
        <p:txBody>
          <a:bodyPr wrap="square" lIns="0" tIns="0" rIns="0" bIns="0" rtlCol="0" anchor="t"/>
          <a:lstStyle/>
          <a:p>
            <a:pPr indent="0" marL="0">
              <a:spcAft>
                <a:spcPts val="300"/>
              </a:spcAft>
              <a:buNone/>
            </a:pPr>
            <a:r>
              <a:rPr lang="en-US" sz="1300" dirty="0">
                <a:solidFill>
                  <a:srgbClr val="5B6577"/>
                </a:solidFill>
                <a:latin typeface="Calibri" pitchFamily="34" charset="0"/>
                <a:ea typeface="Calibri" pitchFamily="34" charset="-122"/>
                <a:cs typeface="Calibri" pitchFamily="34" charset="-120"/>
              </a:rPr>
              <a:t>Düşük CLS'de AffectEV 23 km'lik verimli rotayı seçer</a:t>
            </a:r>
            <a:endParaRPr lang="en-US" sz="1300" dirty="0"/>
          </a:p>
          <a:p>
            <a:pPr indent="0" marL="0">
              <a:spcAft>
                <a:spcPts val="300"/>
              </a:spcAft>
              <a:buNone/>
            </a:pPr>
            <a:r>
              <a:rPr lang="en-US" sz="1300" dirty="0">
                <a:solidFill>
                  <a:srgbClr val="5B6577"/>
                </a:solidFill>
                <a:latin typeface="Calibri" pitchFamily="34" charset="0"/>
                <a:ea typeface="Calibri" pitchFamily="34" charset="-122"/>
                <a:cs typeface="Calibri" pitchFamily="34" charset="-120"/>
              </a:rPr>
              <a:t>Yüksek CLS'de bulvar koridorlarını kullanan 44 km'lik alternatif</a:t>
            </a:r>
            <a:endParaRPr lang="en-US" sz="1300" dirty="0"/>
          </a:p>
          <a:p>
            <a:pPr indent="0" marL="0">
              <a:spcAft>
                <a:spcPts val="300"/>
              </a:spcAft>
              <a:buNone/>
            </a:pPr>
            <a:r>
              <a:rPr lang="en-US" sz="1300" dirty="0">
                <a:solidFill>
                  <a:srgbClr val="5B6577"/>
                </a:solidFill>
                <a:latin typeface="Calibri" pitchFamily="34" charset="0"/>
                <a:ea typeface="Calibri" pitchFamily="34" charset="-122"/>
                <a:cs typeface="Calibri" pitchFamily="34" charset="-120"/>
              </a:rPr>
              <a:t>Başlangıç SoC %75 → varış %59,7: menzil güvenli sınırda</a:t>
            </a:r>
            <a:endParaRPr lang="en-US" sz="13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3A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640080"/>
          </a:xfrm>
          <a:prstGeom prst="rect">
            <a:avLst/>
          </a:prstGeom>
          <a:noFill/>
          <a:ln/>
        </p:spPr>
        <p:txBody>
          <a:bodyPr wrap="square" lIns="0" tIns="0" rIns="0" bIns="0" rtlCol="0" anchor="ctr"/>
          <a:lstStyle/>
          <a:p>
            <a:pPr indent="0" marL="0">
              <a:buNone/>
            </a:pPr>
            <a:r>
              <a:rPr lang="en-US" sz="3200" b="1" dirty="0">
                <a:solidFill>
                  <a:srgbClr val="1F2A44"/>
                </a:solidFill>
                <a:latin typeface="Calibri" pitchFamily="34" charset="0"/>
                <a:ea typeface="Calibri" pitchFamily="34" charset="-122"/>
                <a:cs typeface="Calibri" pitchFamily="34" charset="-120"/>
              </a:rPr>
              <a:t>Sonuç ve Gelecek Çalışmalar</a:t>
            </a:r>
            <a:endParaRPr lang="en-US" sz="3200" dirty="0"/>
          </a:p>
        </p:txBody>
      </p:sp>
      <p:sp>
        <p:nvSpPr>
          <p:cNvPr id="3" name="Text 1"/>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100" dirty="0">
                <a:solidFill>
                  <a:srgbClr val="8A93A3"/>
                </a:solidFill>
                <a:latin typeface="Calibri" pitchFamily="34" charset="0"/>
                <a:ea typeface="Calibri" pitchFamily="34" charset="-122"/>
                <a:cs typeface="Calibri" pitchFamily="34" charset="-120"/>
              </a:rPr>
              <a:t>TOK 2026 · Yiğit &amp; Erkan · Beykoz Üniversitesi</a:t>
            </a:r>
            <a:endParaRPr lang="en-US" sz="1100" dirty="0"/>
          </a:p>
        </p:txBody>
      </p:sp>
      <p:sp>
        <p:nvSpPr>
          <p:cNvPr id="4" name="Shape 2"/>
          <p:cNvSpPr/>
          <p:nvPr/>
        </p:nvSpPr>
        <p:spPr>
          <a:xfrm>
            <a:off x="548640" y="1234440"/>
            <a:ext cx="3472586" cy="4800600"/>
          </a:xfrm>
          <a:prstGeom prst="roundRect">
            <a:avLst>
              <a:gd name="adj" fmla="val 3160"/>
            </a:avLst>
          </a:prstGeom>
          <a:solidFill>
            <a:srgbClr val="EEF2F7"/>
          </a:solidFill>
          <a:ln w="12700">
            <a:solidFill>
              <a:srgbClr val="EEF2F7"/>
            </a:solidFill>
            <a:prstDash val="solid"/>
          </a:ln>
        </p:spPr>
      </p:sp>
      <p:sp>
        <p:nvSpPr>
          <p:cNvPr id="5" name="Shape 3"/>
          <p:cNvSpPr/>
          <p:nvPr/>
        </p:nvSpPr>
        <p:spPr>
          <a:xfrm>
            <a:off x="1873453" y="1554480"/>
            <a:ext cx="822960" cy="822960"/>
          </a:xfrm>
          <a:prstGeom prst="ellipse">
            <a:avLst/>
          </a:prstGeom>
          <a:solidFill>
            <a:srgbClr val="1A9E77"/>
          </a:solidFill>
          <a:ln w="12700">
            <a:solidFill>
              <a:srgbClr val="1A9E77"/>
            </a:solidFill>
            <a:prstDash val="solid"/>
          </a:ln>
        </p:spPr>
      </p:sp>
      <p:pic>
        <p:nvPicPr>
          <p:cNvPr id="6" name="Image 0" descr="icons/check_w.png">    </p:cNvPr>
          <p:cNvPicPr>
            <a:picLocks noChangeAspect="1"/>
          </p:cNvPicPr>
          <p:nvPr/>
        </p:nvPicPr>
        <p:blipFill>
          <a:blip r:embed="rId1"/>
          <a:stretch>
            <a:fillRect/>
          </a:stretch>
        </p:blipFill>
        <p:spPr>
          <a:xfrm>
            <a:off x="2079193" y="1760220"/>
            <a:ext cx="411480" cy="411480"/>
          </a:xfrm>
          <a:prstGeom prst="rect">
            <a:avLst/>
          </a:prstGeom>
        </p:spPr>
      </p:pic>
      <p:sp>
        <p:nvSpPr>
          <p:cNvPr id="7" name="Text 4"/>
          <p:cNvSpPr txBox="1"/>
          <p:nvPr/>
        </p:nvSpPr>
        <p:spPr>
          <a:xfrm>
            <a:off x="731520" y="2514600"/>
            <a:ext cx="3106826" cy="502920"/>
          </a:xfrm>
          <a:prstGeom prst="rect">
            <a:avLst/>
          </a:prstGeom>
          <a:noFill/>
          <a:ln/>
        </p:spPr>
        <p:txBody>
          <a:bodyPr wrap="square" lIns="0" tIns="0" rIns="0" bIns="0" rtlCol="0" anchor="ctr"/>
          <a:lstStyle/>
          <a:p>
            <a:pPr algn="ctr" indent="0" marL="0">
              <a:buNone/>
            </a:pPr>
            <a:r>
              <a:rPr lang="en-US" sz="2200" b="1" dirty="0">
                <a:solidFill>
                  <a:srgbClr val="1F2A44"/>
                </a:solidFill>
                <a:latin typeface="Calibri" pitchFamily="34" charset="0"/>
                <a:ea typeface="Calibri" pitchFamily="34" charset="-122"/>
                <a:cs typeface="Calibri" pitchFamily="34" charset="-120"/>
              </a:rPr>
              <a:t>Sonuç</a:t>
            </a:r>
            <a:endParaRPr lang="en-US" sz="2200" dirty="0"/>
          </a:p>
        </p:txBody>
      </p:sp>
      <p:sp>
        <p:nvSpPr>
          <p:cNvPr id="8" name="Text 5"/>
          <p:cNvSpPr txBox="1"/>
          <p:nvPr/>
        </p:nvSpPr>
        <p:spPr>
          <a:xfrm>
            <a:off x="868680" y="3246120"/>
            <a:ext cx="2832506" cy="2606040"/>
          </a:xfrm>
          <a:prstGeom prst="rect">
            <a:avLst/>
          </a:prstGeom>
          <a:noFill/>
          <a:ln/>
        </p:spPr>
        <p:txBody>
          <a:bodyPr wrap="square" lIns="0" tIns="0" rIns="0" bIns="0" rtlCol="0" anchor="t"/>
          <a:lstStyle/>
          <a:p>
            <a:pPr marL="228600" indent="-228600">
              <a:spcAft>
                <a:spcPts val="1200"/>
              </a:spcAft>
              <a:buSzPct val="100000"/>
              <a:buChar char="•"/>
            </a:pPr>
            <a:r>
              <a:rPr lang="en-US" sz="1800" dirty="0">
                <a:solidFill>
                  <a:srgbClr val="1E2533"/>
                </a:solidFill>
                <a:latin typeface="Calibri" pitchFamily="34" charset="0"/>
                <a:ea typeface="Calibri" pitchFamily="34" charset="-122"/>
                <a:cs typeface="Calibri" pitchFamily="34" charset="-120"/>
              </a:rPr>
              <a:t>Batarya kısıtı, yol dinamiği ve sürücü durumu tek çerçevede</a:t>
            </a:r>
            <a:endParaRPr lang="en-US" sz="1800" dirty="0"/>
          </a:p>
          <a:p>
            <a:pPr marL="228600" indent="-228600">
              <a:spcAft>
                <a:spcPts val="1200"/>
              </a:spcAft>
              <a:buSzPct val="100000"/>
              <a:buChar char="•"/>
            </a:pPr>
            <a:r>
              <a:rPr lang="en-US" sz="1800" dirty="0">
                <a:solidFill>
                  <a:srgbClr val="1E2533"/>
                </a:solidFill>
                <a:latin typeface="Calibri" pitchFamily="34" charset="0"/>
                <a:ea typeface="Calibri" pitchFamily="34" charset="-122"/>
                <a:cs typeface="Calibri" pitchFamily="34" charset="-120"/>
              </a:rPr>
              <a:t>Genel ortalamada eşdeğer performans</a:t>
            </a:r>
            <a:endParaRPr lang="en-US" sz="1800" dirty="0"/>
          </a:p>
          <a:p>
            <a:pPr marL="228600" indent="-228600">
              <a:spcAft>
                <a:spcPts val="1200"/>
              </a:spcAft>
              <a:buSzPct val="100000"/>
              <a:buChar char="•"/>
            </a:pPr>
            <a:r>
              <a:rPr lang="en-US" sz="1800" dirty="0">
                <a:solidFill>
                  <a:srgbClr val="1E2533"/>
                </a:solidFill>
                <a:latin typeface="Calibri" pitchFamily="34" charset="0"/>
                <a:ea typeface="Calibri" pitchFamily="34" charset="-122"/>
                <a:cs typeface="Calibri" pitchFamily="34" charset="-120"/>
              </a:rPr>
              <a:t>Örnek vakada yüksek CLS'de konfor 39 → 55</a:t>
            </a:r>
            <a:endParaRPr lang="en-US" sz="1800" dirty="0"/>
          </a:p>
        </p:txBody>
      </p:sp>
      <p:sp>
        <p:nvSpPr>
          <p:cNvPr id="9" name="Shape 6"/>
          <p:cNvSpPr/>
          <p:nvPr/>
        </p:nvSpPr>
        <p:spPr>
          <a:xfrm>
            <a:off x="4359554" y="1234440"/>
            <a:ext cx="3472586" cy="4800600"/>
          </a:xfrm>
          <a:prstGeom prst="roundRect">
            <a:avLst>
              <a:gd name="adj" fmla="val 3160"/>
            </a:avLst>
          </a:prstGeom>
          <a:solidFill>
            <a:srgbClr val="EEF2F7"/>
          </a:solidFill>
          <a:ln w="12700">
            <a:solidFill>
              <a:srgbClr val="EEF2F7"/>
            </a:solidFill>
            <a:prstDash val="solid"/>
          </a:ln>
        </p:spPr>
      </p:sp>
      <p:sp>
        <p:nvSpPr>
          <p:cNvPr id="10" name="Shape 7"/>
          <p:cNvSpPr/>
          <p:nvPr/>
        </p:nvSpPr>
        <p:spPr>
          <a:xfrm>
            <a:off x="5684368" y="1554480"/>
            <a:ext cx="822960" cy="822960"/>
          </a:xfrm>
          <a:prstGeom prst="ellipse">
            <a:avLst/>
          </a:prstGeom>
          <a:solidFill>
            <a:srgbClr val="D9572B"/>
          </a:solidFill>
          <a:ln w="12700">
            <a:solidFill>
              <a:srgbClr val="D9572B"/>
            </a:solidFill>
            <a:prstDash val="solid"/>
          </a:ln>
        </p:spPr>
      </p:sp>
      <p:pic>
        <p:nvPicPr>
          <p:cNvPr id="11" name="Image 1" descr="icons/warn_w.png">    </p:cNvPr>
          <p:cNvPicPr>
            <a:picLocks noChangeAspect="1"/>
          </p:cNvPicPr>
          <p:nvPr/>
        </p:nvPicPr>
        <p:blipFill>
          <a:blip r:embed="rId2"/>
          <a:stretch>
            <a:fillRect/>
          </a:stretch>
        </p:blipFill>
        <p:spPr>
          <a:xfrm>
            <a:off x="5890108" y="1760220"/>
            <a:ext cx="411480" cy="411480"/>
          </a:xfrm>
          <a:prstGeom prst="rect">
            <a:avLst/>
          </a:prstGeom>
        </p:spPr>
      </p:pic>
      <p:sp>
        <p:nvSpPr>
          <p:cNvPr id="12" name="Text 8"/>
          <p:cNvSpPr txBox="1"/>
          <p:nvPr/>
        </p:nvSpPr>
        <p:spPr>
          <a:xfrm>
            <a:off x="4542434" y="2514600"/>
            <a:ext cx="3106826" cy="502920"/>
          </a:xfrm>
          <a:prstGeom prst="rect">
            <a:avLst/>
          </a:prstGeom>
          <a:noFill/>
          <a:ln/>
        </p:spPr>
        <p:txBody>
          <a:bodyPr wrap="square" lIns="0" tIns="0" rIns="0" bIns="0" rtlCol="0" anchor="ctr"/>
          <a:lstStyle/>
          <a:p>
            <a:pPr algn="ctr" indent="0" marL="0">
              <a:buNone/>
            </a:pPr>
            <a:r>
              <a:rPr lang="en-US" sz="2200" b="1" dirty="0">
                <a:solidFill>
                  <a:srgbClr val="1F2A44"/>
                </a:solidFill>
                <a:latin typeface="Calibri" pitchFamily="34" charset="0"/>
                <a:ea typeface="Calibri" pitchFamily="34" charset="-122"/>
                <a:cs typeface="Calibri" pitchFamily="34" charset="-120"/>
              </a:rPr>
              <a:t>Sınırlılıklar</a:t>
            </a:r>
            <a:endParaRPr lang="en-US" sz="2200" dirty="0"/>
          </a:p>
        </p:txBody>
      </p:sp>
      <p:sp>
        <p:nvSpPr>
          <p:cNvPr id="13" name="Text 9"/>
          <p:cNvSpPr txBox="1"/>
          <p:nvPr/>
        </p:nvSpPr>
        <p:spPr>
          <a:xfrm>
            <a:off x="4679594" y="3246120"/>
            <a:ext cx="2832506" cy="2606040"/>
          </a:xfrm>
          <a:prstGeom prst="rect">
            <a:avLst/>
          </a:prstGeom>
          <a:noFill/>
          <a:ln/>
        </p:spPr>
        <p:txBody>
          <a:bodyPr wrap="square" lIns="0" tIns="0" rIns="0" bIns="0" rtlCol="0" anchor="t"/>
          <a:lstStyle/>
          <a:p>
            <a:pPr marL="228600" indent="-228600">
              <a:spcAft>
                <a:spcPts val="1200"/>
              </a:spcAft>
              <a:buSzPct val="100000"/>
              <a:buChar char="•"/>
            </a:pPr>
            <a:r>
              <a:rPr lang="en-US" sz="1800" dirty="0">
                <a:solidFill>
                  <a:srgbClr val="1E2533"/>
                </a:solidFill>
                <a:latin typeface="Calibri" pitchFamily="34" charset="0"/>
                <a:ea typeface="Calibri" pitchFamily="34" charset="-122"/>
                <a:cs typeface="Calibri" pitchFamily="34" charset="-120"/>
              </a:rPr>
              <a:t>CLS kontrollü parametre; biyometrik kestirim yok</a:t>
            </a:r>
            <a:endParaRPr lang="en-US" sz="1800" dirty="0"/>
          </a:p>
          <a:p>
            <a:pPr marL="228600" indent="-228600">
              <a:spcAft>
                <a:spcPts val="1200"/>
              </a:spcAft>
              <a:buSzPct val="100000"/>
              <a:buChar char="•"/>
            </a:pPr>
            <a:r>
              <a:rPr lang="en-US" sz="1800" dirty="0">
                <a:solidFill>
                  <a:srgbClr val="1E2533"/>
                </a:solidFill>
                <a:latin typeface="Calibri" pitchFamily="34" charset="0"/>
                <a:ea typeface="Calibri" pitchFamily="34" charset="-122"/>
                <a:cs typeface="Calibri" pitchFamily="34" charset="-120"/>
              </a:rPr>
              <a:t>Beş kademe pratikte iki rejim üretti</a:t>
            </a:r>
            <a:endParaRPr lang="en-US" sz="1800" dirty="0"/>
          </a:p>
          <a:p>
            <a:pPr marL="228600" indent="-228600">
              <a:spcAft>
                <a:spcPts val="1200"/>
              </a:spcAft>
              <a:buSzPct val="100000"/>
              <a:buChar char="•"/>
            </a:pPr>
            <a:r>
              <a:rPr lang="en-US" sz="1800" dirty="0">
                <a:solidFill>
                  <a:srgbClr val="1E2533"/>
                </a:solidFill>
                <a:latin typeface="Calibri" pitchFamily="34" charset="0"/>
                <a:ea typeface="Calibri" pitchFamily="34" charset="-122"/>
                <a:cs typeface="Calibri" pitchFamily="34" charset="-120"/>
              </a:rPr>
              <a:t>Tek şehir, tek araç, sentetik trafik</a:t>
            </a:r>
            <a:endParaRPr lang="en-US" sz="1800" dirty="0"/>
          </a:p>
        </p:txBody>
      </p:sp>
      <p:sp>
        <p:nvSpPr>
          <p:cNvPr id="14" name="Shape 10"/>
          <p:cNvSpPr/>
          <p:nvPr/>
        </p:nvSpPr>
        <p:spPr>
          <a:xfrm>
            <a:off x="8170469" y="1234440"/>
            <a:ext cx="3472586" cy="4800600"/>
          </a:xfrm>
          <a:prstGeom prst="roundRect">
            <a:avLst>
              <a:gd name="adj" fmla="val 3160"/>
            </a:avLst>
          </a:prstGeom>
          <a:solidFill>
            <a:srgbClr val="EEF2F7"/>
          </a:solidFill>
          <a:ln w="12700">
            <a:solidFill>
              <a:srgbClr val="EEF2F7"/>
            </a:solidFill>
            <a:prstDash val="solid"/>
          </a:ln>
        </p:spPr>
      </p:sp>
      <p:sp>
        <p:nvSpPr>
          <p:cNvPr id="15" name="Shape 11"/>
          <p:cNvSpPr/>
          <p:nvPr/>
        </p:nvSpPr>
        <p:spPr>
          <a:xfrm>
            <a:off x="9495282" y="1554480"/>
            <a:ext cx="822960" cy="822960"/>
          </a:xfrm>
          <a:prstGeom prst="ellipse">
            <a:avLst/>
          </a:prstGeom>
          <a:solidFill>
            <a:srgbClr val="1F2A44"/>
          </a:solidFill>
          <a:ln w="12700">
            <a:solidFill>
              <a:srgbClr val="1F2A44"/>
            </a:solidFill>
            <a:prstDash val="solid"/>
          </a:ln>
        </p:spPr>
      </p:sp>
      <p:pic>
        <p:nvPicPr>
          <p:cNvPr id="16" name="Image 2" descr="icons/rocket_w.png">    </p:cNvPr>
          <p:cNvPicPr>
            <a:picLocks noChangeAspect="1"/>
          </p:cNvPicPr>
          <p:nvPr/>
        </p:nvPicPr>
        <p:blipFill>
          <a:blip r:embed="rId3"/>
          <a:stretch>
            <a:fillRect/>
          </a:stretch>
        </p:blipFill>
        <p:spPr>
          <a:xfrm>
            <a:off x="9701022" y="1760220"/>
            <a:ext cx="411480" cy="411480"/>
          </a:xfrm>
          <a:prstGeom prst="rect">
            <a:avLst/>
          </a:prstGeom>
        </p:spPr>
      </p:pic>
      <p:sp>
        <p:nvSpPr>
          <p:cNvPr id="17" name="Text 12"/>
          <p:cNvSpPr txBox="1"/>
          <p:nvPr/>
        </p:nvSpPr>
        <p:spPr>
          <a:xfrm>
            <a:off x="8353349" y="2514600"/>
            <a:ext cx="3106826" cy="502920"/>
          </a:xfrm>
          <a:prstGeom prst="rect">
            <a:avLst/>
          </a:prstGeom>
          <a:noFill/>
          <a:ln/>
        </p:spPr>
        <p:txBody>
          <a:bodyPr wrap="square" lIns="0" tIns="0" rIns="0" bIns="0" rtlCol="0" anchor="ctr"/>
          <a:lstStyle/>
          <a:p>
            <a:pPr algn="ctr" indent="0" marL="0">
              <a:buNone/>
            </a:pPr>
            <a:r>
              <a:rPr lang="en-US" sz="2200" b="1" dirty="0">
                <a:solidFill>
                  <a:srgbClr val="1F2A44"/>
                </a:solidFill>
                <a:latin typeface="Calibri" pitchFamily="34" charset="0"/>
                <a:ea typeface="Calibri" pitchFamily="34" charset="-122"/>
                <a:cs typeface="Calibri" pitchFamily="34" charset="-120"/>
              </a:rPr>
              <a:t>Gelecek çalışmalar</a:t>
            </a:r>
            <a:endParaRPr lang="en-US" sz="2200" dirty="0"/>
          </a:p>
        </p:txBody>
      </p:sp>
      <p:sp>
        <p:nvSpPr>
          <p:cNvPr id="18" name="Text 13"/>
          <p:cNvSpPr txBox="1"/>
          <p:nvPr/>
        </p:nvSpPr>
        <p:spPr>
          <a:xfrm>
            <a:off x="8490509" y="3246120"/>
            <a:ext cx="2832506" cy="2606040"/>
          </a:xfrm>
          <a:prstGeom prst="rect">
            <a:avLst/>
          </a:prstGeom>
          <a:noFill/>
          <a:ln/>
        </p:spPr>
        <p:txBody>
          <a:bodyPr wrap="square" lIns="0" tIns="0" rIns="0" bIns="0" rtlCol="0" anchor="t"/>
          <a:lstStyle/>
          <a:p>
            <a:pPr marL="228600" indent="-228600">
              <a:spcAft>
                <a:spcPts val="1200"/>
              </a:spcAft>
              <a:buSzPct val="100000"/>
              <a:buChar char="•"/>
            </a:pPr>
            <a:r>
              <a:rPr lang="en-US" sz="1800" dirty="0">
                <a:solidFill>
                  <a:srgbClr val="1E2533"/>
                </a:solidFill>
                <a:latin typeface="Calibri" pitchFamily="34" charset="0"/>
                <a:ea typeface="Calibri" pitchFamily="34" charset="-122"/>
                <a:cs typeface="Calibri" pitchFamily="34" charset="-120"/>
              </a:rPr>
              <a:t>Ara CLS düzeyleri için sürekli ağırlık fonksiyonu</a:t>
            </a:r>
            <a:endParaRPr lang="en-US" sz="1800" dirty="0"/>
          </a:p>
          <a:p>
            <a:pPr marL="228600" indent="-228600">
              <a:spcAft>
                <a:spcPts val="1200"/>
              </a:spcAft>
              <a:buSzPct val="100000"/>
              <a:buChar char="•"/>
            </a:pPr>
            <a:r>
              <a:rPr lang="en-US" sz="1800" dirty="0">
                <a:solidFill>
                  <a:srgbClr val="1E2533"/>
                </a:solidFill>
                <a:latin typeface="Calibri" pitchFamily="34" charset="0"/>
                <a:ea typeface="Calibri" pitchFamily="34" charset="-122"/>
                <a:cs typeface="Calibri" pitchFamily="34" charset="-120"/>
              </a:rPr>
              <a:t>Gerçek telemetri ve canlı trafikle doğrulama</a:t>
            </a:r>
            <a:endParaRPr lang="en-US" sz="1800" dirty="0"/>
          </a:p>
          <a:p>
            <a:pPr marL="228600" indent="-228600">
              <a:spcAft>
                <a:spcPts val="1200"/>
              </a:spcAft>
              <a:buSzPct val="100000"/>
              <a:buChar char="•"/>
            </a:pPr>
            <a:r>
              <a:rPr lang="en-US" sz="1800" dirty="0">
                <a:solidFill>
                  <a:srgbClr val="1E2533"/>
                </a:solidFill>
                <a:latin typeface="Calibri" pitchFamily="34" charset="0"/>
                <a:ea typeface="Calibri" pitchFamily="34" charset="-122"/>
                <a:cs typeface="Calibri" pitchFamily="34" charset="-120"/>
              </a:rPr>
              <a:t>Batarya değişim istasyonlu yaklaşımlarla karşılaştırma [14]</a:t>
            </a:r>
            <a:endParaRPr lang="en-US" sz="18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3A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640080"/>
          </a:xfrm>
          <a:prstGeom prst="rect">
            <a:avLst/>
          </a:prstGeom>
          <a:noFill/>
          <a:ln/>
        </p:spPr>
        <p:txBody>
          <a:bodyPr wrap="square" lIns="0" tIns="0" rIns="0" bIns="0" rtlCol="0" anchor="ctr"/>
          <a:lstStyle/>
          <a:p>
            <a:pPr indent="0" marL="0">
              <a:buNone/>
            </a:pPr>
            <a:r>
              <a:rPr lang="en-US" sz="3200" b="1" dirty="0">
                <a:solidFill>
                  <a:srgbClr val="1F2A44"/>
                </a:solidFill>
                <a:latin typeface="Calibri" pitchFamily="34" charset="0"/>
                <a:ea typeface="Calibri" pitchFamily="34" charset="-122"/>
                <a:cs typeface="Calibri" pitchFamily="34" charset="-120"/>
              </a:rPr>
              <a:t>Kaynakça</a:t>
            </a:r>
            <a:endParaRPr lang="en-US" sz="3200" dirty="0"/>
          </a:p>
        </p:txBody>
      </p:sp>
      <p:sp>
        <p:nvSpPr>
          <p:cNvPr id="3" name="Text 1"/>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100" dirty="0">
                <a:solidFill>
                  <a:srgbClr val="8A93A3"/>
                </a:solidFill>
                <a:latin typeface="Calibri" pitchFamily="34" charset="0"/>
                <a:ea typeface="Calibri" pitchFamily="34" charset="-122"/>
                <a:cs typeface="Calibri" pitchFamily="34" charset="-120"/>
              </a:rPr>
              <a:t>TOK 2026 · Yiğit &amp; Erkan · Beykoz Üniversitesi</a:t>
            </a:r>
            <a:endParaRPr lang="en-US" sz="1100" dirty="0"/>
          </a:p>
        </p:txBody>
      </p:sp>
      <p:sp>
        <p:nvSpPr>
          <p:cNvPr id="4" name="Text 2"/>
          <p:cNvSpPr txBox="1"/>
          <p:nvPr/>
        </p:nvSpPr>
        <p:spPr>
          <a:xfrm>
            <a:off x="548640" y="1188720"/>
            <a:ext cx="5364328" cy="5120640"/>
          </a:xfrm>
          <a:prstGeom prst="rect">
            <a:avLst/>
          </a:prstGeom>
          <a:noFill/>
          <a:ln/>
        </p:spPr>
        <p:txBody>
          <a:bodyPr wrap="square" lIns="0" tIns="0" rIns="0" bIns="0" rtlCol="0" anchor="t"/>
          <a:lstStyle/>
          <a:p>
            <a:pPr indent="0" marL="0">
              <a:spcAft>
                <a:spcPts val="700"/>
              </a:spcAft>
              <a:buNone/>
            </a:pPr>
            <a:r>
              <a:rPr lang="en-US" sz="1250" dirty="0">
                <a:solidFill>
                  <a:srgbClr val="1E2533"/>
                </a:solidFill>
                <a:latin typeface="Calibri" pitchFamily="34" charset="0"/>
                <a:ea typeface="Calibri" pitchFamily="34" charset="-122"/>
                <a:cs typeface="Calibri" pitchFamily="34" charset="-120"/>
              </a:rPr>
              <a:t>[1] M. Abid, M. Tabaa, A. Chakir, H. Hachimi, "Routing and charging of electric vehicles: A literature review," Energy Reports, 8(9), 556–578, 2022.</a:t>
            </a:r>
            <a:endParaRPr lang="en-US" sz="1250" dirty="0"/>
          </a:p>
          <a:p>
            <a:pPr indent="0" marL="0">
              <a:spcAft>
                <a:spcPts val="700"/>
              </a:spcAft>
              <a:buNone/>
            </a:pPr>
            <a:r>
              <a:rPr lang="en-US" sz="1250" dirty="0">
                <a:solidFill>
                  <a:srgbClr val="1E2533"/>
                </a:solidFill>
                <a:latin typeface="Calibri" pitchFamily="34" charset="0"/>
                <a:ea typeface="Calibri" pitchFamily="34" charset="-122"/>
                <a:cs typeface="Calibri" pitchFamily="34" charset="-120"/>
              </a:rPr>
              <a:t>[2] C. Ye, W. He, H. Chen, "Electric vehicle routing models and solution algorithms in logistics distribution: A systematic review," Environmental Science and Pollution Research, 29, 57067–57090, 2022.</a:t>
            </a:r>
            <a:endParaRPr lang="en-US" sz="1250" dirty="0"/>
          </a:p>
          <a:p>
            <a:pPr indent="0" marL="0">
              <a:spcAft>
                <a:spcPts val="700"/>
              </a:spcAft>
              <a:buNone/>
            </a:pPr>
            <a:r>
              <a:rPr lang="en-US" sz="1250" dirty="0">
                <a:solidFill>
                  <a:srgbClr val="1E2533"/>
                </a:solidFill>
                <a:latin typeface="Calibri" pitchFamily="34" charset="0"/>
                <a:ea typeface="Calibri" pitchFamily="34" charset="-122"/>
                <a:cs typeface="Calibri" pitchFamily="34" charset="-120"/>
              </a:rPr>
              <a:t>[3] P. A. Hancock, G. M. Hancock, C. M. Janelle, "The impact of emotions and emotion regulation on driving performance," Work, 41(1), 3608–3611, 2012.</a:t>
            </a:r>
            <a:endParaRPr lang="en-US" sz="1250" dirty="0"/>
          </a:p>
          <a:p>
            <a:pPr indent="0" marL="0">
              <a:spcAft>
                <a:spcPts val="700"/>
              </a:spcAft>
              <a:buNone/>
            </a:pPr>
            <a:r>
              <a:rPr lang="en-US" sz="1250" dirty="0">
                <a:solidFill>
                  <a:srgbClr val="1E2533"/>
                </a:solidFill>
                <a:latin typeface="Calibri" pitchFamily="34" charset="0"/>
                <a:ea typeface="Calibri" pitchFamily="34" charset="-122"/>
                <a:cs typeface="Calibri" pitchFamily="34" charset="-120"/>
              </a:rPr>
              <a:t>[4] G. Underwood, P. Chapman, S. Wright, D. Crundall, "Vehicular traffic and visual attention," Perception, 31(3), 233–246, 2002.</a:t>
            </a:r>
            <a:endParaRPr lang="en-US" sz="1250" dirty="0"/>
          </a:p>
          <a:p>
            <a:pPr indent="0" marL="0">
              <a:spcAft>
                <a:spcPts val="700"/>
              </a:spcAft>
              <a:buNone/>
            </a:pPr>
            <a:r>
              <a:rPr lang="en-US" sz="1250" dirty="0">
                <a:solidFill>
                  <a:srgbClr val="1E2533"/>
                </a:solidFill>
                <a:latin typeface="Calibri" pitchFamily="34" charset="0"/>
                <a:ea typeface="Calibri" pitchFamily="34" charset="-122"/>
                <a:cs typeface="Calibri" pitchFamily="34" charset="-120"/>
              </a:rPr>
              <a:t>[5] A.-R. Houalef, F. Delavernhe, S.-M. Senouci, E. Aglzim, "Data-driven, personalized route planning for connected electric vehicles: Optimizing time, energy, and charging stops," Applied Energy, 402, 126887, 2025.</a:t>
            </a:r>
            <a:endParaRPr lang="en-US" sz="1250" dirty="0"/>
          </a:p>
          <a:p>
            <a:pPr indent="0" marL="0">
              <a:spcAft>
                <a:spcPts val="700"/>
              </a:spcAft>
              <a:buNone/>
            </a:pPr>
            <a:r>
              <a:rPr lang="en-US" sz="1250" dirty="0">
                <a:solidFill>
                  <a:srgbClr val="1E2533"/>
                </a:solidFill>
                <a:latin typeface="Calibri" pitchFamily="34" charset="0"/>
                <a:ea typeface="Calibri" pitchFamily="34" charset="-122"/>
                <a:cs typeface="Calibri" pitchFamily="34" charset="-120"/>
              </a:rPr>
              <a:t>[6] D. Bethge, D. Bulanda, A. Kozlowski, T. Kosch, A. Schmidt, T. Grosse-Puppendahl, "HappyRouting: Learning emotion-aware route trajectories for scalable in-the-wild navigation," Proc. MobileHCI 2024, 2024.</a:t>
            </a:r>
            <a:endParaRPr lang="en-US" sz="1250" dirty="0"/>
          </a:p>
          <a:p>
            <a:pPr indent="0" marL="0">
              <a:spcAft>
                <a:spcPts val="700"/>
              </a:spcAft>
              <a:buNone/>
            </a:pPr>
            <a:r>
              <a:rPr lang="en-US" sz="1250" dirty="0">
                <a:solidFill>
                  <a:srgbClr val="1E2533"/>
                </a:solidFill>
                <a:latin typeface="Calibri" pitchFamily="34" charset="0"/>
                <a:ea typeface="Calibri" pitchFamily="34" charset="-122"/>
                <a:cs typeface="Calibri" pitchFamily="34" charset="-120"/>
              </a:rPr>
              <a:t>[7] K. Deb, A. Pratap, S. Agarwal, T. Meyarivan, "A fast and elitist multiobjective genetic algorithm: NSGA-II," IEEE Trans. Evolutionary Computation, 6(2), 182–197, 2002.</a:t>
            </a:r>
            <a:endParaRPr lang="en-US" sz="1250" dirty="0"/>
          </a:p>
        </p:txBody>
      </p:sp>
      <p:sp>
        <p:nvSpPr>
          <p:cNvPr id="5" name="Text 3"/>
          <p:cNvSpPr txBox="1"/>
          <p:nvPr/>
        </p:nvSpPr>
        <p:spPr>
          <a:xfrm>
            <a:off x="6278728" y="1188720"/>
            <a:ext cx="5364328" cy="5120640"/>
          </a:xfrm>
          <a:prstGeom prst="rect">
            <a:avLst/>
          </a:prstGeom>
          <a:noFill/>
          <a:ln/>
        </p:spPr>
        <p:txBody>
          <a:bodyPr wrap="square" lIns="0" tIns="0" rIns="0" bIns="0" rtlCol="0" anchor="t"/>
          <a:lstStyle/>
          <a:p>
            <a:pPr indent="0" marL="0">
              <a:spcAft>
                <a:spcPts val="700"/>
              </a:spcAft>
              <a:buNone/>
            </a:pPr>
            <a:r>
              <a:rPr lang="en-US" sz="1250" dirty="0">
                <a:solidFill>
                  <a:srgbClr val="1E2533"/>
                </a:solidFill>
                <a:latin typeface="Calibri" pitchFamily="34" charset="0"/>
                <a:ea typeface="Calibri" pitchFamily="34" charset="-122"/>
                <a:cs typeface="Calibri" pitchFamily="34" charset="-120"/>
              </a:rPr>
              <a:t>[8] R. Gutiérrez-Moreno, Á. Llamazares, P. Revenga, M. Ocaña, "Electric vehicle route optimization: An end-to-end learning approach with multi-objective planning," World Electric Vehicle Journal, 17(1), 41, 2026.</a:t>
            </a:r>
            <a:endParaRPr lang="en-US" sz="1250" dirty="0"/>
          </a:p>
          <a:p>
            <a:pPr indent="0" marL="0">
              <a:spcAft>
                <a:spcPts val="700"/>
              </a:spcAft>
              <a:buNone/>
            </a:pPr>
            <a:r>
              <a:rPr lang="en-US" sz="1250" dirty="0">
                <a:solidFill>
                  <a:srgbClr val="1E2533"/>
                </a:solidFill>
                <a:latin typeface="Calibri" pitchFamily="34" charset="0"/>
                <a:ea typeface="Calibri" pitchFamily="34" charset="-122"/>
                <a:cs typeface="Calibri" pitchFamily="34" charset="-120"/>
              </a:rPr>
              <a:t>[9] C. J. C. H. Watkins, P. Dayan, "Q-learning," Machine Learning, 8, 279–292, 1992.</a:t>
            </a:r>
            <a:endParaRPr lang="en-US" sz="1250" dirty="0"/>
          </a:p>
          <a:p>
            <a:pPr indent="0" marL="0">
              <a:spcAft>
                <a:spcPts val="700"/>
              </a:spcAft>
              <a:buNone/>
            </a:pPr>
            <a:r>
              <a:rPr lang="en-US" sz="1250" dirty="0">
                <a:solidFill>
                  <a:srgbClr val="1E2533"/>
                </a:solidFill>
                <a:latin typeface="Calibri" pitchFamily="34" charset="0"/>
                <a:ea typeface="Calibri" pitchFamily="34" charset="-122"/>
                <a:cs typeface="Calibri" pitchFamily="34" charset="-120"/>
              </a:rPr>
              <a:t>[10] A. Snoeck, A. Bhargava, D. Merchan, J. Davis, J. Pachon, "Energy estimation of last-mile electric vehicle routes," Proc. ACM Int. Conf. on Artificial Intelligence, 2024.</a:t>
            </a:r>
            <a:endParaRPr lang="en-US" sz="1250" dirty="0"/>
          </a:p>
          <a:p>
            <a:pPr indent="0" marL="0">
              <a:spcAft>
                <a:spcPts val="700"/>
              </a:spcAft>
              <a:buNone/>
            </a:pPr>
            <a:r>
              <a:rPr lang="en-US" sz="1250" dirty="0">
                <a:solidFill>
                  <a:srgbClr val="1E2533"/>
                </a:solidFill>
                <a:latin typeface="Calibri" pitchFamily="34" charset="0"/>
                <a:ea typeface="Calibri" pitchFamily="34" charset="-122"/>
                <a:cs typeface="Calibri" pitchFamily="34" charset="-120"/>
              </a:rPr>
              <a:t>[11] C. Fiori, K. Ahn, H. A. Rakha, "Power-based electric vehicle energy consumption model: Model development and validation," Applied Energy, 168, 257–268, 2016.</a:t>
            </a:r>
            <a:endParaRPr lang="en-US" sz="1250" dirty="0"/>
          </a:p>
          <a:p>
            <a:pPr indent="0" marL="0">
              <a:spcAft>
                <a:spcPts val="700"/>
              </a:spcAft>
              <a:buNone/>
            </a:pPr>
            <a:r>
              <a:rPr lang="en-US" sz="1250" dirty="0">
                <a:solidFill>
                  <a:srgbClr val="1E2533"/>
                </a:solidFill>
                <a:latin typeface="Calibri" pitchFamily="34" charset="0"/>
                <a:ea typeface="Calibri" pitchFamily="34" charset="-122"/>
                <a:cs typeface="Calibri" pitchFamily="34" charset="-120"/>
              </a:rPr>
              <a:t>[12] E. W. Dijkstra, "A note on two problems in connexion with graphs," Numerische Mathematik, 1, 269–271, 1959.</a:t>
            </a:r>
            <a:endParaRPr lang="en-US" sz="1250" dirty="0"/>
          </a:p>
          <a:p>
            <a:pPr indent="0" marL="0">
              <a:spcAft>
                <a:spcPts val="700"/>
              </a:spcAft>
              <a:buNone/>
            </a:pPr>
            <a:r>
              <a:rPr lang="en-US" sz="1250" dirty="0">
                <a:solidFill>
                  <a:srgbClr val="1E2533"/>
                </a:solidFill>
                <a:latin typeface="Calibri" pitchFamily="34" charset="0"/>
                <a:ea typeface="Calibri" pitchFamily="34" charset="-122"/>
                <a:cs typeface="Calibri" pitchFamily="34" charset="-120"/>
              </a:rPr>
              <a:t>[13] P. E. Hart, N. J. Nilsson, B. Raphael, "A formal basis for the heuristic determination of minimum cost paths," IEEE Trans. Systems Science and Cybernetics, 4(2), 100–107, 1968.</a:t>
            </a:r>
            <a:endParaRPr lang="en-US" sz="1250" dirty="0"/>
          </a:p>
          <a:p>
            <a:pPr indent="0" marL="0">
              <a:spcAft>
                <a:spcPts val="700"/>
              </a:spcAft>
              <a:buNone/>
            </a:pPr>
            <a:r>
              <a:rPr lang="en-US" sz="1250" dirty="0">
                <a:solidFill>
                  <a:srgbClr val="1E2533"/>
                </a:solidFill>
                <a:latin typeface="Calibri" pitchFamily="34" charset="0"/>
                <a:ea typeface="Calibri" pitchFamily="34" charset="-122"/>
                <a:cs typeface="Calibri" pitchFamily="34" charset="-120"/>
              </a:rPr>
              <a:t>[14] A. Haddad, T. Tlili, N. Dahmani, S. Krichen, "Integrating NSGA-II and Q-learning for solving the multi-objective electric vehicle routing problem with battery swapping stations," Int. J. Intelligent Transportation Systems Research, 23, 840–856, 2025.</a:t>
            </a:r>
            <a:endParaRPr lang="en-US" sz="125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3A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F2A44"/>
        </a:solidFill>
      </p:bgPr>
    </p:bg>
    <p:spTree>
      <p:nvGrpSpPr>
        <p:cNvPr id="1" name=""/>
        <p:cNvGrpSpPr/>
        <p:nvPr/>
      </p:nvGrpSpPr>
      <p:grpSpPr>
        <a:xfrm>
          <a:off x="0" y="0"/>
          <a:ext cx="0" cy="0"/>
          <a:chOff x="0" y="0"/>
          <a:chExt cx="0" cy="0"/>
        </a:xfrm>
      </p:grpSpPr>
      <p:sp>
        <p:nvSpPr>
          <p:cNvPr id="2" name="Text 0"/>
          <p:cNvSpPr txBox="1"/>
          <p:nvPr/>
        </p:nvSpPr>
        <p:spPr>
          <a:xfrm>
            <a:off x="548640" y="1737360"/>
            <a:ext cx="11094415" cy="1097280"/>
          </a:xfrm>
          <a:prstGeom prst="rect">
            <a:avLst/>
          </a:prstGeom>
          <a:noFill/>
          <a:ln/>
        </p:spPr>
        <p:txBody>
          <a:bodyPr wrap="square" lIns="0" tIns="0" rIns="0" bIns="0" rtlCol="0" anchor="ctr"/>
          <a:lstStyle/>
          <a:p>
            <a:pPr algn="ctr" indent="0" marL="0">
              <a:buNone/>
            </a:pPr>
            <a:r>
              <a:rPr lang="en-US" sz="5400" b="1" dirty="0">
                <a:solidFill>
                  <a:srgbClr val="FFFFFF"/>
                </a:solidFill>
                <a:latin typeface="Calibri" pitchFamily="34" charset="0"/>
                <a:ea typeface="Calibri" pitchFamily="34" charset="-122"/>
                <a:cs typeface="Calibri" pitchFamily="34" charset="-120"/>
              </a:rPr>
              <a:t>Teşekkürler</a:t>
            </a:r>
            <a:endParaRPr lang="en-US" sz="5400" dirty="0"/>
          </a:p>
        </p:txBody>
      </p:sp>
      <p:sp>
        <p:nvSpPr>
          <p:cNvPr id="3" name="Text 1"/>
          <p:cNvSpPr txBox="1"/>
          <p:nvPr/>
        </p:nvSpPr>
        <p:spPr>
          <a:xfrm>
            <a:off x="548640" y="2834640"/>
            <a:ext cx="11094415" cy="731520"/>
          </a:xfrm>
          <a:prstGeom prst="rect">
            <a:avLst/>
          </a:prstGeom>
          <a:noFill/>
          <a:ln/>
        </p:spPr>
        <p:txBody>
          <a:bodyPr wrap="square" lIns="0" tIns="0" rIns="0" bIns="0" rtlCol="0" anchor="ctr"/>
          <a:lstStyle/>
          <a:p>
            <a:pPr algn="ctr" indent="0" marL="0">
              <a:buNone/>
            </a:pPr>
            <a:r>
              <a:rPr lang="en-US" sz="3000" dirty="0">
                <a:solidFill>
                  <a:srgbClr val="B9C4D6"/>
                </a:solidFill>
                <a:latin typeface="Calibri" pitchFamily="34" charset="0"/>
                <a:ea typeface="Calibri" pitchFamily="34" charset="-122"/>
                <a:cs typeface="Calibri" pitchFamily="34" charset="-120"/>
              </a:rPr>
              <a:t>Sorularınız?</a:t>
            </a:r>
            <a:endParaRPr lang="en-US" sz="3000" dirty="0"/>
          </a:p>
        </p:txBody>
      </p:sp>
      <p:sp>
        <p:nvSpPr>
          <p:cNvPr id="4" name="Text 2"/>
          <p:cNvSpPr txBox="1"/>
          <p:nvPr/>
        </p:nvSpPr>
        <p:spPr>
          <a:xfrm>
            <a:off x="548640" y="4114800"/>
            <a:ext cx="11094415" cy="1280160"/>
          </a:xfrm>
          <a:prstGeom prst="rect">
            <a:avLst/>
          </a:prstGeom>
          <a:noFill/>
          <a:ln/>
        </p:spPr>
        <p:txBody>
          <a:bodyPr wrap="square" lIns="0" tIns="0" rIns="0" bIns="0" rtlCol="0" anchor="ctr"/>
          <a:lstStyle/>
          <a:p>
            <a:pPr algn="ctr" indent="0" marL="0">
              <a:spcAft>
                <a:spcPts val="600"/>
              </a:spcAft>
              <a:buNone/>
            </a:pPr>
            <a:r>
              <a:rPr lang="en-US" sz="1800" dirty="0">
                <a:solidFill>
                  <a:srgbClr val="FFFFFF"/>
                </a:solidFill>
                <a:latin typeface="Calibri" pitchFamily="34" charset="0"/>
                <a:ea typeface="Calibri" pitchFamily="34" charset="-122"/>
                <a:cs typeface="Calibri" pitchFamily="34" charset="-120"/>
              </a:rPr>
              <a:t>Ezgi Yiğit · ezgiyigit@ogrenci.beykoz.edu.tr</a:t>
            </a:r>
            <a:endParaRPr lang="en-US" sz="1800" dirty="0"/>
          </a:p>
          <a:p>
            <a:pPr algn="ctr" indent="0" marL="0">
              <a:spcAft>
                <a:spcPts val="600"/>
              </a:spcAft>
              <a:buNone/>
            </a:pPr>
            <a:r>
              <a:rPr lang="en-US" sz="1800" dirty="0">
                <a:solidFill>
                  <a:srgbClr val="FFFFFF"/>
                </a:solidFill>
                <a:latin typeface="Calibri" pitchFamily="34" charset="0"/>
                <a:ea typeface="Calibri" pitchFamily="34" charset="-122"/>
                <a:cs typeface="Calibri" pitchFamily="34" charset="-120"/>
              </a:rPr>
              <a:t>Özlem Feyza Erkan · feyzaerkan@beykoz.edu.tr</a:t>
            </a:r>
            <a:endParaRPr lang="en-US" sz="1800" dirty="0"/>
          </a:p>
          <a:p>
            <a:pPr algn="ctr" indent="0" marL="0">
              <a:spcAft>
                <a:spcPts val="600"/>
              </a:spcAft>
              <a:buNone/>
            </a:pPr>
            <a:r>
              <a:rPr lang="en-US" sz="1800" dirty="0">
                <a:solidFill>
                  <a:srgbClr val="B9C4D6"/>
                </a:solidFill>
                <a:latin typeface="Calibri" pitchFamily="34" charset="0"/>
                <a:ea typeface="Calibri" pitchFamily="34" charset="-122"/>
                <a:cs typeface="Calibri" pitchFamily="34" charset="-120"/>
              </a:rPr>
              <a:t>Bilgisayar Mühendisliği Bölümü · Beykoz Üniversitesi</a:t>
            </a:r>
            <a:endParaRPr lang="en-US" sz="1800" dirty="0"/>
          </a:p>
        </p:txBody>
      </p:sp>
      <p:sp>
        <p:nvSpPr>
          <p:cNvPr id="5" name="Text 3"/>
          <p:cNvSpPr txBox="1"/>
          <p:nvPr/>
        </p:nvSpPr>
        <p:spPr>
          <a:xfrm>
            <a:off x="548640" y="6126480"/>
            <a:ext cx="11094415" cy="365760"/>
          </a:xfrm>
          <a:prstGeom prst="rect">
            <a:avLst/>
          </a:prstGeom>
          <a:noFill/>
          <a:ln/>
        </p:spPr>
        <p:txBody>
          <a:bodyPr wrap="square" lIns="0" tIns="0" rIns="0" bIns="0" rtlCol="0" anchor="ctr"/>
          <a:lstStyle/>
          <a:p>
            <a:pPr algn="ctr" indent="0" marL="0">
              <a:buNone/>
            </a:pPr>
            <a:r>
              <a:rPr lang="en-US" sz="1300" dirty="0">
                <a:solidFill>
                  <a:srgbClr val="8FA0BC"/>
                </a:solidFill>
                <a:latin typeface="Calibri" pitchFamily="34" charset="0"/>
                <a:ea typeface="Calibri" pitchFamily="34" charset="-122"/>
                <a:cs typeface="Calibri" pitchFamily="34" charset="-120"/>
              </a:rPr>
              <a:t>TOK 2026 · Ankara · 10 Ekim 2026</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Elektrikli Araçlarda Sürücü Bilişsel Yükünü Dikkate Alan Çok Amaçlı Rota Planlaması</dc:title>
  <dc:subject>PptxGenJS Presentation</dc:subject>
  <dc:creator>Ezgi Yiğit, Özlem Feyza Erkan</dc:creator>
  <cp:lastModifiedBy>Ezgi Yiğit, Özlem Feyza Erkan</cp:lastModifiedBy>
  <cp:revision>1</cp:revision>
  <dcterms:created xsi:type="dcterms:W3CDTF">2026-09-27T23:57:33Z</dcterms:created>
  <dcterms:modified xsi:type="dcterms:W3CDTF">2026-09-27T23:57:33Z</dcterms:modified>
</cp:coreProperties>
</file>